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notesMasterIdLst>
    <p:notesMasterId r:id="rId13"/>
  </p:notesMasterIdLst>
  <p:sldIdLst>
    <p:sldId id="256" r:id="rId4"/>
    <p:sldId id="268" r:id="rId5"/>
    <p:sldId id="261" r:id="rId6"/>
    <p:sldId id="262" r:id="rId7"/>
    <p:sldId id="263" r:id="rId8"/>
    <p:sldId id="264" r:id="rId9"/>
    <p:sldId id="266" r:id="rId10"/>
    <p:sldId id="267" r:id="rId11"/>
    <p:sldId id="269" r:id="rId12"/>
    <p:sldId id="3492" r:id="rId14"/>
    <p:sldId id="3523" r:id="rId15"/>
    <p:sldId id="3524" r:id="rId16"/>
    <p:sldId id="3499" r:id="rId17"/>
    <p:sldId id="3549" r:id="rId18"/>
    <p:sldId id="3522" r:id="rId19"/>
    <p:sldId id="3526" r:id="rId20"/>
    <p:sldId id="3441" r:id="rId21"/>
    <p:sldId id="3421" r:id="rId22"/>
    <p:sldId id="3477" r:id="rId23"/>
    <p:sldId id="3481" r:id="rId24"/>
    <p:sldId id="3410" r:id="rId25"/>
    <p:sldId id="3478" r:id="rId26"/>
    <p:sldId id="3480" r:id="rId27"/>
    <p:sldId id="3529" r:id="rId28"/>
    <p:sldId id="3530" r:id="rId29"/>
    <p:sldId id="3531" r:id="rId30"/>
    <p:sldId id="3532" r:id="rId31"/>
    <p:sldId id="3533" r:id="rId32"/>
    <p:sldId id="3534" r:id="rId33"/>
    <p:sldId id="3535" r:id="rId34"/>
    <p:sldId id="3536" r:id="rId35"/>
    <p:sldId id="3486" r:id="rId36"/>
    <p:sldId id="3488" r:id="rId37"/>
    <p:sldId id="3527" r:id="rId38"/>
    <p:sldId id="3528" r:id="rId39"/>
    <p:sldId id="257" r:id="rId4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30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786A3-11F9-465F-BF42-2F5052C674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5C8D78-1EE6-4292-AD6E-92729FC2810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5C8D78-1EE6-4292-AD6E-92729FC281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不同类型的数据采集点，具有不同的数据特征：数据采集频率的高低，数据保留时间的长短，副本的数目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035256-BDF0-4B5A-8469-274DB84E31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如果采用多列模型，就需要频繁修改超级表的结构定义，让应用变的复杂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035256-BDF0-4B5A-8469-274DB84E31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不同类型的数据采集点，具有不同的数据特征：数据采集频率的高低，数据保留时间的长短，副本的数目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035256-BDF0-4B5A-8469-274DB84E31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如果采用多列模型，就需要频繁修改超级表的结构定义，让应用变的复杂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035256-BDF0-4B5A-8469-274DB84E31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5C8D78-1EE6-4292-AD6E-92729FC281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5C8D78-1EE6-4292-AD6E-92729FC281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440DE-2065-4153-8AD1-5FE010AA590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FA7F-CC1C-483C-9F3F-C1D8C9DEA3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440DE-2065-4153-8AD1-5FE010AA590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FA7F-CC1C-483C-9F3F-C1D8C9DEA3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440DE-2065-4153-8AD1-5FE010AA590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FA7F-CC1C-483C-9F3F-C1D8C9DEA3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440DE-2065-4153-8AD1-5FE010AA590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FA7F-CC1C-483C-9F3F-C1D8C9DEA3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440DE-2065-4153-8AD1-5FE010AA590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FA7F-CC1C-483C-9F3F-C1D8C9DEA3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440DE-2065-4153-8AD1-5FE010AA590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FA7F-CC1C-483C-9F3F-C1D8C9DEA3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440DE-2065-4153-8AD1-5FE010AA590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FA7F-CC1C-483C-9F3F-C1D8C9DEA3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440DE-2065-4153-8AD1-5FE010AA590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FA7F-CC1C-483C-9F3F-C1D8C9DEA3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440DE-2065-4153-8AD1-5FE010AA590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FA7F-CC1C-483C-9F3F-C1D8C9DEA3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440DE-2065-4153-8AD1-5FE010AA590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FA7F-CC1C-483C-9F3F-C1D8C9DEA3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440DE-2065-4153-8AD1-5FE010AA590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FA7F-CC1C-483C-9F3F-C1D8C9DEA3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477520" y="523240"/>
            <a:ext cx="9728200" cy="65464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2700" b="1">
                <a:solidFill>
                  <a:srgbClr val="18B2E8"/>
                </a:solidFill>
                <a:latin typeface="MicrosoftYaHeiSemibold"/>
                <a:ea typeface="MicrosoftYaHeiSemibold"/>
                <a:cs typeface="MicrosoftYaHeiSemibold"/>
                <a:sym typeface="MicrosoftYaHeiSemibold"/>
              </a:defRPr>
            </a:lvl1pPr>
          </a:lstStyle>
          <a:p>
            <a:r>
              <a:rPr dirty="0"/>
              <a:t>标题文本</a:t>
            </a:r>
            <a:endParaRPr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65884" y="6189544"/>
            <a:ext cx="1605767" cy="74941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286500" y="438150"/>
            <a:ext cx="5905500" cy="59182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440DE-2065-4153-8AD1-5FE010AA590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FA7F-CC1C-483C-9F3F-C1D8C9DEA3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440DE-2065-4153-8AD1-5FE010AA590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FA7F-CC1C-483C-9F3F-C1D8C9DEA3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440DE-2065-4153-8AD1-5FE010AA590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FA7F-CC1C-483C-9F3F-C1D8C9DEA3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440DE-2065-4153-8AD1-5FE010AA590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FA7F-CC1C-483C-9F3F-C1D8C9DEA3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440DE-2065-4153-8AD1-5FE010AA590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FA7F-CC1C-483C-9F3F-C1D8C9DEA3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440DE-2065-4153-8AD1-5FE010AA590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FA7F-CC1C-483C-9F3F-C1D8C9DEA3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440DE-2065-4153-8AD1-5FE010AA590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FA7F-CC1C-483C-9F3F-C1D8C9DEA3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440DE-2065-4153-8AD1-5FE010AA590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FA7F-CC1C-483C-9F3F-C1D8C9DEA3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440DE-2065-4153-8AD1-5FE010AA590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FA7F-CC1C-483C-9F3F-C1D8C9DEA3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440DE-2065-4153-8AD1-5FE010AA590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FA7F-CC1C-483C-9F3F-C1D8C9DEA3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440DE-2065-4153-8AD1-5FE010AA590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FA7F-CC1C-483C-9F3F-C1D8C9DEA3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477520" y="523240"/>
            <a:ext cx="9728200" cy="65464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2700" b="1">
                <a:solidFill>
                  <a:srgbClr val="18B2E8"/>
                </a:solidFill>
                <a:latin typeface="MicrosoftYaHeiSemibold"/>
                <a:ea typeface="MicrosoftYaHeiSemibold"/>
                <a:cs typeface="MicrosoftYaHeiSemibold"/>
                <a:sym typeface="MicrosoftYaHeiSemibold"/>
              </a:defRPr>
            </a:lvl1pPr>
          </a:lstStyle>
          <a:p>
            <a:r>
              <a:rPr dirty="0"/>
              <a:t>标题文本</a:t>
            </a:r>
            <a:endParaRPr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65884" y="6189544"/>
            <a:ext cx="1605767" cy="74941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286500" y="438150"/>
            <a:ext cx="5905500" cy="59182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9440DE-2065-4153-8AD1-5FE010AA590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48FA7F-CC1C-483C-9F3F-C1D8C9DEA3F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9440DE-2065-4153-8AD1-5FE010AA590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48FA7F-CC1C-483C-9F3F-C1D8C9DEA3F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9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err="1"/>
              <a:t>TDengine</a:t>
            </a:r>
            <a:r>
              <a:rPr lang="en-US" altLang="zh-CN" dirty="0"/>
              <a:t> 3.2.0.0 </a:t>
            </a:r>
            <a:r>
              <a:rPr lang="zh-CN" altLang="en-US" dirty="0"/>
              <a:t>产品简介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2023 </a:t>
            </a:r>
            <a:r>
              <a:rPr lang="zh-CN" altLang="en-US" dirty="0"/>
              <a:t>年 </a:t>
            </a:r>
            <a:r>
              <a:rPr lang="en-US" altLang="zh-CN" dirty="0"/>
              <a:t>10 </a:t>
            </a:r>
            <a:r>
              <a:rPr lang="zh-CN" altLang="en-US" dirty="0"/>
              <a:t>月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查询性能优化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王加明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优化</a:t>
            </a:r>
            <a:r>
              <a:rPr lang="en-US" altLang="zh-CN" dirty="0"/>
              <a:t>partition by column</a:t>
            </a:r>
            <a:r>
              <a:rPr lang="zh-CN" altLang="en-US" dirty="0"/>
              <a:t>分组性能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998200" cy="4351338"/>
          </a:xfrm>
        </p:spPr>
        <p:txBody>
          <a:bodyPr/>
          <a:lstStyle/>
          <a:p>
            <a:r>
              <a:rPr lang="zh-CN" altLang="en-US" dirty="0"/>
              <a:t>场景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2000" dirty="0"/>
              <a:t>SELECT /* </a:t>
            </a:r>
            <a:r>
              <a:rPr lang="en-US" altLang="zh-CN" sz="2000" dirty="0" err="1"/>
              <a:t>sort_for_group</a:t>
            </a:r>
            <a:r>
              <a:rPr lang="en-US" altLang="zh-CN" sz="2000" dirty="0"/>
              <a:t>()*/ * FROM meters PARTITION BY c1, …;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SELECT /* </a:t>
            </a:r>
            <a:r>
              <a:rPr lang="en-US" altLang="zh-CN" sz="2000" dirty="0" err="1"/>
              <a:t>sort_for_group</a:t>
            </a:r>
            <a:r>
              <a:rPr lang="en-US" altLang="zh-CN" sz="2000" dirty="0"/>
              <a:t>()*/ count(*), … FROM meters PARTITION BY c1, … INTERVAL(1h);</a:t>
            </a:r>
            <a:endParaRPr lang="en-US" altLang="zh-CN" sz="2000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主要逻辑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sz="2000" dirty="0"/>
              <a:t>在列分组较多时</a:t>
            </a:r>
            <a:r>
              <a:rPr lang="en-US" altLang="zh-CN" sz="2000" dirty="0"/>
              <a:t>, </a:t>
            </a:r>
            <a:r>
              <a:rPr lang="zh-CN" altLang="en-US" sz="2000" dirty="0"/>
              <a:t>当前的</a:t>
            </a:r>
            <a:r>
              <a:rPr lang="en-US" altLang="zh-CN" sz="2000" dirty="0"/>
              <a:t>hash partition</a:t>
            </a:r>
            <a:r>
              <a:rPr lang="zh-CN" altLang="en-US" sz="2000" dirty="0"/>
              <a:t>算子对磁盘</a:t>
            </a:r>
            <a:r>
              <a:rPr lang="en-US" altLang="zh-CN" sz="2000" dirty="0"/>
              <a:t>IO</a:t>
            </a:r>
            <a:r>
              <a:rPr lang="zh-CN" altLang="en-US" sz="2000" dirty="0"/>
              <a:t>占用过高</a:t>
            </a:r>
            <a:r>
              <a:rPr lang="en-US" altLang="zh-CN" sz="2000" dirty="0"/>
              <a:t>, </a:t>
            </a:r>
            <a:r>
              <a:rPr lang="zh-CN" altLang="en-US" sz="2000" dirty="0"/>
              <a:t>性能差</a:t>
            </a:r>
            <a:r>
              <a:rPr lang="en-US" altLang="zh-CN" sz="2000" dirty="0"/>
              <a:t>.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通过将</a:t>
            </a:r>
            <a:r>
              <a:rPr lang="en-US" altLang="zh-CN" sz="2000" dirty="0"/>
              <a:t>hash partition</a:t>
            </a:r>
            <a:r>
              <a:rPr lang="zh-CN" altLang="en-US" sz="2000" dirty="0"/>
              <a:t>替换成</a:t>
            </a:r>
            <a:r>
              <a:rPr lang="en-US" altLang="zh-CN" sz="2000" dirty="0"/>
              <a:t>sort partition</a:t>
            </a:r>
            <a:r>
              <a:rPr lang="zh-CN" altLang="en-US" sz="2000" dirty="0"/>
              <a:t>能有效减少磁盘</a:t>
            </a:r>
            <a:r>
              <a:rPr lang="en-US" altLang="zh-CN" sz="2000" dirty="0"/>
              <a:t>IO</a:t>
            </a:r>
            <a:r>
              <a:rPr lang="zh-CN" altLang="en-US" sz="2000" dirty="0"/>
              <a:t>占用，提升性能</a:t>
            </a:r>
            <a:r>
              <a:rPr lang="en-US" altLang="zh-CN" sz="2000" dirty="0"/>
              <a:t>.</a:t>
            </a:r>
            <a:endParaRPr lang="en-US" altLang="zh-CN" sz="2000" dirty="0"/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优化</a:t>
            </a:r>
            <a:r>
              <a:rPr lang="en-US" altLang="zh-CN" dirty="0"/>
              <a:t>partition by column</a:t>
            </a:r>
            <a:r>
              <a:rPr lang="zh-CN" altLang="en-US" dirty="0"/>
              <a:t>分组性能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83331"/>
            <a:ext cx="10998200" cy="5195375"/>
          </a:xfrm>
        </p:spPr>
        <p:txBody>
          <a:bodyPr>
            <a:normAutofit/>
          </a:bodyPr>
          <a:lstStyle/>
          <a:p>
            <a:r>
              <a:rPr lang="zh-CN" altLang="en-US" dirty="0"/>
              <a:t>性能对比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2000" dirty="0">
                <a:effectLst/>
              </a:rPr>
              <a:t>1000</a:t>
            </a:r>
            <a:r>
              <a:rPr lang="zh-CN" altLang="en-US" sz="2000" dirty="0">
                <a:effectLst/>
              </a:rPr>
              <a:t>表</a:t>
            </a:r>
            <a:r>
              <a:rPr lang="en-US" altLang="zh-CN" sz="2000" dirty="0">
                <a:effectLst/>
              </a:rPr>
              <a:t>, </a:t>
            </a:r>
            <a:r>
              <a:rPr lang="zh-CN" altLang="en-US" sz="2000" dirty="0">
                <a:effectLst/>
              </a:rPr>
              <a:t>每表</a:t>
            </a:r>
            <a:r>
              <a:rPr lang="en-US" altLang="zh-CN" sz="2000" dirty="0">
                <a:effectLst/>
              </a:rPr>
              <a:t>10</a:t>
            </a:r>
            <a:r>
              <a:rPr lang="zh-CN" altLang="en-US" sz="2000" dirty="0">
                <a:effectLst/>
              </a:rPr>
              <a:t>万行</a:t>
            </a:r>
            <a:r>
              <a:rPr lang="en-US" altLang="zh-CN" sz="2000" dirty="0">
                <a:effectLst/>
              </a:rPr>
              <a:t>, </a:t>
            </a:r>
            <a:r>
              <a:rPr lang="zh-CN" altLang="en-US" sz="2000" dirty="0">
                <a:effectLst/>
              </a:rPr>
              <a:t>共</a:t>
            </a:r>
            <a:r>
              <a:rPr lang="en-US" altLang="zh-CN" sz="2000" dirty="0">
                <a:effectLst/>
              </a:rPr>
              <a:t>1</a:t>
            </a:r>
            <a:r>
              <a:rPr lang="zh-CN" altLang="en-US" sz="2000" dirty="0">
                <a:effectLst/>
              </a:rPr>
              <a:t>亿</a:t>
            </a:r>
            <a:r>
              <a:rPr lang="en-US" altLang="zh-CN" sz="2000" dirty="0">
                <a:effectLst/>
              </a:rPr>
              <a:t>. c0 BIGINT, </a:t>
            </a:r>
            <a:r>
              <a:rPr lang="zh-CN" altLang="en-US" sz="2000" dirty="0">
                <a:effectLst/>
              </a:rPr>
              <a:t>唯一值共有</a:t>
            </a:r>
            <a:r>
              <a:rPr lang="en-US" altLang="zh-CN" sz="2000" dirty="0">
                <a:effectLst/>
              </a:rPr>
              <a:t>1</a:t>
            </a:r>
            <a:r>
              <a:rPr lang="zh-CN" altLang="en-US" sz="2000" dirty="0">
                <a:effectLst/>
              </a:rPr>
              <a:t>万个</a:t>
            </a:r>
            <a:r>
              <a:rPr lang="en-US" altLang="zh-CN" sz="2000" dirty="0">
                <a:effectLst/>
              </a:rPr>
              <a:t>. c1 TINYINT, </a:t>
            </a:r>
            <a:r>
              <a:rPr lang="zh-CN" altLang="en-US" sz="2000" dirty="0">
                <a:effectLst/>
              </a:rPr>
              <a:t>唯一值共有</a:t>
            </a:r>
            <a:r>
              <a:rPr lang="en-US" altLang="zh-CN" sz="2000" dirty="0">
                <a:effectLst/>
              </a:rPr>
              <a:t>256.</a:t>
            </a:r>
            <a:endParaRPr lang="en-US" altLang="zh-CN" sz="2000" dirty="0">
              <a:effectLst/>
            </a:endParaRPr>
          </a:p>
          <a:p>
            <a:pPr marL="0" indent="0">
              <a:buNone/>
            </a:pPr>
            <a:endParaRPr lang="en-US" altLang="zh-CN" sz="2400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zh-CN" altLang="en-US" sz="2000" dirty="0"/>
              <a:t>优化在</a:t>
            </a:r>
            <a:r>
              <a:rPr lang="en-US" altLang="zh-CN" sz="2000" dirty="0"/>
              <a:t>c0</a:t>
            </a:r>
            <a:r>
              <a:rPr lang="zh-CN" altLang="en-US" sz="2000" dirty="0"/>
              <a:t>上有</a:t>
            </a:r>
            <a:r>
              <a:rPr lang="en-US" altLang="zh-CN" sz="2000" dirty="0"/>
              <a:t>77%</a:t>
            </a:r>
            <a:r>
              <a:rPr lang="zh-CN" altLang="en-US" sz="2000" dirty="0"/>
              <a:t>左右的性能优化</a:t>
            </a:r>
            <a:r>
              <a:rPr lang="en-US" altLang="zh-CN" sz="2000" dirty="0"/>
              <a:t>. C1</a:t>
            </a:r>
            <a:r>
              <a:rPr lang="zh-CN" altLang="en-US" sz="2000" dirty="0"/>
              <a:t>则更差</a:t>
            </a:r>
            <a:r>
              <a:rPr lang="en-US" altLang="zh-CN" sz="2000" dirty="0"/>
              <a:t>. </a:t>
            </a:r>
            <a:r>
              <a:rPr lang="zh-CN" altLang="en-US" sz="2000" dirty="0"/>
              <a:t>优化只在分组个数较多的情况下有效</a:t>
            </a:r>
            <a:r>
              <a:rPr lang="en-US" altLang="zh-CN" sz="2000" dirty="0"/>
              <a:t>, </a:t>
            </a:r>
            <a:r>
              <a:rPr lang="zh-CN" altLang="en-US" sz="2000" dirty="0"/>
              <a:t>在分组少时</a:t>
            </a:r>
            <a:r>
              <a:rPr lang="en-US" altLang="zh-CN" sz="2000" dirty="0"/>
              <a:t>, </a:t>
            </a:r>
            <a:r>
              <a:rPr lang="zh-CN" altLang="en-US" sz="2000" dirty="0"/>
              <a:t>原计划性能有优势</a:t>
            </a:r>
            <a:r>
              <a:rPr lang="en-US" altLang="zh-CN" sz="2000" dirty="0"/>
              <a:t>.</a:t>
            </a:r>
            <a:endParaRPr lang="en-US" altLang="zh-CN" sz="2000" dirty="0"/>
          </a:p>
          <a:p>
            <a:r>
              <a:rPr lang="zh-CN" altLang="en-US" dirty="0"/>
              <a:t>注意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sz="2000" dirty="0"/>
              <a:t>此优化只在</a:t>
            </a:r>
            <a:r>
              <a:rPr lang="en-US" altLang="zh-CN" sz="2000" dirty="0"/>
              <a:t>SELECT</a:t>
            </a:r>
            <a:r>
              <a:rPr lang="zh-CN" altLang="en-US" sz="2000" dirty="0"/>
              <a:t>中有</a:t>
            </a:r>
            <a:r>
              <a:rPr lang="en-US" altLang="zh-CN" sz="2000" dirty="0"/>
              <a:t>/*</a:t>
            </a:r>
            <a:r>
              <a:rPr lang="en-US" altLang="zh-CN" sz="2000" dirty="0" err="1"/>
              <a:t>sort_for_group</a:t>
            </a:r>
            <a:r>
              <a:rPr lang="en-US" altLang="zh-CN" sz="2000" dirty="0"/>
              <a:t>()*/ hint</a:t>
            </a:r>
            <a:r>
              <a:rPr lang="zh-CN" altLang="en-US" sz="2000" dirty="0"/>
              <a:t>时才有效</a:t>
            </a:r>
            <a:r>
              <a:rPr lang="en-US" altLang="zh-CN" sz="2000" dirty="0"/>
              <a:t>. </a:t>
            </a:r>
            <a:r>
              <a:rPr lang="zh-CN" altLang="en-US" sz="2000" dirty="0"/>
              <a:t>即默认还是采用</a:t>
            </a:r>
            <a:r>
              <a:rPr lang="en-US" altLang="zh-CN" sz="2000" dirty="0"/>
              <a:t>hash partition</a:t>
            </a:r>
            <a:r>
              <a:rPr lang="zh-CN" altLang="en-US" sz="2000" dirty="0"/>
              <a:t>方式分组</a:t>
            </a:r>
            <a:r>
              <a:rPr lang="en-US" altLang="zh-CN" sz="2000" dirty="0"/>
              <a:t>;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Partition by </a:t>
            </a:r>
            <a:r>
              <a:rPr lang="zh-CN" altLang="en-US" sz="2000" dirty="0"/>
              <a:t>列表内至少有一列普通列</a:t>
            </a:r>
            <a:r>
              <a:rPr lang="en-US" altLang="zh-CN" sz="2000" dirty="0"/>
              <a:t>;</a:t>
            </a:r>
            <a:endParaRPr lang="en-US" altLang="zh-CN" sz="2000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875589" y="2515917"/>
          <a:ext cx="81279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/>
                <a:gridCol w="2709333"/>
                <a:gridCol w="270933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Partition by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优化前</a:t>
                      </a:r>
                      <a:r>
                        <a:rPr lang="en-US" altLang="zh-CN" dirty="0"/>
                        <a:t>(</a:t>
                      </a:r>
                      <a:r>
                        <a:rPr lang="zh-CN" altLang="en-US" dirty="0"/>
                        <a:t>哈希分组，</a:t>
                      </a:r>
                      <a:r>
                        <a:rPr lang="en-US" altLang="zh-CN" dirty="0"/>
                        <a:t>/</a:t>
                      </a:r>
                      <a:r>
                        <a:rPr lang="en-US" altLang="zh-CN" dirty="0" err="1"/>
                        <a:t>ms</a:t>
                      </a:r>
                      <a:r>
                        <a:rPr lang="en-US" altLang="zh-CN" dirty="0"/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优化后</a:t>
                      </a:r>
                      <a:r>
                        <a:rPr lang="en-US" altLang="zh-CN" dirty="0"/>
                        <a:t>(</a:t>
                      </a:r>
                      <a:r>
                        <a:rPr lang="zh-CN" altLang="en-US" dirty="0"/>
                        <a:t>排序分组，</a:t>
                      </a:r>
                      <a:r>
                        <a:rPr lang="en-US" altLang="zh-CN" dirty="0"/>
                        <a:t>/</a:t>
                      </a:r>
                      <a:r>
                        <a:rPr lang="en-US" altLang="zh-CN" dirty="0" err="1"/>
                        <a:t>ms</a:t>
                      </a:r>
                      <a:r>
                        <a:rPr lang="en-US" altLang="zh-CN" dirty="0"/>
                        <a:t>)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C0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effectLst/>
                        </a:rPr>
                        <a:t>81706.717491</a:t>
                      </a:r>
                      <a:endParaRPr lang="en-US" altLang="zh-CN" sz="18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chemeClr val="accent6"/>
                          </a:solidFill>
                          <a:effectLst/>
                        </a:rPr>
                        <a:t>18911.948085</a:t>
                      </a:r>
                      <a:endParaRPr lang="en-US" altLang="zh-CN" dirty="0">
                        <a:solidFill>
                          <a:schemeClr val="accent6"/>
                        </a:solidFill>
                        <a:effectLst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C1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chemeClr val="accent6"/>
                          </a:solidFill>
                          <a:effectLst/>
                        </a:rPr>
                        <a:t>4294.607401</a:t>
                      </a:r>
                      <a:endParaRPr lang="en-US" altLang="zh-CN" dirty="0">
                        <a:solidFill>
                          <a:schemeClr val="accent6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effectLst/>
                        </a:rPr>
                        <a:t>13086.832881</a:t>
                      </a:r>
                      <a:endParaRPr lang="en-US" altLang="zh-CN" dirty="0">
                        <a:effectLst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Agg + partition by col </a:t>
            </a:r>
            <a:r>
              <a:rPr lang="zh-CN" altLang="en-US" dirty="0"/>
              <a:t>性能优化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998200" cy="4351338"/>
          </a:xfrm>
        </p:spPr>
        <p:txBody>
          <a:bodyPr/>
          <a:lstStyle/>
          <a:p>
            <a:r>
              <a:rPr lang="zh-CN" altLang="en-US" dirty="0"/>
              <a:t>场景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2000" dirty="0"/>
              <a:t>SELECT count(*), … from meters partition by c1, …;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400" dirty="0"/>
          </a:p>
          <a:p>
            <a:r>
              <a:rPr lang="zh-CN" altLang="en-US" dirty="0"/>
              <a:t>主要逻辑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sz="2000" dirty="0"/>
              <a:t>从功能上看，上面的语句中 </a:t>
            </a:r>
            <a:r>
              <a:rPr lang="en-US" altLang="zh-CN" sz="2000" dirty="0"/>
              <a:t>partition by</a:t>
            </a:r>
            <a:r>
              <a:rPr lang="zh-CN" altLang="en-US" sz="2000" dirty="0"/>
              <a:t>和</a:t>
            </a:r>
            <a:r>
              <a:rPr lang="en-US" altLang="zh-CN" sz="2000" dirty="0"/>
              <a:t>group by</a:t>
            </a:r>
            <a:r>
              <a:rPr lang="zh-CN" altLang="en-US" sz="2000" dirty="0"/>
              <a:t>其实无任何区别</a:t>
            </a:r>
            <a:r>
              <a:rPr lang="en-US" altLang="zh-CN" sz="2000" dirty="0"/>
              <a:t>.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原有计划上</a:t>
            </a:r>
            <a:r>
              <a:rPr lang="en-US" altLang="zh-CN" sz="2000" dirty="0"/>
              <a:t>partition by</a:t>
            </a:r>
            <a:r>
              <a:rPr lang="zh-CN" altLang="en-US" sz="2000" dirty="0"/>
              <a:t>多了</a:t>
            </a:r>
            <a:r>
              <a:rPr lang="en-US" altLang="zh-CN" sz="2000" dirty="0"/>
              <a:t>hash partition, </a:t>
            </a:r>
            <a:r>
              <a:rPr lang="zh-CN" altLang="en-US" sz="2000" dirty="0"/>
              <a:t>分组较多时</a:t>
            </a:r>
            <a:r>
              <a:rPr lang="en-US" altLang="zh-CN" sz="2000" dirty="0"/>
              <a:t>, partition</a:t>
            </a:r>
            <a:r>
              <a:rPr lang="zh-CN" altLang="en-US" sz="2000" dirty="0"/>
              <a:t>将中间结果输出到了磁盘</a:t>
            </a:r>
            <a:r>
              <a:rPr lang="en-US" altLang="zh-CN" sz="2000" dirty="0"/>
              <a:t>, </a:t>
            </a:r>
            <a:r>
              <a:rPr lang="zh-CN" altLang="en-US" sz="2000" dirty="0"/>
              <a:t>再进行接着进行</a:t>
            </a:r>
            <a:r>
              <a:rPr lang="en-US" altLang="zh-CN" sz="2000" dirty="0" err="1"/>
              <a:t>agg</a:t>
            </a:r>
            <a:r>
              <a:rPr lang="zh-CN" altLang="en-US" sz="2000" dirty="0"/>
              <a:t>操作</a:t>
            </a:r>
            <a:r>
              <a:rPr lang="en-US" altLang="zh-CN" sz="2000" dirty="0"/>
              <a:t>.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通过取消</a:t>
            </a:r>
            <a:r>
              <a:rPr lang="en-US" altLang="zh-CN" sz="2000" dirty="0"/>
              <a:t>hash partition</a:t>
            </a:r>
            <a:r>
              <a:rPr lang="zh-CN" altLang="en-US" sz="2000" dirty="0"/>
              <a:t>算子，直接进行分组和</a:t>
            </a:r>
            <a:r>
              <a:rPr lang="en-US" altLang="zh-CN" sz="2000" dirty="0"/>
              <a:t>agg</a:t>
            </a:r>
            <a:r>
              <a:rPr lang="zh-CN" altLang="en-US" sz="2000" dirty="0"/>
              <a:t>操作在部分场景下能有效提升性能</a:t>
            </a:r>
            <a:r>
              <a:rPr lang="en-US" altLang="zh-CN" sz="2000" dirty="0"/>
              <a:t>.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Agg + partition by col </a:t>
            </a:r>
            <a:r>
              <a:rPr lang="zh-CN" altLang="en-US" dirty="0"/>
              <a:t>性能优化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4"/>
            <a:ext cx="10998200" cy="4714875"/>
          </a:xfrm>
        </p:spPr>
        <p:txBody>
          <a:bodyPr>
            <a:normAutofit/>
          </a:bodyPr>
          <a:lstStyle/>
          <a:p>
            <a:r>
              <a:rPr lang="zh-CN" altLang="en-US" dirty="0"/>
              <a:t>性能对比</a:t>
            </a:r>
            <a:endParaRPr lang="en-US" altLang="zh-CN" dirty="0"/>
          </a:p>
          <a:p>
            <a:endParaRPr lang="en-US" altLang="zh-CN" sz="2400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sz="1600" dirty="0"/>
              <a:t>c3</a:t>
            </a:r>
            <a:r>
              <a:rPr lang="zh-CN" altLang="en-US" sz="1600" dirty="0"/>
              <a:t>为</a:t>
            </a:r>
            <a:r>
              <a:rPr lang="en-US" altLang="zh-CN" sz="1600" dirty="0"/>
              <a:t>varchar</a:t>
            </a:r>
            <a:r>
              <a:rPr lang="zh-CN" altLang="en-US" sz="1600" dirty="0"/>
              <a:t>类型</a:t>
            </a:r>
            <a:r>
              <a:rPr lang="en-US" altLang="zh-CN" sz="1600" dirty="0"/>
              <a:t>, 1</a:t>
            </a:r>
            <a:r>
              <a:rPr lang="zh-CN" altLang="en-US" sz="1600" dirty="0"/>
              <a:t>万分组</a:t>
            </a:r>
            <a:r>
              <a:rPr lang="en-US" altLang="zh-CN" sz="1600" dirty="0"/>
              <a:t>.</a:t>
            </a:r>
            <a:endParaRPr lang="en-US" altLang="zh-CN" sz="1600" dirty="0"/>
          </a:p>
          <a:p>
            <a:pPr marL="0" indent="0">
              <a:buNone/>
            </a:pPr>
            <a:r>
              <a:rPr lang="zh-CN" altLang="en-US" sz="2000" dirty="0"/>
              <a:t>分组较多时</a:t>
            </a:r>
            <a:r>
              <a:rPr lang="en-US" altLang="zh-CN" sz="2000" dirty="0"/>
              <a:t>, </a:t>
            </a:r>
            <a:r>
              <a:rPr lang="zh-CN" altLang="en-US" sz="2000" dirty="0"/>
              <a:t>性能有明显提升</a:t>
            </a:r>
            <a:r>
              <a:rPr lang="en-US" altLang="zh-CN" sz="2000" dirty="0"/>
              <a:t>.</a:t>
            </a:r>
            <a:r>
              <a:rPr lang="zh-CN" altLang="en-US" sz="2000" dirty="0"/>
              <a:t>但分组较少时或数据量小时</a:t>
            </a:r>
            <a:r>
              <a:rPr lang="en-US" altLang="zh-CN" sz="2000" dirty="0"/>
              <a:t>, </a:t>
            </a:r>
            <a:r>
              <a:rPr lang="zh-CN" altLang="en-US" sz="2000" dirty="0"/>
              <a:t>性能相比先分组再计算模式反而更慢</a:t>
            </a:r>
            <a:r>
              <a:rPr lang="en-US" altLang="zh-CN" sz="2000" dirty="0"/>
              <a:t>.</a:t>
            </a:r>
            <a:endParaRPr lang="en-US" altLang="zh-CN" sz="2000" dirty="0"/>
          </a:p>
          <a:p>
            <a:r>
              <a:rPr lang="zh-CN" altLang="en-US" dirty="0"/>
              <a:t>注意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sz="2000" dirty="0"/>
              <a:t>此优化仅限于</a:t>
            </a:r>
            <a:r>
              <a:rPr lang="en-US" altLang="zh-CN" sz="2000" dirty="0"/>
              <a:t>Partition by </a:t>
            </a:r>
            <a:r>
              <a:rPr lang="zh-CN" altLang="en-US" sz="2000" dirty="0"/>
              <a:t>列表内至少有一列普通列的情况</a:t>
            </a:r>
            <a:r>
              <a:rPr lang="en-US" altLang="zh-CN" sz="2000" dirty="0"/>
              <a:t>;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select</a:t>
            </a:r>
            <a:r>
              <a:rPr lang="zh-CN" altLang="en-US" sz="2000" dirty="0"/>
              <a:t>列表内必须包含</a:t>
            </a:r>
            <a:r>
              <a:rPr lang="en-US" altLang="zh-CN" sz="2000" dirty="0" err="1"/>
              <a:t>agg</a:t>
            </a:r>
            <a:r>
              <a:rPr lang="zh-CN" altLang="en-US" sz="2000" dirty="0"/>
              <a:t>函数</a:t>
            </a:r>
            <a:r>
              <a:rPr lang="en-US" altLang="zh-CN" sz="2000" dirty="0"/>
              <a:t>, </a:t>
            </a:r>
            <a:r>
              <a:rPr lang="zh-CN" altLang="en-US" sz="2000" dirty="0"/>
              <a:t>无</a:t>
            </a:r>
            <a:r>
              <a:rPr lang="en-US" altLang="zh-CN" sz="2000" dirty="0"/>
              <a:t>interval.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>
                <a:highlight>
                  <a:srgbClr val="FFFF00"/>
                </a:highlight>
              </a:rPr>
              <a:t>后续会增加</a:t>
            </a:r>
            <a:r>
              <a:rPr lang="en-US" altLang="zh-CN" sz="2000" dirty="0">
                <a:highlight>
                  <a:srgbClr val="FFFF00"/>
                </a:highlight>
              </a:rPr>
              <a:t>hash_for_group</a:t>
            </a:r>
            <a:r>
              <a:rPr lang="zh-CN" altLang="en-US" sz="2000" dirty="0">
                <a:highlight>
                  <a:srgbClr val="FFFF00"/>
                </a:highlight>
              </a:rPr>
              <a:t>提示方便不同场景下使用不同的策略以达成最佳性能</a:t>
            </a:r>
            <a:r>
              <a:rPr lang="en-US" altLang="zh-CN" sz="2000" dirty="0">
                <a:highlight>
                  <a:srgbClr val="FFFF00"/>
                </a:highlight>
              </a:rPr>
              <a:t>.</a:t>
            </a:r>
            <a:endParaRPr lang="en-US" altLang="zh-CN" sz="2000" dirty="0">
              <a:highlight>
                <a:srgbClr val="FFFF00"/>
              </a:highlight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974849" y="2297534"/>
          <a:ext cx="886560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0362"/>
                <a:gridCol w="2318285"/>
                <a:gridCol w="2302357"/>
                <a:gridCol w="2514598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Partition by c0 /</a:t>
                      </a:r>
                      <a:r>
                        <a:rPr lang="en-US" altLang="zh-CN" dirty="0" err="1"/>
                        <a:t>ms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Partition by c1 /</a:t>
                      </a:r>
                      <a:r>
                        <a:rPr lang="en-US" altLang="zh-CN" dirty="0" err="1"/>
                        <a:t>ms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Partition by c3 /</a:t>
                      </a:r>
                      <a:r>
                        <a:rPr lang="en-US" altLang="zh-CN" dirty="0" err="1"/>
                        <a:t>ms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Hash partition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effectLst/>
                        </a:rPr>
                        <a:t>77798.503876</a:t>
                      </a:r>
                      <a:endParaRPr lang="en-US" altLang="zh-CN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chemeClr val="accent6"/>
                          </a:solidFill>
                          <a:effectLst/>
                        </a:rPr>
                        <a:t>3836.253166</a:t>
                      </a:r>
                      <a:endParaRPr lang="en-US" altLang="zh-CN" dirty="0">
                        <a:solidFill>
                          <a:schemeClr val="accent6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effectLst/>
                        </a:rPr>
                        <a:t>92866.159916</a:t>
                      </a:r>
                      <a:endParaRPr lang="en-US" altLang="zh-CN" dirty="0">
                        <a:effectLst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Sort partition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effectLst/>
                        </a:rPr>
                        <a:t>15927.097082</a:t>
                      </a:r>
                      <a:endParaRPr lang="en-US" altLang="zh-CN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effectLst/>
                        </a:rPr>
                        <a:t>10576.700926</a:t>
                      </a:r>
                      <a:endParaRPr lang="en-US" altLang="zh-CN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effectLst/>
                        </a:rPr>
                        <a:t>41436.603069</a:t>
                      </a:r>
                      <a:endParaRPr lang="en-US" altLang="zh-CN" dirty="0">
                        <a:effectLst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Group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chemeClr val="accent6"/>
                          </a:solidFill>
                          <a:effectLst/>
                        </a:rPr>
                        <a:t>13813.807964</a:t>
                      </a:r>
                      <a:endParaRPr lang="en-US" altLang="zh-CN" dirty="0">
                        <a:solidFill>
                          <a:schemeClr val="accent6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effectLst/>
                        </a:rPr>
                        <a:t>13259.753942</a:t>
                      </a:r>
                      <a:endParaRPr lang="en-US" altLang="zh-CN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chemeClr val="accent6"/>
                          </a:solidFill>
                          <a:effectLst/>
                        </a:rPr>
                        <a:t>26811.885118</a:t>
                      </a:r>
                      <a:endParaRPr lang="en-US" altLang="zh-CN" dirty="0">
                        <a:solidFill>
                          <a:schemeClr val="accent6"/>
                        </a:solidFill>
                        <a:effectLst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Partition by col </a:t>
            </a:r>
            <a:r>
              <a:rPr lang="en-US" altLang="zh-CN" dirty="0" err="1"/>
              <a:t>slimit</a:t>
            </a:r>
            <a:r>
              <a:rPr lang="en-US" altLang="zh-CN" dirty="0"/>
              <a:t> </a:t>
            </a:r>
            <a:r>
              <a:rPr lang="zh-CN" altLang="en-US" dirty="0"/>
              <a:t>性能优化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998200" cy="4351338"/>
          </a:xfrm>
        </p:spPr>
        <p:txBody>
          <a:bodyPr/>
          <a:lstStyle/>
          <a:p>
            <a:r>
              <a:rPr lang="zh-CN" altLang="en-US" dirty="0"/>
              <a:t>场景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2000" dirty="0"/>
              <a:t>SELECT count(*), … from meters partition by c1, … </a:t>
            </a:r>
            <a:r>
              <a:rPr lang="en-US" altLang="zh-CN" sz="2000" dirty="0" err="1"/>
              <a:t>slimit</a:t>
            </a:r>
            <a:r>
              <a:rPr lang="en-US" altLang="zh-CN" sz="2000" dirty="0"/>
              <a:t>;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400" dirty="0"/>
          </a:p>
          <a:p>
            <a:r>
              <a:rPr lang="zh-CN" altLang="en-US" dirty="0"/>
              <a:t>主要逻辑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2000" dirty="0" err="1"/>
              <a:t>Slimit</a:t>
            </a:r>
            <a:r>
              <a:rPr lang="zh-CN" altLang="en-US" sz="2000" dirty="0"/>
              <a:t>用来限制分组个数的输出</a:t>
            </a:r>
            <a:r>
              <a:rPr lang="en-US" altLang="zh-CN" sz="2000" dirty="0"/>
              <a:t>, </a:t>
            </a:r>
            <a:r>
              <a:rPr lang="zh-CN" altLang="en-US" sz="2000" dirty="0"/>
              <a:t>我们将做</a:t>
            </a:r>
            <a:r>
              <a:rPr lang="en-US" altLang="zh-CN" sz="2000" dirty="0" err="1"/>
              <a:t>agg</a:t>
            </a:r>
            <a:r>
              <a:rPr lang="zh-CN" altLang="en-US" sz="2000" dirty="0"/>
              <a:t>的算子从阻塞模式改为</a:t>
            </a:r>
            <a:r>
              <a:rPr lang="en-US" altLang="zh-CN" sz="2000" dirty="0"/>
              <a:t>pipeline</a:t>
            </a:r>
            <a:r>
              <a:rPr lang="zh-CN" altLang="en-US" sz="2000" dirty="0"/>
              <a:t>模式</a:t>
            </a:r>
            <a:r>
              <a:rPr lang="en-US" altLang="zh-CN" sz="2000" dirty="0"/>
              <a:t>, </a:t>
            </a:r>
            <a:r>
              <a:rPr lang="zh-CN" altLang="en-US" sz="2000" dirty="0"/>
              <a:t>可在达到</a:t>
            </a:r>
            <a:r>
              <a:rPr lang="en-US" altLang="zh-CN" sz="2000" dirty="0" err="1"/>
              <a:t>slimit</a:t>
            </a:r>
            <a:r>
              <a:rPr lang="zh-CN" altLang="en-US" sz="2000" dirty="0"/>
              <a:t>分组个数之后</a:t>
            </a:r>
            <a:r>
              <a:rPr lang="en-US" altLang="zh-CN" sz="2000" dirty="0"/>
              <a:t>, </a:t>
            </a:r>
            <a:r>
              <a:rPr lang="zh-CN" altLang="en-US" sz="2000" dirty="0"/>
              <a:t>不再做</a:t>
            </a:r>
            <a:r>
              <a:rPr lang="en-US" altLang="zh-CN" sz="2000" dirty="0" err="1"/>
              <a:t>agg</a:t>
            </a:r>
            <a:r>
              <a:rPr lang="zh-CN" altLang="en-US" sz="2000" dirty="0"/>
              <a:t>计算</a:t>
            </a:r>
            <a:r>
              <a:rPr lang="en-US" altLang="zh-CN" sz="2000" dirty="0"/>
              <a:t>.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Partition by col </a:t>
            </a:r>
            <a:r>
              <a:rPr lang="en-US" altLang="zh-CN" dirty="0" err="1"/>
              <a:t>slimit</a:t>
            </a:r>
            <a:r>
              <a:rPr lang="en-US" altLang="zh-CN" dirty="0"/>
              <a:t> </a:t>
            </a:r>
            <a:r>
              <a:rPr lang="zh-CN" altLang="en-US" dirty="0"/>
              <a:t>性能优化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63675"/>
            <a:ext cx="10236200" cy="506095"/>
          </a:xfrm>
        </p:spPr>
        <p:txBody>
          <a:bodyPr/>
          <a:lstStyle/>
          <a:p>
            <a:r>
              <a:rPr lang="zh-CN" altLang="en-US" dirty="0"/>
              <a:t>性能对比</a:t>
            </a:r>
            <a:endParaRPr lang="en-US" altLang="zh-CN" sz="2400" dirty="0"/>
          </a:p>
          <a:p>
            <a:pPr marL="0" indent="0">
              <a:buNone/>
            </a:pPr>
            <a:endParaRPr lang="en-US" altLang="zh-CN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346200" y="1969770"/>
          <a:ext cx="5715000" cy="219456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  <a:gridCol w="1143000"/>
              </a:tblGrid>
              <a:tr h="0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</a:rPr>
                        <a:t>c0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 latinLnBrk="0"/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</a:rPr>
                        <a:t>partition</a:t>
                      </a:r>
                      <a:endParaRPr lang="en-US" sz="12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fontAlgn="ctr" latinLnBrk="0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</a:rPr>
                        <a:t>sort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</a:rPr>
                        <a:t>slimit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</a:rPr>
                        <a:t>time_b/ms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</a:rPr>
                        <a:t>time_a/ms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</a:rPr>
                        <a:t>time_b/ms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</a:rPr>
                        <a:t>time_a/ms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</a:rPr>
                        <a:t>null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effectLst/>
                        </a:rPr>
                        <a:t>83196.5799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</a:rPr>
                        <a:t>null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effectLst/>
                        </a:rPr>
                        <a:t>16500.514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</a:rPr>
                        <a:t>null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effectLst/>
                        </a:rPr>
                        <a:t>84483.8991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 dirty="0">
                          <a:solidFill>
                            <a:srgbClr val="34C724"/>
                          </a:solidFill>
                          <a:effectLst/>
                        </a:rPr>
                        <a:t>80937.017</a:t>
                      </a:r>
                      <a:endParaRPr lang="en-US" altLang="zh-CN" sz="1200" b="0" i="0" dirty="0">
                        <a:solidFill>
                          <a:srgbClr val="34C724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effectLst/>
                        </a:rPr>
                        <a:t>17820.52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effectLst/>
                        </a:rPr>
                        <a:t>10339.78375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7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effectLst/>
                        </a:rPr>
                        <a:t>2001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effectLst/>
                        </a:rPr>
                        <a:t>87912.107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 dirty="0">
                          <a:solidFill>
                            <a:srgbClr val="34C724"/>
                          </a:solidFill>
                          <a:effectLst/>
                        </a:rPr>
                        <a:t>82097.989</a:t>
                      </a:r>
                      <a:endParaRPr lang="en-US" altLang="zh-CN" sz="1200" b="0" i="0" dirty="0">
                        <a:solidFill>
                          <a:srgbClr val="34C724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effectLst/>
                        </a:rPr>
                        <a:t>17996.938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 dirty="0">
                          <a:solidFill>
                            <a:srgbClr val="000000"/>
                          </a:solidFill>
                          <a:effectLst/>
                        </a:rPr>
                        <a:t>11790.46297</a:t>
                      </a:r>
                      <a:endParaRPr lang="en-US" altLang="zh-CN" sz="12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7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effectLst/>
                        </a:rPr>
                        <a:t>4001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effectLst/>
                        </a:rPr>
                        <a:t>86555.0711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 dirty="0">
                          <a:solidFill>
                            <a:srgbClr val="34C724"/>
                          </a:solidFill>
                          <a:effectLst/>
                        </a:rPr>
                        <a:t>81883.3303</a:t>
                      </a:r>
                      <a:endParaRPr lang="en-US" altLang="zh-CN" sz="1200" b="0" i="0" dirty="0">
                        <a:solidFill>
                          <a:srgbClr val="34C724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effectLst/>
                        </a:rPr>
                        <a:t>18349.548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effectLst/>
                        </a:rPr>
                        <a:t>13316.33369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7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effectLst/>
                        </a:rPr>
                        <a:t>6001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effectLst/>
                        </a:rPr>
                        <a:t>86199.9619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 dirty="0">
                          <a:solidFill>
                            <a:srgbClr val="34C724"/>
                          </a:solidFill>
                          <a:effectLst/>
                        </a:rPr>
                        <a:t>85008.1063</a:t>
                      </a:r>
                      <a:endParaRPr lang="en-US" altLang="zh-CN" sz="1200" b="0" i="0" dirty="0">
                        <a:solidFill>
                          <a:srgbClr val="34C724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effectLst/>
                        </a:rPr>
                        <a:t>18877.777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effectLst/>
                        </a:rPr>
                        <a:t>14944.49933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7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effectLst/>
                        </a:rPr>
                        <a:t>8001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effectLst/>
                        </a:rPr>
                        <a:t>86048.3019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 dirty="0">
                          <a:solidFill>
                            <a:srgbClr val="34C724"/>
                          </a:solidFill>
                          <a:effectLst/>
                        </a:rPr>
                        <a:t>83597.9253</a:t>
                      </a:r>
                      <a:endParaRPr lang="en-US" altLang="zh-CN" sz="1200" b="0" i="0" dirty="0">
                        <a:solidFill>
                          <a:srgbClr val="34C724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effectLst/>
                        </a:rPr>
                        <a:t>19114.071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 dirty="0">
                          <a:solidFill>
                            <a:srgbClr val="000000"/>
                          </a:solidFill>
                          <a:effectLst/>
                        </a:rPr>
                        <a:t>17131.84269</a:t>
                      </a:r>
                      <a:endParaRPr lang="en-US" altLang="zh-CN" sz="12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72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346200" y="4298315"/>
          <a:ext cx="5715000" cy="219456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  <a:gridCol w="1143000"/>
              </a:tblGrid>
              <a:tr h="0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</a:rPr>
                        <a:t>c1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 latinLnBrk="0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</a:rPr>
                        <a:t>partition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fontAlgn="ctr" latinLnBrk="0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</a:rPr>
                        <a:t>sort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</a:rPr>
                        <a:t>slimit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</a:rPr>
                        <a:t>time_b/ms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</a:rPr>
                        <a:t>time_a/ms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</a:rPr>
                        <a:t>time_b/ms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</a:rPr>
                        <a:t>time_a/ms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</a:rPr>
                        <a:t>null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effectLst/>
                        </a:rPr>
                        <a:t>4137.98904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</a:rPr>
                        <a:t>null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effectLst/>
                        </a:rPr>
                        <a:t>11172.956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</a:rPr>
                        <a:t>null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effectLst/>
                        </a:rPr>
                        <a:t>4088.10592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 dirty="0">
                          <a:solidFill>
                            <a:srgbClr val="34C724"/>
                          </a:solidFill>
                          <a:effectLst/>
                        </a:rPr>
                        <a:t>3999.28904</a:t>
                      </a:r>
                      <a:endParaRPr lang="en-US" altLang="zh-CN" sz="1200" b="0" i="0" dirty="0">
                        <a:solidFill>
                          <a:srgbClr val="34C724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effectLst/>
                        </a:rPr>
                        <a:t>11578.785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effectLst/>
                        </a:rPr>
                        <a:t>6477.576017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effectLst/>
                        </a:rPr>
                        <a:t>51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effectLst/>
                        </a:rPr>
                        <a:t>4199.25714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 dirty="0">
                          <a:solidFill>
                            <a:srgbClr val="34C724"/>
                          </a:solidFill>
                          <a:effectLst/>
                        </a:rPr>
                        <a:t>4103.10757</a:t>
                      </a:r>
                      <a:endParaRPr lang="en-US" altLang="zh-CN" sz="1200" b="0" i="0" dirty="0">
                        <a:solidFill>
                          <a:srgbClr val="34C724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effectLst/>
                        </a:rPr>
                        <a:t>11700.657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effectLst/>
                        </a:rPr>
                        <a:t>8276.299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effectLst/>
                        </a:rPr>
                        <a:t>101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effectLst/>
                        </a:rPr>
                        <a:t>4285.21299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 dirty="0">
                          <a:solidFill>
                            <a:srgbClr val="34C724"/>
                          </a:solidFill>
                          <a:effectLst/>
                        </a:rPr>
                        <a:t>4074.78714</a:t>
                      </a:r>
                      <a:endParaRPr lang="en-US" altLang="zh-CN" sz="1200" b="0" i="0" dirty="0">
                        <a:solidFill>
                          <a:srgbClr val="34C724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effectLst/>
                        </a:rPr>
                        <a:t>11718.491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effectLst/>
                        </a:rPr>
                        <a:t>8734.673977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effectLst/>
                        </a:rPr>
                        <a:t>151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effectLst/>
                        </a:rPr>
                        <a:t>4243.77799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 dirty="0">
                          <a:solidFill>
                            <a:srgbClr val="34C724"/>
                          </a:solidFill>
                          <a:effectLst/>
                        </a:rPr>
                        <a:t>4131.58605</a:t>
                      </a:r>
                      <a:endParaRPr lang="en-US" altLang="zh-CN" sz="1200" b="0" i="0" dirty="0">
                        <a:solidFill>
                          <a:srgbClr val="34C724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effectLst/>
                        </a:rPr>
                        <a:t>11564.402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effectLst/>
                        </a:rPr>
                        <a:t>9493.832827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effectLst/>
                        </a:rPr>
                        <a:t>201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effectLst/>
                        </a:rPr>
                        <a:t>4248.04807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 dirty="0">
                          <a:solidFill>
                            <a:srgbClr val="34C724"/>
                          </a:solidFill>
                          <a:effectLst/>
                        </a:rPr>
                        <a:t>4217.63191</a:t>
                      </a:r>
                      <a:endParaRPr lang="en-US" altLang="zh-CN" sz="1200" b="0" i="0" dirty="0">
                        <a:solidFill>
                          <a:srgbClr val="34C724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effectLst/>
                        </a:rPr>
                        <a:t>11529.724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 dirty="0">
                          <a:solidFill>
                            <a:srgbClr val="000000"/>
                          </a:solidFill>
                          <a:effectLst/>
                        </a:rPr>
                        <a:t>10599.97105</a:t>
                      </a:r>
                      <a:endParaRPr lang="en-US" altLang="zh-CN" sz="12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7200900" y="1969770"/>
            <a:ext cx="4851400" cy="3815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在原本的</a:t>
            </a:r>
            <a:r>
              <a:rPr lang="en-US" altLang="zh-CN" sz="2000" dirty="0"/>
              <a:t>partition</a:t>
            </a:r>
            <a:r>
              <a:rPr lang="zh-CN" altLang="en-US" sz="2000" dirty="0"/>
              <a:t>以及新的</a:t>
            </a:r>
            <a:r>
              <a:rPr lang="en-US" altLang="zh-CN" sz="2000" dirty="0" err="1"/>
              <a:t>sort_for_group</a:t>
            </a:r>
            <a:r>
              <a:rPr lang="zh-CN" altLang="en-US" sz="2000" dirty="0"/>
              <a:t>方式分组在</a:t>
            </a:r>
            <a:r>
              <a:rPr lang="en-US" altLang="zh-CN" sz="2000" dirty="0" err="1"/>
              <a:t>slimit</a:t>
            </a:r>
            <a:r>
              <a:rPr lang="zh-CN" altLang="en-US" sz="2000" dirty="0"/>
              <a:t>较小时都有一定的性能提升</a:t>
            </a:r>
            <a:r>
              <a:rPr lang="en-US" altLang="zh-CN" sz="2000" dirty="0"/>
              <a:t>.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不过性能提升幅度较小</a:t>
            </a:r>
            <a:r>
              <a:rPr lang="en-US" altLang="zh-CN" sz="2000" dirty="0"/>
              <a:t>, </a:t>
            </a:r>
            <a:r>
              <a:rPr lang="zh-CN" altLang="en-US" sz="2000" dirty="0"/>
              <a:t>尤其是分组个数少时</a:t>
            </a:r>
            <a:r>
              <a:rPr lang="en-US" altLang="zh-CN" sz="2000" dirty="0"/>
              <a:t>.</a:t>
            </a:r>
            <a:endParaRPr lang="en-US" altLang="zh-CN" sz="2000" dirty="0"/>
          </a:p>
          <a:p>
            <a:endParaRPr lang="en-US" altLang="zh-CN" dirty="0"/>
          </a:p>
          <a:p>
            <a:endParaRPr lang="en-US" altLang="zh-CN" dirty="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sz="2800" dirty="0"/>
              <a:t>注意</a:t>
            </a:r>
            <a:endParaRPr lang="en-US" altLang="zh-CN" sz="2800" dirty="0"/>
          </a:p>
          <a:p>
            <a:r>
              <a:rPr lang="en-US" altLang="zh-CN" sz="2000" dirty="0"/>
              <a:t>Partition </a:t>
            </a:r>
            <a:r>
              <a:rPr lang="zh-CN" altLang="en-US" sz="2000" dirty="0"/>
              <a:t>列至少包含一列普通列</a:t>
            </a:r>
            <a:r>
              <a:rPr lang="en-US" altLang="zh-CN" sz="2000" dirty="0"/>
              <a:t>.</a:t>
            </a:r>
            <a:endParaRPr lang="en-US" altLang="zh-CN" sz="2000" dirty="0"/>
          </a:p>
          <a:p>
            <a:r>
              <a:rPr lang="zh-CN" altLang="en-US" sz="2000" dirty="0"/>
              <a:t>对使用</a:t>
            </a:r>
            <a:r>
              <a:rPr lang="en-US" altLang="zh-CN" sz="2000" dirty="0"/>
              <a:t>group</a:t>
            </a:r>
            <a:r>
              <a:rPr lang="zh-CN" altLang="en-US" sz="2000" dirty="0"/>
              <a:t>方式的</a:t>
            </a:r>
            <a:r>
              <a:rPr lang="en-US" altLang="zh-CN" sz="2000" dirty="0"/>
              <a:t>partition by</a:t>
            </a:r>
            <a:r>
              <a:rPr lang="zh-CN" altLang="en-US" sz="2000" dirty="0"/>
              <a:t>无效</a:t>
            </a:r>
            <a:r>
              <a:rPr lang="en-US" altLang="zh-CN" sz="2000" dirty="0"/>
              <a:t>.</a:t>
            </a:r>
            <a:endParaRPr lang="en-US" altLang="zh-CN" sz="2000" dirty="0"/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用户白名单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邓怡豪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348105" y="3930650"/>
            <a:ext cx="9495790" cy="1772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815" tIns="45407" rIns="90815" bIns="45407" numCol="1" anchor="t" anchorCtr="0" compatLnSpc="1">
            <a:scene3d>
              <a:camera prst="orthographicFront"/>
              <a:lightRig rig="threePt" dir="t"/>
            </a:scene3d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lvl="0" indent="0">
              <a:lnSpc>
                <a:spcPct val="200000"/>
              </a:lnSpc>
              <a:buFont typeface="Wingdings" panose="05000000000000000000" pitchFamily="2" charset="2"/>
              <a:buNone/>
            </a:pPr>
            <a:endParaRPr lang="en-US" altLang="zh-CN" sz="200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+mn-ea"/>
              <a:ea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12215" y="733425"/>
            <a:ext cx="8766810" cy="46774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 </a:t>
            </a:r>
            <a:endParaRPr lang="zh-CN" altLang="en-US"/>
          </a:p>
          <a:p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简介</a:t>
            </a:r>
            <a:r>
              <a:rPr lang="zh-CN" altLang="en-US"/>
              <a:t>  </a:t>
            </a:r>
            <a:endParaRPr lang="zh-CN" altLang="en-US"/>
          </a:p>
          <a:p>
            <a:r>
              <a:rPr lang="zh-CN" altLang="en-US"/>
              <a:t>   通过用户</a:t>
            </a:r>
            <a:r>
              <a:rPr lang="en-US" altLang="zh-CN"/>
              <a:t>IP</a:t>
            </a:r>
            <a:r>
              <a:rPr lang="zh-CN" altLang="en-US"/>
              <a:t>白名单控制用户是否可以访问</a:t>
            </a:r>
            <a:r>
              <a:rPr lang="en-US" altLang="zh-CN"/>
              <a:t>taosd </a:t>
            </a:r>
            <a:endParaRPr lang="zh-CN" altLang="en-US" sz="16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FillTx/>
              <a:sym typeface="+mn-ea"/>
            </a:endParaRPr>
          </a:p>
          <a:p>
            <a:pPr fontAlgn="auto">
              <a:lnSpc>
                <a:spcPct val="200000"/>
              </a:lnSpc>
            </a:pPr>
            <a:endParaRPr lang="zh-CN" altLang="en-US" sz="16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FillTx/>
              <a:sym typeface="+mn-ea"/>
            </a:endParaRPr>
          </a:p>
          <a:p>
            <a:pPr fontAlgn="auto">
              <a:lnSpc>
                <a:spcPct val="200000"/>
              </a:lnSpc>
            </a:pPr>
            <a:r>
              <a:rPr lang="zh-CN" altLang="en-US" sz="16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sym typeface="+mn-ea"/>
              </a:rPr>
              <a:t>主要功能</a:t>
            </a:r>
            <a:endParaRPr lang="zh-CN" altLang="en-US" sz="1600">
              <a:uFillTx/>
              <a:sym typeface="+mn-ea"/>
            </a:endParaRPr>
          </a:p>
          <a:p>
            <a:pPr marL="285750" indent="-285750" fontAlgn="auto">
              <a:lnSpc>
                <a:spcPct val="150000"/>
              </a:lnSpc>
              <a:buSzPct val="75000"/>
              <a:buFont typeface="Wingdings" panose="05000000000000000000" charset="0"/>
              <a:buChar char=""/>
            </a:pPr>
            <a:r>
              <a:rPr lang="en-US" altLang="zh-CN" sz="1400">
                <a:solidFill>
                  <a:schemeClr val="tx1"/>
                </a:solidFill>
                <a:uFillTx/>
                <a:sym typeface="+mn-ea"/>
              </a:rPr>
              <a:t> 即使有账号/密码，但不在白名单的IP，不可以访问集群，</a:t>
            </a:r>
            <a:r>
              <a:rPr lang="zh-CN" altLang="en-US" sz="1400">
                <a:solidFill>
                  <a:schemeClr val="tx1"/>
                </a:solidFill>
                <a:uFillTx/>
                <a:sym typeface="+mn-ea"/>
              </a:rPr>
              <a:t>只有</a:t>
            </a:r>
            <a:r>
              <a:rPr lang="en-US" altLang="zh-CN" sz="1400">
                <a:solidFill>
                  <a:schemeClr val="tx1"/>
                </a:solidFill>
                <a:uFillTx/>
                <a:sym typeface="+mn-ea"/>
              </a:rPr>
              <a:t>白名单中用户才可以访问</a:t>
            </a:r>
            <a:r>
              <a:rPr lang="zh-CN" altLang="en-US" sz="1400">
                <a:solidFill>
                  <a:schemeClr val="tx1"/>
                </a:solidFill>
                <a:uFillTx/>
                <a:sym typeface="+mn-ea"/>
              </a:rPr>
              <a:t>集群</a:t>
            </a:r>
            <a:endParaRPr lang="zh-CN" altLang="en-US" sz="1400">
              <a:solidFill>
                <a:schemeClr val="tx1"/>
              </a:solidFill>
              <a:uFillTx/>
              <a:sym typeface="+mn-ea"/>
            </a:endParaRPr>
          </a:p>
          <a:p>
            <a:pPr marL="285750" indent="-285750" fontAlgn="auto">
              <a:lnSpc>
                <a:spcPct val="150000"/>
              </a:lnSpc>
              <a:buSzPct val="75000"/>
              <a:buFont typeface="Wingdings" panose="05000000000000000000" charset="0"/>
              <a:buChar char=""/>
            </a:pPr>
            <a:r>
              <a:rPr lang="zh-CN" altLang="en-US" sz="1400">
                <a:solidFill>
                  <a:schemeClr val="tx1"/>
                </a:solidFill>
                <a:uFillTx/>
                <a:sym typeface="+mn-ea"/>
              </a:rPr>
              <a:t> </a:t>
            </a:r>
            <a:r>
              <a:rPr lang="zh-CN" altLang="en-US" sz="1400">
                <a:solidFill>
                  <a:schemeClr val="tx1"/>
                </a:solidFill>
                <a:uFillTx/>
              </a:rPr>
              <a:t>支持IP段的控制</a:t>
            </a:r>
            <a:r>
              <a:rPr lang="en-US" altLang="zh-CN" sz="1400">
                <a:solidFill>
                  <a:schemeClr val="tx1"/>
                </a:solidFill>
                <a:uFillTx/>
              </a:rPr>
              <a:t>, </a:t>
            </a:r>
            <a:r>
              <a:rPr lang="zh-CN" altLang="en-US" sz="1400">
                <a:solidFill>
                  <a:schemeClr val="tx1"/>
                </a:solidFill>
                <a:uFillTx/>
              </a:rPr>
              <a:t>比如在一个范围中的IP。  </a:t>
            </a:r>
            <a:endParaRPr lang="zh-CN" altLang="en-US" sz="1400">
              <a:solidFill>
                <a:schemeClr val="tx1"/>
              </a:solidFill>
              <a:uFillTx/>
            </a:endParaRPr>
          </a:p>
          <a:p>
            <a:pPr marL="285750" indent="-285750" fontAlgn="auto">
              <a:lnSpc>
                <a:spcPct val="150000"/>
              </a:lnSpc>
              <a:buSzPct val="75000"/>
              <a:buFont typeface="Wingdings" panose="05000000000000000000" charset="0"/>
              <a:buChar char=""/>
            </a:pPr>
            <a:r>
              <a:rPr lang="zh-CN" altLang="en-US" sz="1400">
                <a:solidFill>
                  <a:schemeClr val="tx1"/>
                </a:solidFill>
                <a:uFillTx/>
              </a:rPr>
              <a:t> 可以动态更改白名单（毫秒级别生效）</a:t>
            </a:r>
            <a:endParaRPr lang="zh-CN" altLang="en-US" sz="1400">
              <a:solidFill>
                <a:schemeClr val="tx1"/>
              </a:solidFill>
              <a:uFillTx/>
            </a:endParaRPr>
          </a:p>
          <a:p>
            <a:pPr marL="285750" indent="-285750" fontAlgn="auto">
              <a:lnSpc>
                <a:spcPct val="150000"/>
              </a:lnSpc>
              <a:buSzPct val="75000"/>
              <a:buFont typeface="Wingdings" panose="05000000000000000000" charset="0"/>
              <a:buChar char=""/>
            </a:pPr>
            <a:r>
              <a:rPr lang="zh-CN" altLang="en-US" sz="1400">
                <a:solidFill>
                  <a:schemeClr val="tx1"/>
                </a:solidFill>
                <a:uFillTx/>
              </a:rPr>
              <a:t> 查看的IP白名白名单</a:t>
            </a:r>
            <a:endParaRPr lang="zh-CN" altLang="en-US" sz="1600">
              <a:solidFill>
                <a:schemeClr val="tx1"/>
              </a:solidFill>
              <a:uFillTx/>
            </a:endParaRPr>
          </a:p>
          <a:p>
            <a:pPr fontAlgn="auto">
              <a:lnSpc>
                <a:spcPct val="200000"/>
              </a:lnSpc>
            </a:pPr>
            <a:endParaRPr lang="zh-CN" altLang="en-US" sz="16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FillTx/>
            </a:endParaRPr>
          </a:p>
          <a:p>
            <a:pPr fontAlgn="auto">
              <a:lnSpc>
                <a:spcPct val="200000"/>
              </a:lnSpc>
            </a:pPr>
            <a:r>
              <a:rPr lang="zh-CN" altLang="en-US" sz="16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</a:rPr>
              <a:t>用户手册</a:t>
            </a:r>
            <a:endParaRPr lang="zh-CN" altLang="en-US" sz="1600">
              <a:solidFill>
                <a:schemeClr val="tx1"/>
              </a:solidFill>
              <a:uFillTx/>
            </a:endParaRPr>
          </a:p>
          <a:p>
            <a:pPr fontAlgn="auto">
              <a:lnSpc>
                <a:spcPct val="200000"/>
              </a:lnSpc>
            </a:pPr>
            <a:r>
              <a:rPr lang="zh-CN" altLang="en-US" sz="1600">
                <a:solidFill>
                  <a:schemeClr val="tx1"/>
                </a:solidFill>
                <a:uFillTx/>
              </a:rPr>
              <a:t>   </a:t>
            </a:r>
            <a:r>
              <a:rPr lang="en-US" altLang="zh-CN" sz="1600">
                <a:solidFill>
                  <a:schemeClr val="tx1"/>
                </a:solidFill>
                <a:uFillTx/>
              </a:rPr>
              <a:t>https://taosdata.feishu.cn/wiki/TEQlwg19hizT7ukPcWscRRYunub</a:t>
            </a:r>
            <a:endParaRPr lang="en-US" altLang="zh-CN" sz="1600">
              <a:solidFill>
                <a:schemeClr val="tx1"/>
              </a:solidFill>
              <a:uFillTx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37360" y="3930650"/>
            <a:ext cx="30988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639945" y="212090"/>
            <a:ext cx="30841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solidFill>
                  <a:schemeClr val="tx1"/>
                </a:solidFill>
                <a:uFillTx/>
              </a:rPr>
              <a:t>用户白名单</a:t>
            </a:r>
            <a:endParaRPr lang="zh-CN" altLang="en-US" sz="2800">
              <a:solidFill>
                <a:schemeClr val="tx1"/>
              </a:solidFill>
              <a:uFillTx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348105" y="3930650"/>
            <a:ext cx="9495790" cy="1772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815" tIns="45407" rIns="90815" bIns="45407" numCol="1" anchor="t" anchorCtr="0" compatLnSpc="1">
            <a:scene3d>
              <a:camera prst="orthographicFront"/>
              <a:lightRig rig="threePt" dir="t"/>
            </a:scene3d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lvl="0" indent="0">
              <a:lnSpc>
                <a:spcPct val="200000"/>
              </a:lnSpc>
              <a:buFont typeface="Wingdings" panose="05000000000000000000" pitchFamily="2" charset="2"/>
              <a:buNone/>
            </a:pPr>
            <a:endParaRPr lang="en-US" altLang="zh-CN" sz="200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+mn-ea"/>
              <a:ea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66495" y="733425"/>
            <a:ext cx="8812530" cy="34766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zh-CN" altLang="en-US" sz="1600">
              <a:solidFill>
                <a:schemeClr val="tx1"/>
              </a:solidFill>
              <a:uFillTx/>
            </a:endParaRPr>
          </a:p>
          <a:p>
            <a:pPr fontAlgn="auto">
              <a:lnSpc>
                <a:spcPct val="200000"/>
              </a:lnSpc>
            </a:pP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sym typeface="+mn-ea"/>
              </a:rPr>
              <a:t>相关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sym typeface="+mn-ea"/>
              </a:rPr>
              <a:t>SQL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sym typeface="+mn-ea"/>
              </a:rPr>
              <a:t>语法</a:t>
            </a:r>
            <a:r>
              <a:rPr lang="zh-CN" altLang="en-US" sz="1600">
                <a:sym typeface="+mn-ea"/>
              </a:rPr>
              <a:t> </a:t>
            </a:r>
            <a:endParaRPr lang="zh-CN" altLang="en-US" sz="1600"/>
          </a:p>
          <a:p>
            <a:pPr fontAlgn="auto">
              <a:lnSpc>
                <a:spcPct val="150000"/>
              </a:lnSpc>
            </a:pPr>
            <a:r>
              <a:rPr lang="zh-CN" altLang="en-US" sz="1600">
                <a:uFillTx/>
                <a:sym typeface="+mn-ea"/>
              </a:rPr>
              <a:t>   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sym typeface="+mn-ea"/>
              </a:rPr>
              <a:t>创建</a:t>
            </a:r>
            <a:r>
              <a:rPr lang="zh-CN" altLang="en-US" sz="1400">
                <a:solidFill>
                  <a:schemeClr val="tx1"/>
                </a:solidFill>
                <a:uFillTx/>
                <a:sym typeface="+mn-ea"/>
              </a:rPr>
              <a:t>： </a:t>
            </a:r>
            <a:r>
              <a:rPr lang="en-US" altLang="zh-CN" sz="1400">
                <a:solidFill>
                  <a:schemeClr val="tx1"/>
                </a:solidFill>
                <a:uFillTx/>
                <a:sym typeface="+mn-ea"/>
              </a:rPr>
              <a:t>CREATE USER user_name PASS password [SYSINFO value] [HOST host_name1[,host_name2]]</a:t>
            </a:r>
            <a:endParaRPr lang="en-US" altLang="zh-CN" sz="1400">
              <a:solidFill>
                <a:schemeClr val="tx1"/>
              </a:solidFill>
              <a:uFillTx/>
            </a:endParaRPr>
          </a:p>
          <a:p>
            <a:pPr fontAlgn="auto">
              <a:lnSpc>
                <a:spcPct val="100000"/>
              </a:lnSpc>
            </a:pPr>
            <a:r>
              <a:rPr lang="en-US" altLang="zh-CN" sz="1400">
                <a:solidFill>
                  <a:schemeClr val="tx1"/>
                </a:solidFill>
                <a:uFillTx/>
              </a:rPr>
              <a:t>  </a:t>
            </a:r>
            <a:endParaRPr lang="en-US" altLang="zh-CN" sz="1400">
              <a:solidFill>
                <a:schemeClr val="tx1"/>
              </a:solidFill>
              <a:uFillTx/>
            </a:endParaRPr>
          </a:p>
          <a:p>
            <a:pPr fontAlgn="auto">
              <a:lnSpc>
                <a:spcPct val="100000"/>
              </a:lnSpc>
            </a:pPr>
            <a:r>
              <a:rPr lang="en-US" altLang="zh-CN" sz="1400">
                <a:solidFill>
                  <a:schemeClr val="tx1"/>
                </a:solidFill>
                <a:uFillTx/>
              </a:rPr>
              <a:t>   </a:t>
            </a:r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</a:rPr>
              <a:t>说明</a:t>
            </a:r>
            <a:r>
              <a:rPr lang="zh-CN" altLang="en-US" sz="1000">
                <a:solidFill>
                  <a:schemeClr val="tx1"/>
                </a:solidFill>
                <a:uFillTx/>
              </a:rPr>
              <a:t>：  </a:t>
            </a:r>
            <a:r>
              <a:rPr lang="en-US" altLang="zh-CN" sz="1000">
                <a:solidFill>
                  <a:schemeClr val="tx1"/>
                </a:solidFill>
                <a:uFillTx/>
              </a:rPr>
              <a:t>host_name </a:t>
            </a:r>
            <a:r>
              <a:rPr lang="zh-CN" altLang="en-US" sz="1000">
                <a:solidFill>
                  <a:schemeClr val="tx1"/>
                </a:solidFill>
                <a:uFillTx/>
              </a:rPr>
              <a:t>格式为</a:t>
            </a:r>
            <a:r>
              <a:rPr lang="en-US" altLang="zh-CN" sz="1000">
                <a:solidFill>
                  <a:schemeClr val="tx1"/>
                </a:solidFill>
                <a:uFillTx/>
              </a:rPr>
              <a:t>IP</a:t>
            </a:r>
            <a:r>
              <a:rPr lang="zh-CN" altLang="en-US" sz="1000">
                <a:solidFill>
                  <a:schemeClr val="tx1"/>
                </a:solidFill>
                <a:uFillTx/>
              </a:rPr>
              <a:t>或者</a:t>
            </a:r>
            <a:r>
              <a:rPr lang="en-US" altLang="zh-CN" sz="1000">
                <a:solidFill>
                  <a:schemeClr val="tx1"/>
                </a:solidFill>
                <a:uFillTx/>
              </a:rPr>
              <a:t>IP Range, </a:t>
            </a:r>
            <a:r>
              <a:rPr lang="zh-CN" altLang="en-US" sz="1000">
                <a:solidFill>
                  <a:schemeClr val="tx1"/>
                </a:solidFill>
                <a:uFillTx/>
              </a:rPr>
              <a:t>比如</a:t>
            </a:r>
            <a:r>
              <a:rPr lang="en-US" altLang="zh-CN" sz="1000">
                <a:solidFill>
                  <a:schemeClr val="tx1"/>
                </a:solidFill>
                <a:uFillTx/>
              </a:rPr>
              <a:t>192.168.1.1</a:t>
            </a:r>
            <a:r>
              <a:rPr lang="zh-CN" altLang="en-US" sz="1000">
                <a:solidFill>
                  <a:schemeClr val="tx1"/>
                </a:solidFill>
                <a:uFillTx/>
              </a:rPr>
              <a:t>或者</a:t>
            </a:r>
            <a:r>
              <a:rPr lang="en-US" altLang="zh-CN" sz="1000">
                <a:solidFill>
                  <a:schemeClr val="tx1"/>
                </a:solidFill>
                <a:uFillTx/>
              </a:rPr>
              <a:t>192.168.1.1/16</a:t>
            </a:r>
            <a:endParaRPr lang="en-US" altLang="zh-CN" sz="1400">
              <a:solidFill>
                <a:schemeClr val="tx1"/>
              </a:solidFill>
              <a:uFillTx/>
            </a:endParaRPr>
          </a:p>
          <a:p>
            <a:pPr fontAlgn="auto">
              <a:lnSpc>
                <a:spcPct val="100000"/>
              </a:lnSpc>
            </a:pPr>
            <a:r>
              <a:rPr lang="en-US" altLang="zh-CN" sz="1400">
                <a:solidFill>
                  <a:schemeClr val="tx1"/>
                </a:solidFill>
                <a:uFillTx/>
              </a:rPr>
              <a:t>  	</a:t>
            </a:r>
            <a:endParaRPr lang="en-US" altLang="zh-CN" sz="1400">
              <a:solidFill>
                <a:schemeClr val="tx1"/>
              </a:solidFill>
              <a:uFillTx/>
            </a:endParaRPr>
          </a:p>
          <a:p>
            <a:pPr fontAlgn="auto">
              <a:lnSpc>
                <a:spcPct val="100000"/>
              </a:lnSpc>
            </a:pPr>
            <a:r>
              <a:rPr lang="zh-CN" altLang="en-US" sz="1400">
                <a:solidFill>
                  <a:schemeClr val="tx1"/>
                </a:solidFill>
                <a:uFillTx/>
                <a:sym typeface="+mn-ea"/>
              </a:rPr>
              <a:t>   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sym typeface="+mn-ea"/>
              </a:rPr>
              <a:t>添加</a:t>
            </a:r>
            <a:r>
              <a:rPr lang="zh-CN" altLang="en-US" sz="1400">
                <a:solidFill>
                  <a:schemeClr val="tx1"/>
                </a:solidFill>
                <a:uFillTx/>
                <a:sym typeface="+mn-ea"/>
              </a:rPr>
              <a:t>： </a:t>
            </a:r>
            <a:r>
              <a:rPr lang="en-US" altLang="zh-CN" sz="1400">
                <a:solidFill>
                  <a:schemeClr val="tx1"/>
                </a:solidFill>
                <a:uFillTx/>
                <a:sym typeface="+mn-ea"/>
              </a:rPr>
              <a:t>ALTER USER user_name ADD HOST host_name</a:t>
            </a:r>
            <a:endParaRPr lang="en-US" altLang="zh-CN" sz="1400">
              <a:solidFill>
                <a:schemeClr val="tx1"/>
              </a:solidFill>
              <a:uFillTx/>
            </a:endParaRPr>
          </a:p>
          <a:p>
            <a:pPr fontAlgn="auto">
              <a:lnSpc>
                <a:spcPct val="100000"/>
              </a:lnSpc>
            </a:pPr>
            <a:endParaRPr lang="en-US" altLang="zh-CN" sz="1400">
              <a:solidFill>
                <a:schemeClr val="tx1"/>
              </a:solidFill>
              <a:uFillTx/>
            </a:endParaRPr>
          </a:p>
          <a:p>
            <a:pPr fontAlgn="auto">
              <a:lnSpc>
                <a:spcPct val="100000"/>
              </a:lnSpc>
            </a:pPr>
            <a:r>
              <a:rPr lang="zh-CN" altLang="en-US" sz="1400">
                <a:solidFill>
                  <a:schemeClr val="tx1"/>
                </a:solidFill>
                <a:uFillTx/>
                <a:sym typeface="+mn-ea"/>
              </a:rPr>
              <a:t>   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sym typeface="+mn-ea"/>
              </a:rPr>
              <a:t>删除</a:t>
            </a:r>
            <a:r>
              <a:rPr lang="zh-CN" altLang="en-US" sz="1400">
                <a:solidFill>
                  <a:schemeClr val="tx1"/>
                </a:solidFill>
                <a:uFillTx/>
                <a:sym typeface="+mn-ea"/>
              </a:rPr>
              <a:t>： </a:t>
            </a:r>
            <a:r>
              <a:rPr lang="en-US" altLang="zh-CN" sz="1400">
                <a:solidFill>
                  <a:schemeClr val="tx1"/>
                </a:solidFill>
                <a:uFillTx/>
                <a:sym typeface="+mn-ea"/>
              </a:rPr>
              <a:t>ALTER USER user_name DROP HOST host_name</a:t>
            </a:r>
            <a:endParaRPr lang="en-US" altLang="zh-CN" sz="1400">
              <a:solidFill>
                <a:schemeClr val="tx1"/>
              </a:solidFill>
              <a:uFillTx/>
            </a:endParaRPr>
          </a:p>
          <a:p>
            <a:pPr fontAlgn="auto">
              <a:lnSpc>
                <a:spcPct val="100000"/>
              </a:lnSpc>
            </a:pPr>
            <a:endParaRPr lang="en-US" altLang="zh-CN" sz="1400">
              <a:solidFill>
                <a:schemeClr val="tx1"/>
              </a:solidFill>
              <a:uFillTx/>
            </a:endParaRPr>
          </a:p>
          <a:p>
            <a:pPr fontAlgn="auto">
              <a:lnSpc>
                <a:spcPct val="100000"/>
              </a:lnSpc>
            </a:pPr>
            <a:r>
              <a:rPr lang="zh-CN" altLang="en-US" sz="1400">
                <a:solidFill>
                  <a:schemeClr val="tx1"/>
                </a:solidFill>
                <a:uFillTx/>
                <a:sym typeface="+mn-ea"/>
              </a:rPr>
              <a:t>   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sym typeface="+mn-ea"/>
              </a:rPr>
              <a:t>查询</a:t>
            </a:r>
            <a:r>
              <a:rPr lang="zh-CN" altLang="en-US" sz="1400">
                <a:solidFill>
                  <a:schemeClr val="tx1"/>
                </a:solidFill>
                <a:uFillTx/>
                <a:sym typeface="+mn-ea"/>
              </a:rPr>
              <a:t>： </a:t>
            </a:r>
            <a:r>
              <a:rPr lang="en-US" altLang="zh-CN" sz="1400">
                <a:solidFill>
                  <a:schemeClr val="tx1"/>
                </a:solidFill>
                <a:uFillTx/>
                <a:sym typeface="+mn-ea"/>
              </a:rPr>
              <a:t>select user_name, allowed_host from ins_users</a:t>
            </a:r>
            <a:endParaRPr lang="en-US" altLang="zh-CN" sz="1600">
              <a:uFillTx/>
              <a:sym typeface="+mn-ea"/>
            </a:endParaRPr>
          </a:p>
          <a:p>
            <a:pPr fontAlgn="auto">
              <a:lnSpc>
                <a:spcPct val="100000"/>
              </a:lnSpc>
            </a:pPr>
            <a:endParaRPr lang="zh-CN" altLang="en-US" sz="1600">
              <a:solidFill>
                <a:schemeClr val="tx1"/>
              </a:solidFill>
              <a:uFillTx/>
            </a:endParaRPr>
          </a:p>
          <a:p>
            <a:pPr fontAlgn="auto">
              <a:lnSpc>
                <a:spcPct val="100000"/>
              </a:lnSpc>
            </a:pPr>
            <a:endParaRPr lang="zh-CN" altLang="en-US" sz="1600">
              <a:solidFill>
                <a:schemeClr val="tx1"/>
              </a:solidFill>
              <a:uFillTx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37360" y="3930650"/>
            <a:ext cx="30988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348105" y="3930650"/>
            <a:ext cx="9495790" cy="1772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815" tIns="45407" rIns="90815" bIns="45407" numCol="1" anchor="t" anchorCtr="0" compatLnSpc="1">
            <a:scene3d>
              <a:camera prst="orthographicFront"/>
              <a:lightRig rig="threePt" dir="t"/>
            </a:scene3d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lvl="0" indent="0">
              <a:lnSpc>
                <a:spcPct val="200000"/>
              </a:lnSpc>
              <a:buFont typeface="Wingdings" panose="05000000000000000000" pitchFamily="2" charset="2"/>
              <a:buNone/>
            </a:pPr>
            <a:endParaRPr lang="en-US" altLang="zh-CN" sz="200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+mn-ea"/>
              <a:ea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20470" y="1021080"/>
            <a:ext cx="8758555" cy="53848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zh-CN" altLang="en-US" sz="1600">
              <a:solidFill>
                <a:schemeClr val="tx1"/>
              </a:solidFill>
              <a:uFillTx/>
            </a:endParaRPr>
          </a:p>
          <a:p>
            <a:pPr fontAlgn="auto">
              <a:lnSpc>
                <a:spcPct val="200000"/>
              </a:lnSpc>
            </a:pP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</a:rPr>
              <a:t>主要参数</a:t>
            </a:r>
            <a:endParaRPr lang="zh-CN" altLang="en-US" sz="1600"/>
          </a:p>
          <a:p>
            <a:pPr fontAlgn="auto">
              <a:lnSpc>
                <a:spcPct val="200000"/>
              </a:lnSpc>
            </a:pPr>
            <a:r>
              <a:rPr lang="zh-CN" altLang="en-US" sz="1400">
                <a:solidFill>
                  <a:schemeClr val="tx1"/>
                </a:solidFill>
                <a:uFillTx/>
              </a:rPr>
              <a:t>enableWhite</a:t>
            </a:r>
            <a:r>
              <a:rPr lang="en-US" altLang="zh-CN" sz="1400">
                <a:solidFill>
                  <a:schemeClr val="tx1"/>
                </a:solidFill>
                <a:uFillTx/>
              </a:rPr>
              <a:t>l</a:t>
            </a:r>
            <a:r>
              <a:rPr lang="zh-CN" altLang="en-US" sz="1400">
                <a:solidFill>
                  <a:schemeClr val="tx1"/>
                </a:solidFill>
                <a:uFillTx/>
              </a:rPr>
              <a:t>is</a:t>
            </a:r>
            <a:r>
              <a:rPr lang="en-US" altLang="zh-CN" sz="1400">
                <a:solidFill>
                  <a:schemeClr val="tx1"/>
                </a:solidFill>
                <a:uFillTx/>
              </a:rPr>
              <a:t>t </a:t>
            </a:r>
            <a:endParaRPr lang="en-US" altLang="zh-CN" sz="1400">
              <a:solidFill>
                <a:schemeClr val="tx1"/>
              </a:solidFill>
              <a:uFillTx/>
            </a:endParaRPr>
          </a:p>
          <a:p>
            <a:pPr marL="285750" indent="-285750" fontAlgn="auto">
              <a:lnSpc>
                <a:spcPct val="200000"/>
              </a:lnSpc>
              <a:buFont typeface="Wingdings" panose="05000000000000000000" charset="0"/>
              <a:buChar char=""/>
            </a:pPr>
            <a:r>
              <a:rPr lang="en-US" altLang="zh-CN" sz="1400">
                <a:solidFill>
                  <a:schemeClr val="tx1"/>
                </a:solidFill>
                <a:uFillTx/>
              </a:rPr>
              <a:t>   </a:t>
            </a:r>
            <a:r>
              <a:rPr lang="zh-CN" altLang="en-US" sz="1400">
                <a:solidFill>
                  <a:schemeClr val="tx1"/>
                </a:solidFill>
                <a:uFillTx/>
              </a:rPr>
              <a:t>服务端的参数，通过</a:t>
            </a:r>
            <a:r>
              <a:rPr lang="en-US" altLang="zh-CN" sz="1400">
                <a:solidFill>
                  <a:schemeClr val="tx1"/>
                </a:solidFill>
                <a:uFillTx/>
              </a:rPr>
              <a:t>taos.cfg</a:t>
            </a:r>
            <a:r>
              <a:rPr lang="zh-CN" altLang="en-US" sz="1400">
                <a:solidFill>
                  <a:schemeClr val="tx1"/>
                </a:solidFill>
                <a:uFillTx/>
              </a:rPr>
              <a:t>修改，默认为</a:t>
            </a:r>
            <a:r>
              <a:rPr lang="en-US" altLang="zh-CN" sz="1400">
                <a:solidFill>
                  <a:schemeClr val="tx1"/>
                </a:solidFill>
                <a:uFillTx/>
              </a:rPr>
              <a:t>false, </a:t>
            </a:r>
            <a:r>
              <a:rPr lang="zh-CN" altLang="en-US" sz="1400">
                <a:solidFill>
                  <a:schemeClr val="tx1"/>
                </a:solidFill>
                <a:uFillTx/>
              </a:rPr>
              <a:t>也就是不启用用户白名单。</a:t>
            </a:r>
            <a:endParaRPr lang="zh-CN" altLang="en-US" sz="1400">
              <a:solidFill>
                <a:schemeClr val="tx1"/>
              </a:solidFill>
              <a:uFillTx/>
            </a:endParaRPr>
          </a:p>
          <a:p>
            <a:pPr marL="285750" indent="-285750" fontAlgn="auto">
              <a:lnSpc>
                <a:spcPct val="200000"/>
              </a:lnSpc>
              <a:buFont typeface="Wingdings" panose="05000000000000000000" charset="0"/>
              <a:buChar char=""/>
            </a:pPr>
            <a:r>
              <a:rPr lang="zh-CN" altLang="en-US" sz="1400">
                <a:solidFill>
                  <a:schemeClr val="tx1"/>
                </a:solidFill>
                <a:uFillTx/>
              </a:rPr>
              <a:t>   集群情况下各个节点的</a:t>
            </a:r>
            <a:r>
              <a:rPr lang="en-US" altLang="zh-CN" sz="1400">
                <a:solidFill>
                  <a:schemeClr val="tx1"/>
                </a:solidFill>
                <a:uFillTx/>
              </a:rPr>
              <a:t>enableWhitelist</a:t>
            </a:r>
            <a:r>
              <a:rPr lang="zh-CN" altLang="en-US" sz="1400">
                <a:solidFill>
                  <a:schemeClr val="tx1"/>
                </a:solidFill>
                <a:uFillTx/>
              </a:rPr>
              <a:t>必须一致，要不然集群无法正常工作，状态为</a:t>
            </a:r>
            <a:r>
              <a:rPr lang="en-US" altLang="zh-CN" sz="1400">
                <a:solidFill>
                  <a:schemeClr val="tx1"/>
                </a:solidFill>
                <a:uFillTx/>
              </a:rPr>
              <a:t>offline</a:t>
            </a:r>
            <a:r>
              <a:rPr lang="zh-CN" altLang="en-US" sz="1400">
                <a:solidFill>
                  <a:schemeClr val="tx1"/>
                </a:solidFill>
                <a:uFillTx/>
              </a:rPr>
              <a:t> </a:t>
            </a:r>
            <a:endParaRPr lang="zh-CN" altLang="en-US" sz="1400">
              <a:solidFill>
                <a:schemeClr val="tx1"/>
              </a:solidFill>
              <a:uFillTx/>
            </a:endParaRPr>
          </a:p>
          <a:p>
            <a:pPr marL="285750" indent="-285750" fontAlgn="auto">
              <a:lnSpc>
                <a:spcPct val="200000"/>
              </a:lnSpc>
              <a:buFont typeface="Wingdings" panose="05000000000000000000" charset="0"/>
              <a:buChar char=""/>
            </a:pPr>
            <a:r>
              <a:rPr lang="zh-CN" altLang="en-US" sz="1400">
                <a:solidFill>
                  <a:schemeClr val="tx1"/>
                </a:solidFill>
                <a:uFillTx/>
              </a:rPr>
              <a:t>   不支持动态调整该值</a:t>
            </a:r>
            <a:r>
              <a:rPr lang="en-US" altLang="zh-CN" sz="1400">
                <a:solidFill>
                  <a:schemeClr val="tx1"/>
                </a:solidFill>
                <a:uFillTx/>
              </a:rPr>
              <a:t>,</a:t>
            </a:r>
            <a:r>
              <a:rPr lang="zh-CN" altLang="en-US" sz="1400">
                <a:solidFill>
                  <a:schemeClr val="tx1"/>
                </a:solidFill>
                <a:uFillTx/>
              </a:rPr>
              <a:t>要修改只能修改</a:t>
            </a:r>
            <a:r>
              <a:rPr lang="en-US" altLang="zh-CN" sz="1400">
                <a:solidFill>
                  <a:schemeClr val="tx1"/>
                </a:solidFill>
                <a:uFillTx/>
              </a:rPr>
              <a:t>taos.cfg</a:t>
            </a:r>
            <a:r>
              <a:rPr lang="zh-CN" altLang="en-US" sz="1400">
                <a:solidFill>
                  <a:schemeClr val="tx1"/>
                </a:solidFill>
                <a:uFillTx/>
              </a:rPr>
              <a:t>并重启</a:t>
            </a:r>
            <a:endParaRPr lang="zh-CN" altLang="en-US" sz="1600"/>
          </a:p>
          <a:p>
            <a:pPr fontAlgn="auto">
              <a:lnSpc>
                <a:spcPct val="200000"/>
              </a:lnSpc>
            </a:pPr>
            <a:endParaRPr lang="en-US" altLang="zh-CN" sz="1400">
              <a:solidFill>
                <a:schemeClr val="tx1"/>
              </a:solidFill>
              <a:uFillTx/>
            </a:endParaRPr>
          </a:p>
          <a:p>
            <a:pPr fontAlgn="auto">
              <a:lnSpc>
                <a:spcPct val="200000"/>
              </a:lnSpc>
            </a:pPr>
            <a:r>
              <a:rPr lang="en-US" altLang="zh-CN" sz="1400">
                <a:solidFill>
                  <a:schemeClr val="tx1"/>
                </a:solidFill>
                <a:uFillTx/>
              </a:rPr>
              <a:t>  </a:t>
            </a:r>
            <a:endParaRPr lang="en-US" altLang="zh-CN" sz="1400">
              <a:solidFill>
                <a:schemeClr val="tx1"/>
              </a:solidFill>
              <a:uFillTx/>
            </a:endParaRPr>
          </a:p>
          <a:p>
            <a:pPr fontAlgn="auto">
              <a:lnSpc>
                <a:spcPct val="200000"/>
              </a:lnSpc>
            </a:pPr>
            <a:endParaRPr lang="en-US" altLang="zh-CN" sz="1400">
              <a:solidFill>
                <a:schemeClr val="tx1"/>
              </a:solidFill>
              <a:uFillTx/>
            </a:endParaRPr>
          </a:p>
          <a:p>
            <a:pPr fontAlgn="auto">
              <a:lnSpc>
                <a:spcPct val="200000"/>
              </a:lnSpc>
            </a:pPr>
            <a:r>
              <a:rPr lang="zh-CN" altLang="en-US" sz="1600"/>
              <a:t>   </a:t>
            </a:r>
            <a:endParaRPr lang="zh-CN" altLang="en-US" sz="1600"/>
          </a:p>
          <a:p>
            <a:pPr fontAlgn="auto">
              <a:lnSpc>
                <a:spcPct val="200000"/>
              </a:lnSpc>
            </a:pPr>
            <a:r>
              <a:rPr lang="zh-CN" altLang="en-US" sz="1600"/>
              <a:t>  </a:t>
            </a:r>
            <a:endParaRPr lang="zh-CN" altLang="en-US" sz="1600"/>
          </a:p>
          <a:p>
            <a:pPr fontAlgn="auto">
              <a:lnSpc>
                <a:spcPct val="100000"/>
              </a:lnSpc>
            </a:pPr>
            <a:endParaRPr lang="zh-CN" altLang="en-US" sz="1600">
              <a:solidFill>
                <a:schemeClr val="tx1"/>
              </a:solidFill>
              <a:uFillTx/>
            </a:endParaRPr>
          </a:p>
          <a:p>
            <a:pPr fontAlgn="auto">
              <a:lnSpc>
                <a:spcPct val="100000"/>
              </a:lnSpc>
            </a:pPr>
            <a:endParaRPr lang="zh-CN" altLang="en-US" sz="1600">
              <a:solidFill>
                <a:schemeClr val="tx1"/>
              </a:solidFill>
              <a:uFillTx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37360" y="3930650"/>
            <a:ext cx="30988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015105" y="212090"/>
            <a:ext cx="37090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800">
              <a:solidFill>
                <a:schemeClr val="tx1"/>
              </a:solidFill>
              <a:uFillTx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"/>
          <p:cNvSpPr txBox="1">
            <a:spLocks noChangeArrowheads="1"/>
          </p:cNvSpPr>
          <p:nvPr/>
        </p:nvSpPr>
        <p:spPr bwMode="auto">
          <a:xfrm>
            <a:off x="2837204" y="748058"/>
            <a:ext cx="5891642" cy="99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815" tIns="45407" rIns="90815" bIns="45407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60475" y="574675"/>
            <a:ext cx="9458325" cy="7324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</a:rPr>
              <a:t>场景介绍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en-US" altLang="zh-CN" sz="1600"/>
              <a:t> </a:t>
            </a:r>
            <a:endParaRPr lang="en-US" altLang="zh-CN" sz="1600"/>
          </a:p>
          <a:p>
            <a:pPr fontAlgn="auto">
              <a:lnSpc>
                <a:spcPct val="150000"/>
              </a:lnSpc>
            </a:pPr>
            <a:r>
              <a:rPr lang="zh-CN" altLang="en-US" sz="1400">
                <a:solidFill>
                  <a:schemeClr val="tx1"/>
                </a:solidFill>
                <a:uFillTx/>
              </a:rPr>
              <a:t>集群（包括单机）启动之后，如果之前没有添加白名单，</a:t>
            </a:r>
            <a:r>
              <a:rPr lang="zh-CN" altLang="en-US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</a:rPr>
              <a:t>只能在组成集群的机器上用合法用户才可以访问集群，从其他机器用任何用户访问集群都是直接报错</a:t>
            </a:r>
            <a:r>
              <a:rPr lang="zh-CN" altLang="en-US" sz="1400">
                <a:solidFill>
                  <a:schemeClr val="tx1"/>
                </a:solidFill>
                <a:uFillTx/>
              </a:rPr>
              <a:t>，报错信息为"Not allowed to connect”。 如果之前添加过用户白名单，则按用户白名单进行校验</a:t>
            </a:r>
            <a:endParaRPr lang="zh-CN" altLang="en-US" sz="1600"/>
          </a:p>
          <a:p>
            <a:pPr fontAlgn="auto">
              <a:lnSpc>
                <a:spcPct val="150000"/>
              </a:lnSpc>
            </a:pPr>
            <a:endParaRPr lang="zh-CN" altLang="en-US" sz="1600"/>
          </a:p>
          <a:p>
            <a:pPr fontAlgn="auto">
              <a:lnSpc>
                <a:spcPct val="150000"/>
              </a:lnSpc>
            </a:pP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场景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zh-CN" altLang="en-US" sz="1400"/>
              <a:t>：允许用户</a:t>
            </a:r>
            <a:r>
              <a:rPr lang="en-US" altLang="zh-CN" sz="1400"/>
              <a:t>test</a:t>
            </a:r>
            <a:r>
              <a:rPr lang="zh-CN" altLang="en-US" sz="1400"/>
              <a:t>从机器</a:t>
            </a:r>
            <a:r>
              <a:rPr lang="en-US" altLang="zh-CN" sz="1400"/>
              <a:t>A</a:t>
            </a:r>
            <a:r>
              <a:rPr lang="zh-CN" altLang="en-US" sz="1400"/>
              <a:t>访问集群。</a:t>
            </a:r>
            <a:endParaRPr lang="zh-CN" altLang="en-US" sz="1400"/>
          </a:p>
          <a:p>
            <a:pPr fontAlgn="auto">
              <a:lnSpc>
                <a:spcPct val="150000"/>
              </a:lnSpc>
            </a:pPr>
            <a:r>
              <a:rPr lang="zh-CN" altLang="en-US" sz="1400"/>
              <a:t>  </a:t>
            </a:r>
            <a:r>
              <a:rPr lang="en-US" altLang="zh-CN" sz="1400"/>
              <a:t>1. </a:t>
            </a:r>
            <a:r>
              <a:rPr lang="zh-CN" altLang="en-US" sz="1400"/>
              <a:t>登录集群机器，用</a:t>
            </a:r>
            <a:r>
              <a:rPr lang="en-US" altLang="zh-CN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root</a:t>
            </a:r>
            <a:r>
              <a:rPr lang="zh-CN" altLang="en-US" sz="1400"/>
              <a:t>用户进入</a:t>
            </a:r>
            <a:r>
              <a:rPr lang="en-US" altLang="zh-CN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taos shell</a:t>
            </a:r>
            <a:r>
              <a:rPr lang="en-US" altLang="zh-CN" sz="1400"/>
              <a:t> </a:t>
            </a:r>
            <a:endParaRPr lang="en-US" altLang="zh-CN" sz="1400"/>
          </a:p>
          <a:p>
            <a:pPr fontAlgn="auto">
              <a:lnSpc>
                <a:spcPct val="150000"/>
              </a:lnSpc>
            </a:pPr>
            <a:r>
              <a:rPr lang="en-US" altLang="zh-CN" sz="1400"/>
              <a:t>  2. </a:t>
            </a:r>
            <a:r>
              <a:rPr lang="en-US" altLang="zh-CN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alter user test add host IP_A</a:t>
            </a:r>
            <a:endParaRPr lang="en-US" altLang="zh-CN" sz="1400"/>
          </a:p>
          <a:p>
            <a:pPr fontAlgn="auto">
              <a:lnSpc>
                <a:spcPct val="150000"/>
              </a:lnSpc>
            </a:pP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场景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r>
              <a:rPr lang="zh-CN" altLang="en-US" sz="1400"/>
              <a:t>：禁止用户</a:t>
            </a:r>
            <a:r>
              <a:rPr lang="en-US" altLang="zh-CN" sz="1400"/>
              <a:t>test</a:t>
            </a:r>
            <a:r>
              <a:rPr lang="zh-CN" altLang="en-US" sz="1400"/>
              <a:t>从机器</a:t>
            </a:r>
            <a:r>
              <a:rPr lang="en-US" altLang="zh-CN" sz="1400"/>
              <a:t>A</a:t>
            </a:r>
            <a:r>
              <a:rPr lang="zh-CN" altLang="en-US" sz="1400"/>
              <a:t>访问集群 </a:t>
            </a:r>
            <a:endParaRPr lang="zh-CN" altLang="en-US" sz="1400"/>
          </a:p>
          <a:p>
            <a:pPr fontAlgn="auto">
              <a:lnSpc>
                <a:spcPct val="150000"/>
              </a:lnSpc>
            </a:pPr>
            <a:r>
              <a:rPr lang="zh-CN" altLang="en-US" sz="1400"/>
              <a:t>  </a:t>
            </a:r>
            <a:r>
              <a:rPr lang="en-US" altLang="zh-CN" sz="1400"/>
              <a:t>1. </a:t>
            </a:r>
            <a:r>
              <a:rPr lang="zh-CN" altLang="en-US" sz="1400"/>
              <a:t>登录集群机器，用</a:t>
            </a:r>
            <a:r>
              <a:rPr lang="en-US" altLang="zh-CN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root</a:t>
            </a:r>
            <a:r>
              <a:rPr lang="zh-CN" altLang="en-US" sz="1400"/>
              <a:t>用户进入</a:t>
            </a:r>
            <a:r>
              <a:rPr lang="en-US" altLang="zh-CN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taos shell</a:t>
            </a:r>
            <a:r>
              <a:rPr lang="en-US" altLang="zh-CN" sz="1400"/>
              <a:t> </a:t>
            </a:r>
            <a:endParaRPr lang="en-US" altLang="zh-CN" sz="1400"/>
          </a:p>
          <a:p>
            <a:pPr fontAlgn="auto">
              <a:lnSpc>
                <a:spcPct val="150000"/>
              </a:lnSpc>
            </a:pPr>
            <a:r>
              <a:rPr lang="en-US" altLang="zh-CN" sz="1400"/>
              <a:t>  2. </a:t>
            </a:r>
            <a:r>
              <a:rPr lang="en-US" altLang="zh-CN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alter user test drop host IP_A</a:t>
            </a:r>
            <a:endParaRPr lang="en-US" altLang="zh-CN" sz="1400"/>
          </a:p>
          <a:p>
            <a:pPr fontAlgn="auto">
              <a:lnSpc>
                <a:spcPct val="150000"/>
              </a:lnSpc>
            </a:pPr>
            <a:r>
              <a:rPr lang="en-US" altLang="zh-CN" sz="1400"/>
              <a:t>  3. </a:t>
            </a:r>
            <a:r>
              <a:rPr lang="zh-CN" altLang="en-US" sz="1400"/>
              <a:t>所有从</a:t>
            </a:r>
            <a:r>
              <a:rPr lang="en-US" altLang="zh-CN" sz="1400"/>
              <a:t>A</a:t>
            </a:r>
            <a:r>
              <a:rPr lang="zh-CN" altLang="en-US" sz="1400"/>
              <a:t>出来的操作的报错信息都是</a:t>
            </a:r>
            <a:r>
              <a:rPr lang="zh-CN" altLang="en-US" sz="1400">
                <a:sym typeface="+mn-ea"/>
              </a:rPr>
              <a:t>"Not allowed to connect”</a:t>
            </a:r>
            <a:endParaRPr lang="zh-CN" altLang="en-US" sz="1400">
              <a:solidFill>
                <a:schemeClr val="tx1"/>
              </a:solidFill>
              <a:uFillTx/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sym typeface="+mn-ea"/>
              </a:rPr>
              <a:t>场景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sym typeface="+mn-ea"/>
              </a:rPr>
              <a:t>3</a:t>
            </a:r>
            <a:r>
              <a:rPr lang="en-US" altLang="zh-CN" sz="1400">
                <a:solidFill>
                  <a:schemeClr val="tx1"/>
                </a:solidFill>
                <a:uFillTx/>
                <a:sym typeface="+mn-ea"/>
              </a:rPr>
              <a:t>: </a:t>
            </a:r>
            <a:r>
              <a:rPr lang="zh-CN" altLang="en-US" sz="1400">
                <a:solidFill>
                  <a:schemeClr val="tx1"/>
                </a:solidFill>
                <a:uFillTx/>
                <a:sym typeface="+mn-ea"/>
              </a:rPr>
              <a:t>创建用户的时候添加白名单</a:t>
            </a:r>
            <a:endParaRPr lang="zh-CN" altLang="en-US" sz="1400">
              <a:solidFill>
                <a:schemeClr val="tx1"/>
              </a:solidFill>
              <a:uFillTx/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1400">
                <a:solidFill>
                  <a:schemeClr val="tx1"/>
                </a:solidFill>
                <a:uFillTx/>
                <a:sym typeface="+mn-ea"/>
              </a:rPr>
              <a:t>   create user u_read pass 'taosdata1' host '127.0.0.1/24','192.168.1.0/24'</a:t>
            </a:r>
            <a:endParaRPr lang="zh-CN" altLang="en-US" sz="1400">
              <a:solidFill>
                <a:schemeClr val="tx1"/>
              </a:solidFill>
              <a:uFillTx/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sym typeface="+mn-ea"/>
              </a:rPr>
              <a:t>场景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sym typeface="+mn-ea"/>
              </a:rPr>
              <a:t>4</a:t>
            </a:r>
            <a:r>
              <a:rPr lang="en-US" altLang="zh-CN" sz="1400">
                <a:uFillTx/>
                <a:sym typeface="+mn-ea"/>
              </a:rPr>
              <a:t>: </a:t>
            </a:r>
            <a:r>
              <a:rPr lang="zh-CN" altLang="en-US" sz="1400">
                <a:uFillTx/>
                <a:sym typeface="+mn-ea"/>
              </a:rPr>
              <a:t>增删</a:t>
            </a:r>
            <a:r>
              <a:rPr lang="en-US" altLang="zh-CN" sz="1400">
                <a:uFillTx/>
                <a:sym typeface="+mn-ea"/>
              </a:rPr>
              <a:t>dnode</a:t>
            </a:r>
            <a:r>
              <a:rPr lang="zh-CN" altLang="en-US" sz="1400">
                <a:uFillTx/>
                <a:sym typeface="+mn-ea"/>
              </a:rPr>
              <a:t>，对用户无感知</a:t>
            </a:r>
            <a:endParaRPr lang="zh-CN" altLang="en-US" sz="1600">
              <a:solidFill>
                <a:schemeClr val="tx1"/>
              </a:solidFill>
              <a:uFillTx/>
              <a:sym typeface="+mn-ea"/>
            </a:endParaRPr>
          </a:p>
          <a:p>
            <a:pPr fontAlgn="auto">
              <a:lnSpc>
                <a:spcPct val="150000"/>
              </a:lnSpc>
            </a:pPr>
            <a:endParaRPr lang="zh-CN" altLang="en-US" sz="1200">
              <a:solidFill>
                <a:schemeClr val="tx1"/>
              </a:solidFill>
              <a:uFillTx/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1000">
                <a:solidFill>
                  <a:schemeClr val="tx1"/>
                </a:solidFill>
                <a:uFillTx/>
                <a:sym typeface="+mn-ea"/>
              </a:rPr>
              <a:t>以上都是假设没有给</a:t>
            </a:r>
            <a:r>
              <a:rPr lang="en-US" altLang="zh-CN" sz="1000">
                <a:solidFill>
                  <a:schemeClr val="tx1"/>
                </a:solidFill>
                <a:uFillTx/>
                <a:sym typeface="+mn-ea"/>
              </a:rPr>
              <a:t>root</a:t>
            </a:r>
            <a:r>
              <a:rPr lang="zh-CN" altLang="en-US" sz="1000">
                <a:solidFill>
                  <a:schemeClr val="tx1"/>
                </a:solidFill>
                <a:uFillTx/>
                <a:sym typeface="+mn-ea"/>
              </a:rPr>
              <a:t>用户显式添加白名单，所以只能从集群机器登录，如果给</a:t>
            </a:r>
            <a:r>
              <a:rPr lang="en-US" altLang="zh-CN" sz="1000">
                <a:solidFill>
                  <a:schemeClr val="tx1"/>
                </a:solidFill>
                <a:uFillTx/>
                <a:sym typeface="+mn-ea"/>
              </a:rPr>
              <a:t>root</a:t>
            </a:r>
            <a:r>
              <a:rPr lang="zh-CN" altLang="en-US" sz="1000">
                <a:solidFill>
                  <a:schemeClr val="tx1"/>
                </a:solidFill>
                <a:uFillTx/>
                <a:sym typeface="+mn-ea"/>
              </a:rPr>
              <a:t>用户显式添加了白名单，那么也可以直接从白名单机器上做以上增删白名单的操作</a:t>
            </a:r>
            <a:endParaRPr lang="en-US" altLang="zh-CN"/>
          </a:p>
          <a:p>
            <a:pPr fontAlgn="auto">
              <a:lnSpc>
                <a:spcPct val="150000"/>
              </a:lnSpc>
            </a:pPr>
            <a:r>
              <a:rPr lang="en-US" altLang="zh-CN"/>
              <a:t>  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"/>
          <p:cNvSpPr txBox="1">
            <a:spLocks noChangeArrowheads="1"/>
          </p:cNvSpPr>
          <p:nvPr/>
        </p:nvSpPr>
        <p:spPr bwMode="auto">
          <a:xfrm>
            <a:off x="2837204" y="748058"/>
            <a:ext cx="5891642" cy="99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815" tIns="45407" rIns="90815" bIns="45407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3430" y="665480"/>
            <a:ext cx="10487660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 fontAlgn="auto">
              <a:lnSpc>
                <a:spcPct val="200000"/>
              </a:lnSpc>
              <a:buSzPct val="80000"/>
              <a:buFont typeface="+mj-lt"/>
              <a:buAutoNum type="arabicPeriod"/>
            </a:pPr>
            <a:r>
              <a:rPr lang="en-US" altLang="zh-CN" sz="1200">
                <a:solidFill>
                  <a:schemeClr val="tx1"/>
                </a:solidFill>
                <a:uFillTx/>
                <a:sym typeface="+mn-ea"/>
              </a:rPr>
              <a:t>开源版和企业版本都能</a:t>
            </a:r>
            <a:r>
              <a:rPr lang="zh-CN" altLang="en-US" sz="1200">
                <a:solidFill>
                  <a:schemeClr val="tx1"/>
                </a:solidFill>
                <a:uFillTx/>
                <a:sym typeface="+mn-ea"/>
              </a:rPr>
              <a:t>成功添加白名单</a:t>
            </a:r>
            <a:r>
              <a:rPr lang="en-US" altLang="zh-CN" sz="1200">
                <a:solidFill>
                  <a:schemeClr val="tx1"/>
                </a:solidFill>
                <a:uFillTx/>
                <a:sym typeface="+mn-ea"/>
              </a:rPr>
              <a:t>, 且可以查询到，但是开源版本</a:t>
            </a:r>
            <a:r>
              <a:rPr lang="zh-CN" altLang="en-US" sz="1200">
                <a:solidFill>
                  <a:schemeClr val="tx1"/>
                </a:solidFill>
                <a:uFillTx/>
                <a:sym typeface="+mn-ea"/>
              </a:rPr>
              <a:t>不会开启白名单，企业版本也只有在</a:t>
            </a:r>
            <a:r>
              <a:rPr lang="en-US" altLang="zh-CN" sz="1200">
                <a:solidFill>
                  <a:schemeClr val="tx1"/>
                </a:solidFill>
                <a:uFillTx/>
                <a:sym typeface="+mn-ea"/>
              </a:rPr>
              <a:t>enableWhiteList=true</a:t>
            </a:r>
            <a:r>
              <a:rPr lang="zh-CN" altLang="en-US" sz="1200">
                <a:solidFill>
                  <a:schemeClr val="tx1"/>
                </a:solidFill>
                <a:uFillTx/>
                <a:sym typeface="+mn-ea"/>
              </a:rPr>
              <a:t>情况下开启白名单校验</a:t>
            </a:r>
            <a:endParaRPr lang="zh-CN" altLang="en-US" sz="1200">
              <a:solidFill>
                <a:schemeClr val="tx1"/>
              </a:solidFill>
              <a:uFillTx/>
            </a:endParaRPr>
          </a:p>
          <a:p>
            <a:pPr marL="342900" indent="-342900" algn="l" fontAlgn="auto">
              <a:lnSpc>
                <a:spcPct val="200000"/>
              </a:lnSpc>
              <a:buSzPct val="80000"/>
              <a:buFont typeface="+mj-lt"/>
              <a:buAutoNum type="arabicPeriod"/>
            </a:pPr>
            <a:r>
              <a:rPr lang="en-US" altLang="zh-CN" sz="1200">
                <a:solidFill>
                  <a:schemeClr val="tx1"/>
                </a:solidFill>
                <a:uFillTx/>
                <a:sym typeface="+mn-ea"/>
              </a:rPr>
              <a:t>针对一个user,添加的ip/iprange上限</a:t>
            </a:r>
            <a:r>
              <a:rPr lang="zh-CN" altLang="en-US" sz="1200">
                <a:solidFill>
                  <a:schemeClr val="tx1"/>
                </a:solidFill>
                <a:uFillTx/>
                <a:sym typeface="+mn-ea"/>
              </a:rPr>
              <a:t>个数</a:t>
            </a:r>
            <a:r>
              <a:rPr lang="en-US" altLang="zh-CN" sz="1200">
                <a:solidFill>
                  <a:schemeClr val="tx1"/>
                </a:solidFill>
                <a:uFillTx/>
                <a:sym typeface="+mn-ea"/>
              </a:rPr>
              <a:t>是2048 </a:t>
            </a:r>
            <a:endParaRPr lang="en-US" altLang="zh-CN" sz="1200">
              <a:solidFill>
                <a:schemeClr val="tx1"/>
              </a:solidFill>
              <a:uFillTx/>
            </a:endParaRPr>
          </a:p>
          <a:p>
            <a:pPr marL="342900" indent="-342900" algn="l" fontAlgn="auto">
              <a:lnSpc>
                <a:spcPct val="200000"/>
              </a:lnSpc>
              <a:buSzPct val="80000"/>
              <a:buFont typeface="+mj-lt"/>
              <a:buAutoNum type="arabicPeriod"/>
            </a:pPr>
            <a:r>
              <a:rPr lang="zh-CN" altLang="en-US" sz="1200">
                <a:solidFill>
                  <a:schemeClr val="tx1"/>
                </a:solidFill>
                <a:uFillTx/>
                <a:sym typeface="+mn-ea"/>
              </a:rPr>
              <a:t>完全兼容之前版本的数据，但不支持版本回退</a:t>
            </a:r>
            <a:endParaRPr lang="en-US" altLang="zh-CN" sz="1200">
              <a:solidFill>
                <a:schemeClr val="tx1"/>
              </a:solidFill>
              <a:uFillTx/>
            </a:endParaRPr>
          </a:p>
          <a:p>
            <a:pPr marL="342900" indent="-342900" algn="l" fontAlgn="auto">
              <a:lnSpc>
                <a:spcPct val="200000"/>
              </a:lnSpc>
              <a:buSzPct val="80000"/>
              <a:buFont typeface="+mj-lt"/>
              <a:buAutoNum type="arabicPeriod"/>
            </a:pPr>
            <a:r>
              <a:rPr lang="en-US" altLang="zh-CN" sz="1200">
                <a:solidFill>
                  <a:schemeClr val="tx1"/>
                </a:solidFill>
                <a:uFillTx/>
                <a:sym typeface="+mn-ea"/>
              </a:rPr>
              <a:t>如果添加两个ip range, 192.168.1.1/16(A), 192.168.1.1/24(B), 严格来说，A包含了B，但是考虑情况太复杂，并不会对A和B做合并</a:t>
            </a:r>
            <a:r>
              <a:rPr lang="zh-CN" altLang="en-US" sz="1200">
                <a:solidFill>
                  <a:schemeClr val="tx1"/>
                </a:solidFill>
                <a:uFillTx/>
                <a:sym typeface="+mn-ea"/>
              </a:rPr>
              <a:t>，服务端同时保存了</a:t>
            </a:r>
            <a:r>
              <a:rPr lang="en-US" altLang="zh-CN" sz="1200">
                <a:solidFill>
                  <a:schemeClr val="tx1"/>
                </a:solidFill>
                <a:uFillTx/>
                <a:sym typeface="+mn-ea"/>
              </a:rPr>
              <a:t>A</a:t>
            </a:r>
            <a:r>
              <a:rPr lang="zh-CN" altLang="en-US" sz="1200">
                <a:solidFill>
                  <a:schemeClr val="tx1"/>
                </a:solidFill>
                <a:uFillTx/>
                <a:sym typeface="+mn-ea"/>
              </a:rPr>
              <a:t>和</a:t>
            </a:r>
            <a:r>
              <a:rPr lang="en-US" altLang="zh-CN" sz="1200">
                <a:solidFill>
                  <a:schemeClr val="tx1"/>
                </a:solidFill>
                <a:uFillTx/>
                <a:sym typeface="+mn-ea"/>
              </a:rPr>
              <a:t>B </a:t>
            </a:r>
            <a:endParaRPr lang="en-US" altLang="zh-CN" sz="1200">
              <a:solidFill>
                <a:schemeClr val="tx1"/>
              </a:solidFill>
              <a:uFillTx/>
            </a:endParaRPr>
          </a:p>
          <a:p>
            <a:pPr marL="342900" indent="-342900" algn="l" fontAlgn="auto">
              <a:lnSpc>
                <a:spcPct val="200000"/>
              </a:lnSpc>
              <a:buSzPct val="80000"/>
              <a:buFont typeface="+mj-lt"/>
              <a:buAutoNum type="arabicPeriod"/>
            </a:pPr>
            <a:r>
              <a:rPr lang="en-US" altLang="zh-CN" sz="1200">
                <a:solidFill>
                  <a:schemeClr val="tx1"/>
                </a:solidFill>
                <a:uFillTx/>
                <a:sym typeface="+mn-ea"/>
              </a:rPr>
              <a:t>要删除的时候，必须严格匹配。也就是如果添加的是192.168.1.1/24, 要删除也是192.168.1.1/24 </a:t>
            </a:r>
            <a:endParaRPr lang="en-US" altLang="zh-CN" sz="1200">
              <a:solidFill>
                <a:schemeClr val="tx1"/>
              </a:solidFill>
              <a:uFillTx/>
            </a:endParaRPr>
          </a:p>
          <a:p>
            <a:pPr marL="342900" indent="-342900" algn="l" fontAlgn="auto">
              <a:lnSpc>
                <a:spcPct val="200000"/>
              </a:lnSpc>
              <a:buSzPct val="80000"/>
              <a:buFont typeface="+mj-lt"/>
              <a:buAutoNum type="arabicPeriod"/>
            </a:pPr>
            <a:r>
              <a:rPr lang="en-US" altLang="zh-CN" sz="1200">
                <a:solidFill>
                  <a:schemeClr val="tx1"/>
                </a:solidFill>
                <a:uFillTx/>
                <a:sym typeface="+mn-ea"/>
              </a:rPr>
              <a:t>taosadapter 和 taosd 不在一个机器的时候，需要把taosadaper IP手动添加到taosd 白名单列表中</a:t>
            </a:r>
            <a:endParaRPr lang="en-US" altLang="zh-CN" sz="1200">
              <a:solidFill>
                <a:schemeClr val="tx1"/>
              </a:solidFill>
              <a:uFillTx/>
            </a:endParaRPr>
          </a:p>
          <a:p>
            <a:pPr marL="342900" indent="-342900" algn="l" fontAlgn="auto">
              <a:lnSpc>
                <a:spcPct val="200000"/>
              </a:lnSpc>
              <a:buSzPct val="80000"/>
              <a:buFont typeface="+mj-lt"/>
              <a:buAutoNum type="arabicPeriod"/>
            </a:pPr>
            <a:r>
              <a:rPr lang="zh-CN" altLang="en-US" sz="1200">
                <a:solidFill>
                  <a:schemeClr val="tx1"/>
                </a:solidFill>
                <a:uFillTx/>
                <a:sym typeface="+mn-ea"/>
              </a:rPr>
              <a:t>原生接口下</a:t>
            </a:r>
            <a:r>
              <a:rPr lang="en-US" altLang="zh-CN" sz="1200">
                <a:solidFill>
                  <a:schemeClr val="tx1"/>
                </a:solidFill>
                <a:uFillTx/>
                <a:sym typeface="+mn-ea"/>
              </a:rPr>
              <a:t>,</a:t>
            </a:r>
            <a:r>
              <a:rPr lang="zh-CN" altLang="en-US" sz="1200">
                <a:solidFill>
                  <a:schemeClr val="tx1"/>
                </a:solidFill>
                <a:uFillTx/>
                <a:sym typeface="+mn-ea"/>
              </a:rPr>
              <a:t>白名单校验是在</a:t>
            </a:r>
            <a:r>
              <a:rPr lang="en-US" altLang="zh-CN" sz="1200">
                <a:solidFill>
                  <a:schemeClr val="tx1"/>
                </a:solidFill>
                <a:uFillTx/>
                <a:sym typeface="+mn-ea"/>
              </a:rPr>
              <a:t>taosd</a:t>
            </a:r>
            <a:r>
              <a:rPr lang="zh-CN" altLang="en-US" sz="1200">
                <a:solidFill>
                  <a:schemeClr val="tx1"/>
                </a:solidFill>
                <a:uFillTx/>
                <a:sym typeface="+mn-ea"/>
              </a:rPr>
              <a:t>上进行</a:t>
            </a:r>
            <a:r>
              <a:rPr lang="en-US" altLang="zh-CN" sz="1200">
                <a:solidFill>
                  <a:schemeClr val="tx1"/>
                </a:solidFill>
                <a:uFillTx/>
                <a:sym typeface="+mn-ea"/>
              </a:rPr>
              <a:t>. est</a:t>
            </a:r>
            <a:r>
              <a:rPr lang="zh-CN" altLang="en-US" sz="1200">
                <a:solidFill>
                  <a:schemeClr val="tx1"/>
                </a:solidFill>
                <a:uFillTx/>
                <a:sym typeface="+mn-ea"/>
              </a:rPr>
              <a:t>和</a:t>
            </a:r>
            <a:r>
              <a:rPr lang="en-US" altLang="zh-CN" sz="1200">
                <a:solidFill>
                  <a:schemeClr val="tx1"/>
                </a:solidFill>
                <a:uFillTx/>
                <a:sym typeface="+mn-ea"/>
              </a:rPr>
              <a:t>websocket</a:t>
            </a:r>
            <a:r>
              <a:rPr lang="zh-CN" altLang="en-US" sz="1200">
                <a:solidFill>
                  <a:schemeClr val="tx1"/>
                </a:solidFill>
                <a:uFillTx/>
                <a:sym typeface="+mn-ea"/>
              </a:rPr>
              <a:t>模式下，白名单的校验是在</a:t>
            </a:r>
            <a:r>
              <a:rPr lang="en-US" altLang="zh-CN" sz="1200">
                <a:solidFill>
                  <a:schemeClr val="tx1"/>
                </a:solidFill>
                <a:uFillTx/>
                <a:sym typeface="+mn-ea"/>
              </a:rPr>
              <a:t>taosadapter</a:t>
            </a:r>
            <a:r>
              <a:rPr lang="zh-CN" altLang="en-US" sz="1200">
                <a:solidFill>
                  <a:schemeClr val="tx1"/>
                </a:solidFill>
                <a:uFillTx/>
                <a:sym typeface="+mn-ea"/>
              </a:rPr>
              <a:t>（用户的</a:t>
            </a:r>
            <a:r>
              <a:rPr lang="en-US" altLang="zh-CN" sz="1200">
                <a:solidFill>
                  <a:schemeClr val="tx1"/>
                </a:solidFill>
                <a:uFillTx/>
                <a:sym typeface="+mn-ea"/>
              </a:rPr>
              <a:t>IP</a:t>
            </a:r>
            <a:r>
              <a:rPr lang="zh-CN" altLang="en-US" sz="1200">
                <a:solidFill>
                  <a:schemeClr val="tx1"/>
                </a:solidFill>
                <a:uFillTx/>
                <a:sym typeface="+mn-ea"/>
              </a:rPr>
              <a:t>是不是在名单内）和</a:t>
            </a:r>
            <a:r>
              <a:rPr lang="en-US" altLang="zh-CN" sz="1200">
                <a:solidFill>
                  <a:schemeClr val="tx1"/>
                </a:solidFill>
                <a:uFillTx/>
                <a:sym typeface="+mn-ea"/>
              </a:rPr>
              <a:t>taosd</a:t>
            </a:r>
            <a:r>
              <a:rPr lang="zh-CN" altLang="en-US" sz="1200">
                <a:solidFill>
                  <a:schemeClr val="tx1"/>
                </a:solidFill>
                <a:uFillTx/>
                <a:sym typeface="+mn-ea"/>
              </a:rPr>
              <a:t>（</a:t>
            </a:r>
            <a:r>
              <a:rPr lang="en-US" altLang="zh-CN" sz="1200">
                <a:solidFill>
                  <a:schemeClr val="tx1"/>
                </a:solidFill>
                <a:uFillTx/>
                <a:sym typeface="+mn-ea"/>
              </a:rPr>
              <a:t>taosd </a:t>
            </a:r>
            <a:r>
              <a:rPr lang="zh-CN" altLang="en-US" sz="1200">
                <a:solidFill>
                  <a:schemeClr val="tx1"/>
                </a:solidFill>
                <a:uFillTx/>
                <a:sym typeface="+mn-ea"/>
              </a:rPr>
              <a:t>需要校验</a:t>
            </a:r>
            <a:r>
              <a:rPr lang="en-US" altLang="zh-CN" sz="1200">
                <a:solidFill>
                  <a:schemeClr val="tx1"/>
                </a:solidFill>
                <a:uFillTx/>
                <a:sym typeface="+mn-ea"/>
              </a:rPr>
              <a:t>taosadapter</a:t>
            </a:r>
            <a:r>
              <a:rPr lang="zh-CN" altLang="en-US" sz="1200">
                <a:solidFill>
                  <a:schemeClr val="tx1"/>
                </a:solidFill>
                <a:uFillTx/>
                <a:sym typeface="+mn-ea"/>
              </a:rPr>
              <a:t>所在机器是不是在白名单内）进行</a:t>
            </a:r>
            <a:r>
              <a:rPr lang="en-US" altLang="zh-CN" sz="1200">
                <a:solidFill>
                  <a:schemeClr val="tx1"/>
                </a:solidFill>
                <a:uFillTx/>
                <a:sym typeface="+mn-ea"/>
              </a:rPr>
              <a:t> </a:t>
            </a:r>
            <a:endParaRPr lang="en-US" altLang="zh-CN" sz="1200">
              <a:solidFill>
                <a:schemeClr val="tx1"/>
              </a:solidFill>
              <a:uFillTx/>
            </a:endParaRPr>
          </a:p>
          <a:p>
            <a:pPr marL="342900" indent="-342900" algn="l" fontAlgn="auto">
              <a:lnSpc>
                <a:spcPct val="200000"/>
              </a:lnSpc>
              <a:buSzPct val="80000"/>
              <a:buFont typeface="+mj-lt"/>
              <a:buAutoNum type="arabicPeriod"/>
            </a:pPr>
            <a:r>
              <a:rPr lang="zh-CN" altLang="en-US" sz="1200">
                <a:solidFill>
                  <a:schemeClr val="tx1"/>
                </a:solidFill>
                <a:uFillTx/>
                <a:sym typeface="+mn-ea"/>
              </a:rPr>
              <a:t>在有</a:t>
            </a:r>
            <a:r>
              <a:rPr lang="en-US" altLang="zh-CN" sz="1200">
                <a:solidFill>
                  <a:schemeClr val="tx1"/>
                </a:solidFill>
                <a:uFillTx/>
                <a:sym typeface="+mn-ea"/>
              </a:rPr>
              <a:t>nginx</a:t>
            </a:r>
            <a:r>
              <a:rPr lang="zh-CN" altLang="en-US" sz="1200">
                <a:solidFill>
                  <a:schemeClr val="tx1"/>
                </a:solidFill>
                <a:uFillTx/>
                <a:sym typeface="+mn-ea"/>
              </a:rPr>
              <a:t>的情况下，</a:t>
            </a:r>
            <a:r>
              <a:rPr lang="en-US" altLang="zh-CN" sz="1200">
                <a:solidFill>
                  <a:schemeClr val="tx1"/>
                </a:solidFill>
                <a:uFillTx/>
                <a:sym typeface="+mn-ea"/>
              </a:rPr>
              <a:t>taosadapter 要想拿到客户端的原始 IP需要在 nginx 中配置参数 proxy_set_header X-Real-IP $remote_addr</a:t>
            </a:r>
            <a:endParaRPr lang="en-US" altLang="zh-CN" sz="1200">
              <a:solidFill>
                <a:schemeClr val="tx1"/>
              </a:solidFill>
              <a:uFillTx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73430" y="412115"/>
            <a:ext cx="1482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</a:rPr>
              <a:t>注意事项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FillTx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"/>
          <p:cNvSpPr txBox="1">
            <a:spLocks noChangeArrowheads="1"/>
          </p:cNvSpPr>
          <p:nvPr/>
        </p:nvSpPr>
        <p:spPr bwMode="auto">
          <a:xfrm>
            <a:off x="2837204" y="748058"/>
            <a:ext cx="5891642" cy="99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815" tIns="45407" rIns="90815" bIns="45407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3430" y="665480"/>
            <a:ext cx="9917430" cy="7293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实现</a:t>
            </a:r>
            <a:r>
              <a:rPr lang="zh-CN" altLang="en-US"/>
              <a:t> </a:t>
            </a:r>
            <a:endParaRPr lang="zh-CN" altLang="en-US"/>
          </a:p>
          <a:p>
            <a:endParaRPr lang="en-US" altLang="zh-CN" sz="1600">
              <a:solidFill>
                <a:schemeClr val="tx1"/>
              </a:solidFill>
              <a:uFillTx/>
            </a:endParaRPr>
          </a:p>
          <a:p>
            <a:pPr marL="285750" indent="-285750" fontAlgn="auto">
              <a:lnSpc>
                <a:spcPct val="200000"/>
              </a:lnSpc>
              <a:buSzPct val="75000"/>
              <a:buFont typeface="Wingdings" panose="05000000000000000000" charset="0"/>
              <a:buChar char=""/>
            </a:pPr>
            <a:r>
              <a:rPr lang="en-US" altLang="zh-CN" sz="1600">
                <a:solidFill>
                  <a:schemeClr val="tx1"/>
                </a:solidFill>
                <a:uFillTx/>
              </a:rPr>
              <a:t>  dnode</a:t>
            </a:r>
            <a:r>
              <a:rPr lang="zh-CN" altLang="en-US" sz="1600">
                <a:solidFill>
                  <a:schemeClr val="tx1"/>
                </a:solidFill>
                <a:uFillTx/>
              </a:rPr>
              <a:t>启动，各个</a:t>
            </a:r>
            <a:r>
              <a:rPr lang="en-US" altLang="zh-CN" sz="1600">
                <a:solidFill>
                  <a:schemeClr val="tx1"/>
                </a:solidFill>
                <a:uFillTx/>
              </a:rPr>
              <a:t>dnode </a:t>
            </a:r>
            <a:r>
              <a:rPr lang="zh-CN" altLang="en-US" sz="1600">
                <a:solidFill>
                  <a:schemeClr val="tx1"/>
                </a:solidFill>
                <a:uFillTx/>
              </a:rPr>
              <a:t>通过</a:t>
            </a:r>
            <a:r>
              <a:rPr lang="en-US" altLang="zh-CN" sz="1600">
                <a:solidFill>
                  <a:schemeClr val="tx1"/>
                </a:solidFill>
                <a:uFillTx/>
              </a:rPr>
              <a:t>status msg </a:t>
            </a:r>
            <a:r>
              <a:rPr lang="zh-CN" altLang="en-US" sz="1600">
                <a:solidFill>
                  <a:schemeClr val="tx1"/>
                </a:solidFill>
                <a:uFillTx/>
              </a:rPr>
              <a:t>向</a:t>
            </a:r>
            <a:r>
              <a:rPr lang="en-US" altLang="zh-CN" sz="1600">
                <a:solidFill>
                  <a:schemeClr val="tx1"/>
                </a:solidFill>
                <a:uFillTx/>
              </a:rPr>
              <a:t>mnode</a:t>
            </a:r>
            <a:r>
              <a:rPr lang="zh-CN" altLang="en-US" sz="1600">
                <a:solidFill>
                  <a:schemeClr val="tx1"/>
                </a:solidFill>
                <a:uFillTx/>
              </a:rPr>
              <a:t>上报自己的本地</a:t>
            </a:r>
            <a:r>
              <a:rPr lang="en-US" altLang="zh-CN" sz="1600">
                <a:solidFill>
                  <a:schemeClr val="tx1"/>
                </a:solidFill>
                <a:uFillTx/>
              </a:rPr>
              <a:t>IPWhiteList verion</a:t>
            </a:r>
            <a:r>
              <a:rPr lang="zh-CN" altLang="en-US" sz="1600">
                <a:solidFill>
                  <a:schemeClr val="tx1"/>
                </a:solidFill>
                <a:uFillTx/>
              </a:rPr>
              <a:t>，如果版本号和</a:t>
            </a:r>
            <a:r>
              <a:rPr lang="en-US" altLang="zh-CN" sz="1600">
                <a:solidFill>
                  <a:schemeClr val="tx1"/>
                </a:solidFill>
                <a:uFillTx/>
              </a:rPr>
              <a:t>mnode</a:t>
            </a:r>
            <a:r>
              <a:rPr lang="zh-CN" altLang="en-US" sz="1600">
                <a:solidFill>
                  <a:schemeClr val="tx1"/>
                </a:solidFill>
                <a:uFillTx/>
              </a:rPr>
              <a:t>上的</a:t>
            </a:r>
            <a:r>
              <a:rPr lang="en-US" altLang="zh-CN" sz="1600">
                <a:solidFill>
                  <a:schemeClr val="tx1"/>
                </a:solidFill>
                <a:uFillTx/>
              </a:rPr>
              <a:t>IpWhiteList ver</a:t>
            </a:r>
            <a:r>
              <a:rPr lang="zh-CN" altLang="en-US" sz="1600">
                <a:solidFill>
                  <a:schemeClr val="tx1"/>
                </a:solidFill>
                <a:uFillTx/>
              </a:rPr>
              <a:t>不一致，则</a:t>
            </a:r>
            <a:r>
              <a:rPr lang="en-US" altLang="zh-CN" sz="1600">
                <a:solidFill>
                  <a:schemeClr val="tx1"/>
                </a:solidFill>
                <a:uFillTx/>
              </a:rPr>
              <a:t>dnode </a:t>
            </a:r>
            <a:r>
              <a:rPr lang="zh-CN" altLang="en-US" sz="1600">
                <a:solidFill>
                  <a:schemeClr val="tx1"/>
                </a:solidFill>
                <a:uFillTx/>
              </a:rPr>
              <a:t>主动拉取白名单并更新本地</a:t>
            </a:r>
            <a:r>
              <a:rPr lang="en-US" altLang="zh-CN" sz="1600">
                <a:solidFill>
                  <a:schemeClr val="tx1"/>
                </a:solidFill>
                <a:uFillTx/>
              </a:rPr>
              <a:t>rpc </a:t>
            </a:r>
            <a:r>
              <a:rPr lang="zh-CN" altLang="en-US" sz="1600">
                <a:solidFill>
                  <a:schemeClr val="tx1"/>
                </a:solidFill>
                <a:uFillTx/>
              </a:rPr>
              <a:t>模块</a:t>
            </a:r>
            <a:endParaRPr lang="zh-CN" altLang="en-US" sz="1600">
              <a:solidFill>
                <a:schemeClr val="tx1"/>
              </a:solidFill>
              <a:uFillTx/>
            </a:endParaRPr>
          </a:p>
          <a:p>
            <a:pPr marL="285750" indent="-285750" fontAlgn="auto">
              <a:lnSpc>
                <a:spcPct val="200000"/>
              </a:lnSpc>
              <a:buSzPct val="75000"/>
              <a:buFont typeface="Wingdings" panose="05000000000000000000" charset="0"/>
              <a:buChar char=""/>
            </a:pPr>
            <a:r>
              <a:rPr lang="zh-CN" altLang="en-US" sz="1600">
                <a:solidFill>
                  <a:schemeClr val="tx1"/>
                </a:solidFill>
                <a:uFillTx/>
              </a:rPr>
              <a:t>  </a:t>
            </a:r>
            <a:r>
              <a:rPr lang="en-US" altLang="zh-CN" sz="1600">
                <a:solidFill>
                  <a:schemeClr val="tx1"/>
                </a:solidFill>
                <a:uFillTx/>
              </a:rPr>
              <a:t>taos-c-driver</a:t>
            </a:r>
            <a:r>
              <a:rPr lang="zh-CN" altLang="en-US" sz="1600">
                <a:solidFill>
                  <a:schemeClr val="tx1"/>
                </a:solidFill>
                <a:uFillTx/>
              </a:rPr>
              <a:t>通过</a:t>
            </a:r>
            <a:r>
              <a:rPr lang="en-US" altLang="zh-CN" sz="1600">
                <a:solidFill>
                  <a:schemeClr val="tx1"/>
                </a:solidFill>
                <a:uFillTx/>
              </a:rPr>
              <a:t>heartbeat </a:t>
            </a:r>
            <a:r>
              <a:rPr lang="zh-CN" altLang="en-US" sz="1600">
                <a:solidFill>
                  <a:schemeClr val="tx1"/>
                </a:solidFill>
                <a:uFillTx/>
              </a:rPr>
              <a:t>检测版本号的变化，如果发生改变，则在回调函数中去拉取并更新</a:t>
            </a:r>
            <a:r>
              <a:rPr lang="en-US" altLang="zh-CN" sz="1600">
                <a:solidFill>
                  <a:schemeClr val="tx1"/>
                </a:solidFill>
                <a:uFillTx/>
              </a:rPr>
              <a:t>taosadapter</a:t>
            </a:r>
            <a:r>
              <a:rPr lang="zh-CN" altLang="en-US" sz="1600">
                <a:solidFill>
                  <a:schemeClr val="tx1"/>
                </a:solidFill>
                <a:uFillTx/>
              </a:rPr>
              <a:t>的</a:t>
            </a:r>
            <a:r>
              <a:rPr lang="en-US" altLang="zh-CN" sz="1600">
                <a:solidFill>
                  <a:schemeClr val="tx1"/>
                </a:solidFill>
                <a:uFillTx/>
              </a:rPr>
              <a:t>IPWhiteListCache </a:t>
            </a:r>
            <a:endParaRPr lang="en-US" altLang="zh-CN"/>
          </a:p>
          <a:p>
            <a:pPr fontAlgn="auto">
              <a:lnSpc>
                <a:spcPct val="200000"/>
              </a:lnSpc>
            </a:pP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fontAlgn="auto">
              <a:lnSpc>
                <a:spcPct val="200000"/>
              </a:lnSpc>
            </a:pP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性能影响</a:t>
            </a:r>
            <a:endParaRPr lang="zh-CN" altLang="en-US"/>
          </a:p>
          <a:p>
            <a:pPr fontAlgn="auto">
              <a:lnSpc>
                <a:spcPct val="200000"/>
              </a:lnSpc>
            </a:pPr>
            <a:r>
              <a:rPr lang="zh-CN" altLang="en-US"/>
              <a:t>  </a:t>
            </a:r>
            <a:r>
              <a:rPr lang="zh-CN" altLang="en-US" sz="1600">
                <a:solidFill>
                  <a:schemeClr val="tx1"/>
                </a:solidFill>
                <a:uFillTx/>
              </a:rPr>
              <a:t>只要</a:t>
            </a:r>
            <a:r>
              <a:rPr lang="en-US" altLang="zh-CN" sz="1600">
                <a:solidFill>
                  <a:schemeClr val="tx1"/>
                </a:solidFill>
                <a:uFillTx/>
              </a:rPr>
              <a:t>IPWhiteList</a:t>
            </a:r>
            <a:r>
              <a:rPr lang="zh-CN" altLang="en-US" sz="1600">
                <a:solidFill>
                  <a:schemeClr val="tx1"/>
                </a:solidFill>
                <a:uFillTx/>
              </a:rPr>
              <a:t>不发生改变，每个</a:t>
            </a:r>
            <a:r>
              <a:rPr lang="en-US" altLang="zh-CN" sz="1600">
                <a:solidFill>
                  <a:schemeClr val="tx1"/>
                </a:solidFill>
                <a:uFillTx/>
              </a:rPr>
              <a:t>conn</a:t>
            </a:r>
            <a:r>
              <a:rPr lang="zh-CN" altLang="en-US" sz="1600">
                <a:solidFill>
                  <a:schemeClr val="tx1"/>
                </a:solidFill>
                <a:uFillTx/>
              </a:rPr>
              <a:t>都只被校验一次，即使被校验，逻辑也比较简单，唯一可能</a:t>
            </a:r>
            <a:r>
              <a:rPr lang="en-US" altLang="zh-CN" sz="1600">
                <a:solidFill>
                  <a:schemeClr val="tx1"/>
                </a:solidFill>
                <a:uFillTx/>
              </a:rPr>
              <a:t>cost</a:t>
            </a:r>
            <a:r>
              <a:rPr lang="zh-CN" altLang="en-US" sz="1600">
                <a:solidFill>
                  <a:schemeClr val="tx1"/>
                </a:solidFill>
                <a:uFillTx/>
              </a:rPr>
              <a:t>在于：如果某个用户白名单很大，需要遍历去校验该</a:t>
            </a:r>
            <a:r>
              <a:rPr lang="en-US" altLang="zh-CN" sz="1600">
                <a:solidFill>
                  <a:schemeClr val="tx1"/>
                </a:solidFill>
                <a:uFillTx/>
              </a:rPr>
              <a:t>conn</a:t>
            </a:r>
            <a:r>
              <a:rPr lang="zh-CN" altLang="en-US" sz="1600">
                <a:solidFill>
                  <a:schemeClr val="tx1"/>
                </a:solidFill>
                <a:uFillTx/>
              </a:rPr>
              <a:t>是否合法</a:t>
            </a:r>
            <a:r>
              <a:rPr lang="zh-CN" altLang="en-US"/>
              <a:t> </a:t>
            </a:r>
            <a:endParaRPr lang="zh-CN" altLang="en-US"/>
          </a:p>
          <a:p>
            <a:pPr fontAlgn="auto">
              <a:lnSpc>
                <a:spcPct val="200000"/>
              </a:lnSpc>
            </a:pPr>
            <a:endParaRPr lang="en-US" altLang="zh-CN"/>
          </a:p>
          <a:p>
            <a:r>
              <a:rPr lang="en-US" altLang="zh-CN"/>
              <a:t>  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  </a:t>
            </a:r>
            <a:endParaRPr lang="zh-CN" altLang="en-US"/>
          </a:p>
          <a:p>
            <a:r>
              <a:rPr lang="zh-CN" altLang="en-US"/>
              <a:t>  </a:t>
            </a:r>
            <a:endParaRPr lang="zh-CN" altLang="en-US"/>
          </a:p>
          <a:p>
            <a:r>
              <a:rPr lang="zh-CN" altLang="en-US"/>
              <a:t>  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文本"/>
          <p:cNvSpPr txBox="1"/>
          <p:nvPr/>
        </p:nvSpPr>
        <p:spPr>
          <a:xfrm>
            <a:off x="1221680" y="1149350"/>
            <a:ext cx="9748640" cy="22756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5000" b="1" kern="1200">
                <a:solidFill>
                  <a:srgbClr val="E4F4F9"/>
                </a:solidFill>
                <a:latin typeface="MicrosoftYaHeiSemibold"/>
                <a:ea typeface="MicrosoftYaHeiSemibold"/>
                <a:cs typeface="MicrosoftYaHeiSemibold"/>
                <a:sym typeface="MicrosoftYaHeiSemibold"/>
              </a:defRPr>
            </a:lvl1pPr>
          </a:lstStyle>
          <a:p>
            <a:r>
              <a:rPr dirty="0">
                <a:ea typeface="微软雅黑" panose="020B0503020204020204" pitchFamily="34" charset="-122"/>
              </a:rPr>
              <a:t>新</a:t>
            </a:r>
            <a:r>
              <a:rPr lang="en-US" altLang="zh-CN" dirty="0">
                <a:ea typeface="微软雅黑" panose="020B0503020204020204" pitchFamily="34" charset="-122"/>
              </a:rPr>
              <a:t>TSZ </a:t>
            </a:r>
            <a:r>
              <a:rPr dirty="0">
                <a:ea typeface="微软雅黑" panose="020B0503020204020204" pitchFamily="34" charset="-122"/>
              </a:rPr>
              <a:t>压缩算法</a:t>
            </a:r>
            <a:endParaRPr dirty="0">
              <a:ea typeface="微软雅黑" panose="020B0503020204020204" pitchFamily="34" charset="-122"/>
            </a:endParaRPr>
          </a:p>
          <a:p>
            <a:r>
              <a:rPr lang="en-US" altLang="zh-CN" dirty="0">
                <a:ea typeface="微软雅黑" panose="020B0503020204020204" pitchFamily="34" charset="-122"/>
              </a:rPr>
              <a:t>(Ver 3.2.0.0) </a:t>
            </a:r>
            <a:endParaRPr dirty="0">
              <a:ea typeface="微软雅黑" panose="020B0503020204020204" pitchFamily="34" charset="-122"/>
            </a:endParaRPr>
          </a:p>
        </p:txBody>
      </p:sp>
      <p:sp>
        <p:nvSpPr>
          <p:cNvPr id="6" name="在此键入tittle"/>
          <p:cNvSpPr txBox="1"/>
          <p:nvPr/>
        </p:nvSpPr>
        <p:spPr>
          <a:xfrm>
            <a:off x="1221680" y="4595920"/>
            <a:ext cx="1259840" cy="398780"/>
          </a:xfrm>
          <a:prstGeom prst="rect">
            <a:avLst/>
          </a:prstGeom>
        </p:spPr>
        <p:txBody>
          <a:bodyPr wrap="none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>
                <a:solidFill>
                  <a:srgbClr val="E4F4FA"/>
                </a:solidFill>
              </a:rPr>
              <a:t>2023-10</a:t>
            </a:r>
            <a:endParaRPr lang="en-GB" dirty="0">
              <a:solidFill>
                <a:srgbClr val="E4F4FA"/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7079608" y="2867639"/>
            <a:ext cx="204281" cy="204281"/>
          </a:xfrm>
          <a:prstGeom prst="ellipse">
            <a:avLst/>
          </a:prstGeom>
          <a:solidFill>
            <a:srgbClr val="708DC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6634" y="2890789"/>
            <a:ext cx="3733800" cy="10414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693505" y="4996030"/>
            <a:ext cx="2534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段宽军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8.33333E-7 4.81481E-6 L -0.02474 0.12754 L 0.03997 0.04236 L -0.03984 0.04513 L 0.02396 0.12754 L 8.33333E-7 4.81481E-6 Z " pathEditMode="relative" rAng="0" ptsTypes="AAAAAA">
                                      <p:cBhvr>
                                        <p:cTn id="6" dur="8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3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"/>
          <p:cNvSpPr txBox="1">
            <a:spLocks noChangeArrowheads="1"/>
          </p:cNvSpPr>
          <p:nvPr/>
        </p:nvSpPr>
        <p:spPr bwMode="auto">
          <a:xfrm>
            <a:off x="4546600" y="748030"/>
            <a:ext cx="3860800" cy="995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815" tIns="45407" rIns="90815" bIns="45407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TSZ 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算法简介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7" name="Rectangle 3"/>
          <p:cNvSpPr txBox="1">
            <a:spLocks noChangeArrowheads="1"/>
          </p:cNvSpPr>
          <p:nvPr/>
        </p:nvSpPr>
        <p:spPr bwMode="auto">
          <a:xfrm>
            <a:off x="1117092" y="1958149"/>
            <a:ext cx="6380988" cy="99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815" tIns="45407" rIns="90815" bIns="45407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ts val="346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20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1250524" y="2061812"/>
            <a:ext cx="9690951" cy="39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815" tIns="45407" rIns="90815" bIns="45407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ts val="346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TSZ 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压缩算法是一种浮点数有损压缩算法，实现的原理是通过减少信息存储量实现压缩，被减少的量通过预测推算出来。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defTabSz="914400" rtl="0" eaLnBrk="1" fontAlgn="base" latinLnBrk="0" hangingPunct="1">
              <a:lnSpc>
                <a:spcPts val="346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53130" y="3281045"/>
            <a:ext cx="4954905" cy="27489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"/>
          <p:cNvSpPr txBox="1">
            <a:spLocks noChangeArrowheads="1"/>
          </p:cNvSpPr>
          <p:nvPr/>
        </p:nvSpPr>
        <p:spPr bwMode="auto">
          <a:xfrm>
            <a:off x="2837204" y="748058"/>
            <a:ext cx="5891642" cy="99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815" tIns="45407" rIns="90815" bIns="45407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压缩算法</a:t>
            </a:r>
            <a:r>
              <a:rPr lang="zh-CN" altLang="en-US" sz="4000" b="1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改进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1870710" y="2345690"/>
            <a:ext cx="9175115" cy="3602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815" tIns="45407" rIns="90815" bIns="45407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lvl="0"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</a:t>
            </a:r>
            <a:r>
              <a:rPr lang="zh-CN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新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TSZ 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算法对原来的算法中的一小部分算法实现进行了改进，改进了原来使用的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Huffman 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编码，先把要压缩的数转化为值较小的整数，这样就可以使用更快的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FSE 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熵编码来完成，避免使用即占用空间又慢的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huffman 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树。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0">
              <a:lnSpc>
                <a:spcPct val="150000"/>
              </a:lnSpc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0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0"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"/>
          <p:cNvSpPr txBox="1">
            <a:spLocks noChangeArrowheads="1"/>
          </p:cNvSpPr>
          <p:nvPr/>
        </p:nvSpPr>
        <p:spPr bwMode="auto">
          <a:xfrm>
            <a:off x="2837204" y="748058"/>
            <a:ext cx="5891642" cy="99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815" tIns="45407" rIns="90815" bIns="45407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适用场景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1883410" y="2345690"/>
            <a:ext cx="9175115" cy="3602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815" tIns="45407" rIns="90815" bIns="45407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lvl="0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以下场景是新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TSZ 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压缩算法典型的应用场景：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0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1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、采集数据中存在大量的浮点数据类型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0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2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、数据写入速度成为严重的瓶颈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0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0"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"/>
          <p:cNvSpPr txBox="1">
            <a:spLocks noChangeArrowheads="1"/>
          </p:cNvSpPr>
          <p:nvPr/>
        </p:nvSpPr>
        <p:spPr bwMode="auto">
          <a:xfrm>
            <a:off x="2761004" y="28"/>
            <a:ext cx="5891642" cy="99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815" tIns="45407" rIns="90815" bIns="45407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性能测试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8535" y="1102995"/>
            <a:ext cx="7639685" cy="508952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"/>
          <p:cNvSpPr txBox="1">
            <a:spLocks noChangeArrowheads="1"/>
          </p:cNvSpPr>
          <p:nvPr/>
        </p:nvSpPr>
        <p:spPr bwMode="auto">
          <a:xfrm>
            <a:off x="3463154" y="748058"/>
            <a:ext cx="5265692" cy="99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815" tIns="45407" rIns="90815" bIns="45407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使用方法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9300" y="1743075"/>
            <a:ext cx="7818755" cy="35737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"/>
          <p:cNvSpPr txBox="1">
            <a:spLocks noChangeArrowheads="1"/>
          </p:cNvSpPr>
          <p:nvPr/>
        </p:nvSpPr>
        <p:spPr bwMode="auto">
          <a:xfrm>
            <a:off x="2837204" y="748058"/>
            <a:ext cx="5891642" cy="99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815" tIns="45407" rIns="90815" bIns="45407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参数</a:t>
            </a:r>
            <a:r>
              <a:rPr lang="zh-CN" altLang="en-US" sz="4000" b="1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配置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1508760" y="1850390"/>
            <a:ext cx="9175115" cy="568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815" tIns="45407" rIns="90815" bIns="45407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lvl="0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提供三个参数可以配置：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0">
              <a:lnSpc>
                <a:spcPct val="150000"/>
              </a:lnSpc>
            </a:pP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2317115"/>
            <a:ext cx="9401810" cy="321754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"/>
          <p:cNvSpPr txBox="1">
            <a:spLocks noChangeArrowheads="1"/>
          </p:cNvSpPr>
          <p:nvPr/>
        </p:nvSpPr>
        <p:spPr bwMode="auto">
          <a:xfrm>
            <a:off x="2837204" y="748058"/>
            <a:ext cx="5891642" cy="99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815" tIns="45407" rIns="90815" bIns="45407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参数</a:t>
            </a:r>
            <a:r>
              <a:rPr lang="zh-CN" altLang="en-US" sz="4000" b="1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配置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120" y="2068830"/>
            <a:ext cx="3554095" cy="37865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8140" y="2145665"/>
            <a:ext cx="3535045" cy="36322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文本"/>
          <p:cNvSpPr txBox="1"/>
          <p:nvPr/>
        </p:nvSpPr>
        <p:spPr>
          <a:xfrm>
            <a:off x="1221680" y="1149350"/>
            <a:ext cx="9748640" cy="22756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5000" b="1" kern="1200">
                <a:solidFill>
                  <a:srgbClr val="E4F4F9"/>
                </a:solidFill>
                <a:latin typeface="MicrosoftYaHeiSemibold"/>
                <a:ea typeface="MicrosoftYaHeiSemibold"/>
                <a:cs typeface="MicrosoftYaHeiSemibold"/>
                <a:sym typeface="MicrosoftYaHeiSemibold"/>
              </a:defRPr>
            </a:lvl1pPr>
          </a:lstStyle>
          <a:p>
            <a:r>
              <a:rPr lang="en-US" altLang="zh-CN" dirty="0">
                <a:ea typeface="微软雅黑" panose="020B0503020204020204" pitchFamily="34" charset="-122"/>
              </a:rPr>
              <a:t>S3 </a:t>
            </a:r>
            <a:r>
              <a:rPr dirty="0">
                <a:ea typeface="微软雅黑" panose="020B0503020204020204" pitchFamily="34" charset="-122"/>
              </a:rPr>
              <a:t>存储及性能改进</a:t>
            </a:r>
            <a:endParaRPr dirty="0">
              <a:ea typeface="微软雅黑" panose="020B0503020204020204" pitchFamily="34" charset="-122"/>
            </a:endParaRPr>
          </a:p>
          <a:p>
            <a:endParaRPr dirty="0">
              <a:ea typeface="微软雅黑" panose="020B0503020204020204" pitchFamily="34" charset="-122"/>
            </a:endParaRPr>
          </a:p>
        </p:txBody>
      </p:sp>
      <p:sp>
        <p:nvSpPr>
          <p:cNvPr id="6" name="在此键入tittle"/>
          <p:cNvSpPr txBox="1"/>
          <p:nvPr/>
        </p:nvSpPr>
        <p:spPr>
          <a:xfrm>
            <a:off x="1221680" y="4595920"/>
            <a:ext cx="1701800" cy="398780"/>
          </a:xfrm>
          <a:prstGeom prst="rect">
            <a:avLst/>
          </a:prstGeom>
        </p:spPr>
        <p:txBody>
          <a:bodyPr wrap="none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>
                <a:solidFill>
                  <a:srgbClr val="E4F4FA"/>
                </a:solidFill>
              </a:rPr>
              <a:t>2023-10-16</a:t>
            </a:r>
            <a:endParaRPr lang="en-GB" dirty="0">
              <a:solidFill>
                <a:srgbClr val="E4F4FA"/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7079608" y="2867639"/>
            <a:ext cx="204281" cy="204281"/>
          </a:xfrm>
          <a:prstGeom prst="ellipse">
            <a:avLst/>
          </a:prstGeom>
          <a:solidFill>
            <a:srgbClr val="708DC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6634" y="2890789"/>
            <a:ext cx="3733800" cy="10414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923480" y="5486400"/>
            <a:ext cx="362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金明垒，段宽军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8.33333E-7 4.81481E-6 L -0.02474 0.12754 L 0.03997 0.04236 L -0.03984 0.04513 L 0.02396 0.12754 L 8.33333E-7 4.81481E-6 Z " pathEditMode="relative" rAng="0" ptsTypes="AAAAAA">
                                      <p:cBhvr>
                                        <p:cTn id="6" dur="8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3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"/>
          <p:cNvSpPr txBox="1">
            <a:spLocks noChangeArrowheads="1"/>
          </p:cNvSpPr>
          <p:nvPr/>
        </p:nvSpPr>
        <p:spPr bwMode="auto">
          <a:xfrm>
            <a:off x="4546600" y="748030"/>
            <a:ext cx="3860800" cy="995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815" tIns="45407" rIns="90815" bIns="45407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S3 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存储简介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7945" y="1817370"/>
            <a:ext cx="10278110" cy="409067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"/>
          <p:cNvSpPr txBox="1">
            <a:spLocks noChangeArrowheads="1"/>
          </p:cNvSpPr>
          <p:nvPr/>
        </p:nvSpPr>
        <p:spPr bwMode="auto">
          <a:xfrm>
            <a:off x="2837204" y="748058"/>
            <a:ext cx="5891642" cy="99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815" tIns="45407" rIns="90815" bIns="45407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基本配置参数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2060" y="2176780"/>
            <a:ext cx="10389870" cy="289115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"/>
          <p:cNvSpPr txBox="1">
            <a:spLocks noChangeArrowheads="1"/>
          </p:cNvSpPr>
          <p:nvPr/>
        </p:nvSpPr>
        <p:spPr bwMode="auto">
          <a:xfrm>
            <a:off x="2837204" y="748058"/>
            <a:ext cx="5891642" cy="99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815" tIns="45407" rIns="90815" bIns="45407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块相关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配置参数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525" y="2678430"/>
            <a:ext cx="10754360" cy="178625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"/>
          <p:cNvSpPr txBox="1">
            <a:spLocks noChangeArrowheads="1"/>
          </p:cNvSpPr>
          <p:nvPr/>
        </p:nvSpPr>
        <p:spPr bwMode="auto">
          <a:xfrm>
            <a:off x="2761004" y="28"/>
            <a:ext cx="5891642" cy="99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815" tIns="45407" rIns="90815" bIns="45407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测试数据及环境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8190" y="995045"/>
            <a:ext cx="5664835" cy="523303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"/>
          <p:cNvSpPr txBox="1">
            <a:spLocks noChangeArrowheads="1"/>
          </p:cNvSpPr>
          <p:nvPr/>
        </p:nvSpPr>
        <p:spPr bwMode="auto">
          <a:xfrm>
            <a:off x="3463154" y="28"/>
            <a:ext cx="5265692" cy="99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815" tIns="45407" rIns="90815" bIns="45407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与上一版性能对比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00" y="1127125"/>
            <a:ext cx="5709285" cy="47650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7560" y="1238885"/>
            <a:ext cx="6120765" cy="454406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"/>
          <p:cNvSpPr txBox="1">
            <a:spLocks noChangeArrowheads="1"/>
          </p:cNvSpPr>
          <p:nvPr/>
        </p:nvSpPr>
        <p:spPr bwMode="auto">
          <a:xfrm>
            <a:off x="2837204" y="748058"/>
            <a:ext cx="5891642" cy="99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815" tIns="45407" rIns="90815" bIns="45407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结论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754505" y="1888490"/>
            <a:ext cx="9175115" cy="3602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815" tIns="45407" rIns="90815" bIns="45407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lvl="0">
              <a:lnSpc>
                <a:spcPct val="150000"/>
              </a:lnSpc>
            </a:pP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2075180" y="2049780"/>
            <a:ext cx="9175115" cy="275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815" tIns="45407" rIns="90815" bIns="45407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lvl="0"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1）  全部数据都需下载的情况下两种方式相差不大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0">
              <a:lnSpc>
                <a:spcPct val="150000"/>
              </a:lnSpc>
            </a:pP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0">
              <a:lnSpc>
                <a:spcPct val="150000"/>
              </a:lnSpc>
            </a:pP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2） 下载数据量大，默认缓存（较小）情况下，第二次查询变化不明显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0">
              <a:lnSpc>
                <a:spcPct val="150000"/>
              </a:lnSpc>
            </a:pP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 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0">
              <a:lnSpc>
                <a:spcPct val="150000"/>
              </a:lnSpc>
            </a:pP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3） 按需下载的场景下，现有方式提速明显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"/>
          <p:cNvSpPr txBox="1">
            <a:spLocks noChangeArrowheads="1"/>
          </p:cNvSpPr>
          <p:nvPr/>
        </p:nvSpPr>
        <p:spPr bwMode="auto">
          <a:xfrm>
            <a:off x="2814344" y="474373"/>
            <a:ext cx="5891642" cy="99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815" tIns="45407" rIns="90815" bIns="45407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扩大缓存效果测试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8865" y="1986915"/>
            <a:ext cx="8011160" cy="337248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"/>
          <p:cNvSpPr txBox="1">
            <a:spLocks noChangeArrowheads="1"/>
          </p:cNvSpPr>
          <p:nvPr/>
        </p:nvSpPr>
        <p:spPr bwMode="auto">
          <a:xfrm>
            <a:off x="2894354" y="28"/>
            <a:ext cx="5891642" cy="99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815" tIns="45407" rIns="90815" bIns="45407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点查小范围查效果验证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4140" y="995045"/>
            <a:ext cx="7134860" cy="563626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"/>
          <p:cNvSpPr txBox="1">
            <a:spLocks noChangeArrowheads="1"/>
          </p:cNvSpPr>
          <p:nvPr/>
        </p:nvSpPr>
        <p:spPr bwMode="auto">
          <a:xfrm>
            <a:off x="2894354" y="161953"/>
            <a:ext cx="5891642" cy="99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815" tIns="45407" rIns="90815" bIns="45407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性能总结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8210" y="1385570"/>
            <a:ext cx="8081010" cy="452056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07774" y="396806"/>
            <a:ext cx="9144000" cy="1203394"/>
          </a:xfrm>
        </p:spPr>
        <p:txBody>
          <a:bodyPr/>
          <a:lstStyle/>
          <a:p>
            <a:r>
              <a:rPr lang="en-US" altLang="zh-CN" dirty="0"/>
              <a:t>3.2.1.0 </a:t>
            </a:r>
            <a:r>
              <a:rPr lang="zh-CN" altLang="en-US" dirty="0"/>
              <a:t>新特性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13567" y="1600200"/>
            <a:ext cx="10154433" cy="4949686"/>
          </a:xfrm>
        </p:spPr>
        <p:txBody>
          <a:bodyPr>
            <a:normAutofit fontScale="92500" lnSpcReduction="20000"/>
          </a:bodyPr>
          <a:lstStyle/>
          <a:p>
            <a:endParaRPr lang="en-US" altLang="zh-CN" dirty="0"/>
          </a:p>
          <a:p>
            <a:pPr algn="l">
              <a:buFont typeface="+mj-lt"/>
              <a:buAutoNum type="arabicPeriod"/>
            </a:pPr>
            <a:r>
              <a:rPr lang="zh-CN" altLang="en-US" dirty="0">
                <a:effectLst/>
              </a:rPr>
              <a:t>全面支持</a:t>
            </a:r>
            <a:r>
              <a:rPr lang="en-US" altLang="zh-CN" dirty="0">
                <a:effectLst/>
              </a:rPr>
              <a:t>BI</a:t>
            </a:r>
            <a:r>
              <a:rPr lang="zh-CN" altLang="en-US" dirty="0">
                <a:effectLst/>
              </a:rPr>
              <a:t>对接新需求（只显示和操作超级表、性能优化、新函数、新语法等）；</a:t>
            </a:r>
            <a:endParaRPr lang="zh-CN" altLang="en-US" dirty="0"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en-US" altLang="zh-CN" dirty="0">
                <a:effectLst/>
              </a:rPr>
              <a:t>RSMA</a:t>
            </a:r>
            <a:r>
              <a:rPr lang="zh-CN" altLang="en-US" dirty="0">
                <a:effectLst/>
              </a:rPr>
              <a:t>功能</a:t>
            </a:r>
            <a:endParaRPr lang="zh-CN" altLang="en-US" dirty="0"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zh-CN" altLang="en-US" dirty="0">
                <a:effectLst/>
              </a:rPr>
              <a:t>视图功能</a:t>
            </a:r>
            <a:endParaRPr lang="zh-CN" altLang="en-US" dirty="0"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zh-CN" altLang="en-US" dirty="0">
                <a:effectLst/>
              </a:rPr>
              <a:t>双副本基本功能</a:t>
            </a:r>
            <a:endParaRPr lang="zh-CN" altLang="en-US" dirty="0"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zh-CN" altLang="en-US" dirty="0">
                <a:effectLst/>
              </a:rPr>
              <a:t>多级存储故障恢复</a:t>
            </a:r>
            <a:endParaRPr lang="zh-CN" altLang="en-US" dirty="0"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zh-CN" altLang="en-US" dirty="0">
                <a:effectLst/>
              </a:rPr>
              <a:t>按 </a:t>
            </a:r>
            <a:r>
              <a:rPr lang="en-US" altLang="zh-CN" dirty="0">
                <a:effectLst/>
              </a:rPr>
              <a:t>DB </a:t>
            </a:r>
            <a:r>
              <a:rPr lang="zh-CN" altLang="en-US" dirty="0">
                <a:effectLst/>
              </a:rPr>
              <a:t>触发再平衡 </a:t>
            </a:r>
            <a:r>
              <a:rPr lang="en-US" altLang="zh-CN" dirty="0">
                <a:effectLst/>
              </a:rPr>
              <a:t>(optional)</a:t>
            </a:r>
            <a:endParaRPr lang="en-US" altLang="zh-CN" dirty="0"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en-US" altLang="zh-CN" dirty="0">
                <a:effectLst/>
              </a:rPr>
              <a:t>S3 </a:t>
            </a:r>
            <a:r>
              <a:rPr lang="zh-CN" altLang="en-US" dirty="0">
                <a:effectLst/>
              </a:rPr>
              <a:t>支持 类 </a:t>
            </a:r>
            <a:r>
              <a:rPr lang="en-US" altLang="zh-CN" dirty="0">
                <a:effectLst/>
              </a:rPr>
              <a:t>AWS (</a:t>
            </a:r>
            <a:r>
              <a:rPr lang="zh-CN" altLang="en-US" dirty="0">
                <a:effectLst/>
              </a:rPr>
              <a:t>大庆油田）</a:t>
            </a:r>
            <a:endParaRPr lang="zh-CN" altLang="en-US" dirty="0"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zh-CN" altLang="en-US" dirty="0">
                <a:effectLst/>
              </a:rPr>
              <a:t>可观测性（监控数据的收集和上报框架）</a:t>
            </a:r>
            <a:endParaRPr lang="zh-CN" altLang="en-US" dirty="0"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zh-CN" altLang="en-US" dirty="0">
                <a:effectLst/>
              </a:rPr>
              <a:t>支持按照写入时间间隔和写入批次返回订阅结果（按照真实写入频率回放数据流）</a:t>
            </a:r>
            <a:endParaRPr lang="zh-CN" altLang="en-US" dirty="0"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zh-CN" altLang="en-US" dirty="0">
                <a:effectLst/>
              </a:rPr>
              <a:t>控制流计算结果的写入速度</a:t>
            </a:r>
            <a:endParaRPr lang="zh-CN" altLang="en-US" dirty="0"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en-US" altLang="zh-CN" dirty="0" err="1">
                <a:effectLst/>
              </a:rPr>
              <a:t>Snode</a:t>
            </a:r>
            <a:r>
              <a:rPr lang="en-US" altLang="zh-CN" dirty="0">
                <a:effectLst/>
              </a:rPr>
              <a:t> </a:t>
            </a:r>
            <a:r>
              <a:rPr lang="zh-CN" altLang="en-US" dirty="0">
                <a:effectLst/>
              </a:rPr>
              <a:t>支持状态数据的备份和恢复功能 </a:t>
            </a:r>
            <a:r>
              <a:rPr lang="en-US" altLang="zh-CN" dirty="0">
                <a:effectLst/>
              </a:rPr>
              <a:t>(optional)</a:t>
            </a:r>
            <a:endParaRPr lang="en-US" altLang="zh-CN" dirty="0">
              <a:effectLst/>
            </a:endParaRPr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07774" y="396806"/>
            <a:ext cx="9144000" cy="1203394"/>
          </a:xfrm>
        </p:spPr>
        <p:txBody>
          <a:bodyPr/>
          <a:lstStyle/>
          <a:p>
            <a:r>
              <a:rPr lang="en-US" altLang="zh-CN" dirty="0"/>
              <a:t>3.2.1.0 </a:t>
            </a:r>
            <a:r>
              <a:rPr lang="zh-CN" altLang="en-US" dirty="0"/>
              <a:t>优化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13567" y="1600200"/>
            <a:ext cx="10154433" cy="4949686"/>
          </a:xfrm>
        </p:spPr>
        <p:txBody>
          <a:bodyPr>
            <a:normAutofit/>
          </a:bodyPr>
          <a:lstStyle/>
          <a:p>
            <a:endParaRPr lang="en-US" altLang="zh-CN" dirty="0"/>
          </a:p>
          <a:p>
            <a:pPr algn="l">
              <a:buFont typeface="+mj-lt"/>
              <a:buAutoNum type="arabicPeriod"/>
            </a:pPr>
            <a:r>
              <a:rPr lang="zh-CN" altLang="en-US" dirty="0">
                <a:effectLst/>
              </a:rPr>
              <a:t>性能优化（多列相加、</a:t>
            </a:r>
            <a:r>
              <a:rPr lang="en-US" altLang="zh-CN" dirty="0">
                <a:effectLst/>
              </a:rPr>
              <a:t>last/</a:t>
            </a:r>
            <a:r>
              <a:rPr lang="en-US" altLang="zh-CN" dirty="0" err="1">
                <a:effectLst/>
              </a:rPr>
              <a:t>last_row</a:t>
            </a:r>
            <a:r>
              <a:rPr lang="en-US" altLang="zh-CN" dirty="0">
                <a:effectLst/>
              </a:rPr>
              <a:t>+</a:t>
            </a:r>
            <a:r>
              <a:rPr lang="zh-CN" altLang="en-US" dirty="0">
                <a:effectLst/>
              </a:rPr>
              <a:t>主键查询）</a:t>
            </a:r>
            <a:endParaRPr lang="zh-CN" altLang="en-US" dirty="0"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zh-CN" altLang="en-US" dirty="0">
                <a:effectLst/>
              </a:rPr>
              <a:t>性能优化 （迁移 </a:t>
            </a:r>
            <a:r>
              <a:rPr lang="en-US" altLang="zh-CN" dirty="0" err="1">
                <a:effectLst/>
              </a:rPr>
              <a:t>vnode</a:t>
            </a:r>
            <a:r>
              <a:rPr lang="zh-CN" altLang="en-US" dirty="0">
                <a:effectLst/>
              </a:rPr>
              <a:t>）</a:t>
            </a:r>
            <a:endParaRPr lang="zh-CN" altLang="en-US" dirty="0"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zh-CN" altLang="en-US" dirty="0">
                <a:effectLst/>
              </a:rPr>
              <a:t>流计算中的 </a:t>
            </a:r>
            <a:r>
              <a:rPr lang="en-US" altLang="zh-CN" dirty="0">
                <a:effectLst/>
              </a:rPr>
              <a:t>State/session window </a:t>
            </a:r>
            <a:r>
              <a:rPr lang="zh-CN" altLang="en-US" dirty="0">
                <a:effectLst/>
              </a:rPr>
              <a:t>的性能优化 （增加缓存）</a:t>
            </a:r>
            <a:endParaRPr lang="zh-CN" altLang="en-US" dirty="0">
              <a:effectLst/>
            </a:endParaRPr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5164</Words>
  <Application>WPS 演示</Application>
  <PresentationFormat>宽屏</PresentationFormat>
  <Paragraphs>483</Paragraphs>
  <Slides>36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36</vt:i4>
      </vt:variant>
    </vt:vector>
  </HeadingPairs>
  <TitlesOfParts>
    <vt:vector size="52" baseType="lpstr">
      <vt:lpstr>Arial</vt:lpstr>
      <vt:lpstr>方正书宋_GBK</vt:lpstr>
      <vt:lpstr>Wingdings</vt:lpstr>
      <vt:lpstr>MicrosoftYaHeiSemibold</vt:lpstr>
      <vt:lpstr>Thonburi</vt:lpstr>
      <vt:lpstr>微软雅黑</vt:lpstr>
      <vt:lpstr>汉仪旗黑</vt:lpstr>
      <vt:lpstr>Wingdings</vt:lpstr>
      <vt:lpstr>等线 Light</vt:lpstr>
      <vt:lpstr>汉仪中等线KW</vt:lpstr>
      <vt:lpstr>等线</vt:lpstr>
      <vt:lpstr>宋体</vt:lpstr>
      <vt:lpstr>Arial Unicode MS</vt:lpstr>
      <vt:lpstr>汉仪书宋二KW</vt:lpstr>
      <vt:lpstr>Office 主题​​</vt:lpstr>
      <vt:lpstr>1_Office 主题​​</vt:lpstr>
      <vt:lpstr>TDengine 3.2.0.0 产品简介</vt:lpstr>
      <vt:lpstr>查询性能优化</vt:lpstr>
      <vt:lpstr>优化partition by column分组性能</vt:lpstr>
      <vt:lpstr>优化partition by column分组性能</vt:lpstr>
      <vt:lpstr>Agg + partition by col 性能优化</vt:lpstr>
      <vt:lpstr>Agg + partition by col 性能优化</vt:lpstr>
      <vt:lpstr>Partition by col slimit 性能优化</vt:lpstr>
      <vt:lpstr>Partition by col slimit 性能优化</vt:lpstr>
      <vt:lpstr>用户白名单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3.2.1.0 新特性</vt:lpstr>
      <vt:lpstr>3.2.1.0 优化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TDengine 3.2.0.0 产品简介</dc:title>
  <dc:creator>wade zhang</dc:creator>
  <cp:lastModifiedBy>chenfan</cp:lastModifiedBy>
  <cp:revision>4</cp:revision>
  <dcterms:created xsi:type="dcterms:W3CDTF">2023-10-16T09:45:29Z</dcterms:created>
  <dcterms:modified xsi:type="dcterms:W3CDTF">2023-10-16T09:45:29Z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2052-4.0.0.6524</vt:lpwstr>
  </property>
</Properties>
</file>