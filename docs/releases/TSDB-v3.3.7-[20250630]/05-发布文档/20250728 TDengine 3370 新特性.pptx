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9.xml" ContentType="application/vnd.openxmlformats-officedocument.presentationml.notesSlide+xml"/>
  <Override PartName="/ppt/tags/tag44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14999924" r:id="rId2"/>
    <p:sldId id="11088143" r:id="rId3"/>
    <p:sldId id="11088144" r:id="rId4"/>
    <p:sldId id="14999836" r:id="rId5"/>
    <p:sldId id="14999886" r:id="rId6"/>
    <p:sldId id="14999889" r:id="rId7"/>
    <p:sldId id="14999922" r:id="rId8"/>
    <p:sldId id="14999903" r:id="rId9"/>
    <p:sldId id="14999905" r:id="rId10"/>
    <p:sldId id="14999906" r:id="rId11"/>
    <p:sldId id="14999923" r:id="rId12"/>
    <p:sldId id="14999887" r:id="rId13"/>
    <p:sldId id="14999925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2504" userDrawn="1">
          <p15:clr>
            <a:srgbClr val="A4A3A4"/>
          </p15:clr>
        </p15:guide>
        <p15:guide id="6" pos="2011" userDrawn="1">
          <p15:clr>
            <a:srgbClr val="A4A3A4"/>
          </p15:clr>
        </p15:guide>
        <p15:guide id="7" orient="horz" pos="3140" userDrawn="1">
          <p15:clr>
            <a:srgbClr val="A4A3A4"/>
          </p15:clr>
        </p15:guide>
        <p15:guide id="8" pos="3787" userDrawn="1">
          <p15:clr>
            <a:srgbClr val="A4A3A4"/>
          </p15:clr>
        </p15:guide>
        <p15:guide id="9" pos="386" userDrawn="1">
          <p15:clr>
            <a:srgbClr val="A4A3A4"/>
          </p15:clr>
        </p15:guide>
        <p15:guide id="10" pos="4088" userDrawn="1">
          <p15:clr>
            <a:srgbClr val="A4A3A4"/>
          </p15:clr>
        </p15:guide>
        <p15:guide id="11" orient="horz" pos="1267" userDrawn="1">
          <p15:clr>
            <a:srgbClr val="A4A3A4"/>
          </p15:clr>
        </p15:guide>
        <p15:guide id="12" orient="horz" pos="1107" userDrawn="1">
          <p15:clr>
            <a:srgbClr val="A4A3A4"/>
          </p15:clr>
        </p15:guide>
        <p15:guide id="13" orient="horz" pos="3045" userDrawn="1">
          <p15:clr>
            <a:srgbClr val="A4A3A4"/>
          </p15:clr>
        </p15:guide>
        <p15:guide id="14" orient="horz" pos="1799" userDrawn="1">
          <p15:clr>
            <a:srgbClr val="A4A3A4"/>
          </p15:clr>
        </p15:guide>
        <p15:guide id="15" orient="horz" pos="2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DAA"/>
    <a:srgbClr val="0041CE"/>
    <a:srgbClr val="E9FAFF"/>
    <a:srgbClr val="BBC4FF"/>
    <a:srgbClr val="F8FFBB"/>
    <a:srgbClr val="CDEEB7"/>
    <a:srgbClr val="F4D3BA"/>
    <a:srgbClr val="1A07FF"/>
    <a:srgbClr val="DBE8F9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33" autoAdjust="0"/>
    <p:restoredTop sz="88720"/>
  </p:normalViewPr>
  <p:slideViewPr>
    <p:cSldViewPr snapToGrid="0" showGuides="1">
      <p:cViewPr varScale="1">
        <p:scale>
          <a:sx n="128" d="100"/>
          <a:sy n="128" d="100"/>
        </p:scale>
        <p:origin x="1387" y="96"/>
      </p:cViewPr>
      <p:guideLst>
        <p:guide pos="2504"/>
        <p:guide pos="2011"/>
        <p:guide orient="horz" pos="3140"/>
        <p:guide pos="3787"/>
        <p:guide pos="386"/>
        <p:guide pos="4088"/>
        <p:guide orient="horz" pos="1267"/>
        <p:guide orient="horz" pos="1107"/>
        <p:guide orient="horz" pos="3045"/>
        <p:guide orient="horz" pos="1799"/>
        <p:guide orient="horz" pos="2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68" d="100"/>
          <a:sy n="168" d="100"/>
        </p:scale>
        <p:origin x="664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078A1E-44CA-9C4D-8429-FCA8271D2650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9E20F7-0F95-B845-8387-23E342EF00E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420A-5533-05CC-2ECB-830F52A5C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5124BF2-8480-1BA7-3B68-23FF42B03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C47CE5-22E2-1BCF-50C6-EE214DE697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080F28-F0A5-F7FF-1423-3CB28E2D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6503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C907B-F53F-2848-78FA-F8BC140C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1A3A96-3871-238E-E976-BC661533F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9AE03F-83EA-046C-57C5-21DB28E837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DF30CE-EFBF-493D-92AC-08C484A40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36449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486BB-6794-26CD-85EC-F0D978752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4EC090-9E2D-2C58-B570-E2EA7253C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7DD81B-8F8A-8C22-15A6-C6B79487F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4FFAB2-21E3-6568-EB84-67FA8AAA5F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1433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724F4-28E3-20FF-5CE1-2BE387DC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FE28B1-8C43-639C-A5B9-A933B66D2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AF45AC0-1F9D-8B61-4CD8-8E6E9284C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EFA4D3-59CE-5AAE-4557-F27BF9CA3E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3902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51ED3-577B-206E-2D2D-BECB64B7E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13C258-AF27-20E1-F5EA-644764FCA0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BACC55-88EE-D62A-ACEB-1B44AF3C8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C4753B-01B3-873F-91B8-1B8FF538E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1901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FA5F4-D7A8-AF18-82B7-F8A1D47E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571430-59CF-0D51-0A5F-332214C78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0FF4C9-5883-328D-18D9-DF4B9540A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AFF4D3-25CE-A4AB-7A6F-EC6DDC74C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13737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D0CD8-9846-C1A3-1BEC-EB1F1E5C3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6B3FE4-DBC7-D261-204F-E21D8CF05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5574B4-E4EA-AE14-C695-BD687D73A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EC837E-4F42-C4C0-50E0-917B1AE898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17351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20B02-0FCF-57AD-A043-1D08D637D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0B67BE-BF81-CBBD-D32B-F65FF824C0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EC1C4B-8B97-8944-BAD7-47E9C033A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A7D8D0-7B3F-BA57-C59F-35649D932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9E20F7-0F95-B845-8387-23E342EF00E8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968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2"/>
          <p:cNvCxnSpPr/>
          <p:nvPr userDrawn="1"/>
        </p:nvCxnSpPr>
        <p:spPr>
          <a:xfrm flipH="1">
            <a:off x="0" y="424370"/>
            <a:ext cx="365760" cy="0"/>
          </a:xfrm>
          <a:prstGeom prst="line">
            <a:avLst/>
          </a:prstGeom>
          <a:ln w="19050">
            <a:solidFill>
              <a:srgbClr val="051D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0" y="4860743"/>
            <a:ext cx="9144000" cy="210474"/>
            <a:chOff x="0" y="4860743"/>
            <a:chExt cx="9144000" cy="210474"/>
          </a:xfrm>
        </p:grpSpPr>
        <p:grpSp>
          <p:nvGrpSpPr>
            <p:cNvPr id="9" name="组合 8"/>
            <p:cNvGrpSpPr/>
            <p:nvPr/>
          </p:nvGrpSpPr>
          <p:grpSpPr>
            <a:xfrm>
              <a:off x="0" y="4880914"/>
              <a:ext cx="2630770" cy="107011"/>
              <a:chOff x="0" y="4848908"/>
              <a:chExt cx="2630770" cy="107011"/>
            </a:xfrm>
          </p:grpSpPr>
          <p:cxnSp>
            <p:nvCxnSpPr>
              <p:cNvPr id="17" name="Straight Connector 2"/>
              <p:cNvCxnSpPr/>
              <p:nvPr/>
            </p:nvCxnSpPr>
            <p:spPr>
              <a:xfrm flipH="1">
                <a:off x="0" y="4848908"/>
                <a:ext cx="2554017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2"/>
              <p:cNvCxnSpPr/>
              <p:nvPr/>
            </p:nvCxnSpPr>
            <p:spPr>
              <a:xfrm flipH="1" flipV="1">
                <a:off x="2554017" y="4849525"/>
                <a:ext cx="76753" cy="106394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/>
            <p:cNvGrpSpPr/>
            <p:nvPr/>
          </p:nvGrpSpPr>
          <p:grpSpPr>
            <a:xfrm>
              <a:off x="6509657" y="4880914"/>
              <a:ext cx="2634343" cy="107011"/>
              <a:chOff x="6509657" y="4848908"/>
              <a:chExt cx="2634343" cy="107011"/>
            </a:xfrm>
          </p:grpSpPr>
          <p:cxnSp>
            <p:nvCxnSpPr>
              <p:cNvPr id="15" name="Straight Connector 2"/>
              <p:cNvCxnSpPr/>
              <p:nvPr/>
            </p:nvCxnSpPr>
            <p:spPr>
              <a:xfrm flipH="1">
                <a:off x="6589983" y="4848908"/>
                <a:ext cx="2554017" cy="0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2"/>
              <p:cNvCxnSpPr/>
              <p:nvPr/>
            </p:nvCxnSpPr>
            <p:spPr>
              <a:xfrm flipV="1">
                <a:off x="6509657" y="4849525"/>
                <a:ext cx="80326" cy="106394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10"/>
            <p:cNvGrpSpPr/>
            <p:nvPr/>
          </p:nvGrpSpPr>
          <p:grpSpPr>
            <a:xfrm>
              <a:off x="2785888" y="4860743"/>
              <a:ext cx="3617381" cy="210474"/>
              <a:chOff x="2840063" y="4860743"/>
              <a:chExt cx="3617381" cy="210474"/>
            </a:xfrm>
          </p:grpSpPr>
          <p:sp>
            <p:nvSpPr>
              <p:cNvPr id="12" name="Google Shape;193;p38"/>
              <p:cNvSpPr txBox="1"/>
              <p:nvPr/>
            </p:nvSpPr>
            <p:spPr>
              <a:xfrm>
                <a:off x="3752892" y="4872161"/>
                <a:ext cx="2704552" cy="1990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spcFirstLastPara="1" wrap="square" lIns="0" tIns="0" rIns="0" bIns="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20204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20204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20204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20204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20204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20204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20204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20204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 panose="020B0604020202020204"/>
                  <a:buNone/>
                  <a:defRPr sz="2800" b="0" i="0" u="none" strike="noStrike" cap="none">
                    <a:solidFill>
                      <a:schemeClr val="dk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defRPr>
                </a:lvl9pPr>
              </a:lstStyle>
              <a:p>
                <a:r>
                  <a:rPr lang="zh-CN" altLang="en-US" sz="800" spc="300" dirty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微软雅黑 Light" panose="020B0502040204020203" pitchFamily="34" charset="-122"/>
                    <a:ea typeface="微软雅黑 Light" panose="020B0502040204020203" pitchFamily="34" charset="-122"/>
                  </a:rPr>
                  <a:t>高性能、分布式的物联网、工业大数据平台</a:t>
                </a:r>
              </a:p>
            </p:txBody>
          </p:sp>
          <p:pic>
            <p:nvPicPr>
              <p:cNvPr id="13" name="图片 12"/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2840063" y="4860743"/>
                <a:ext cx="742315" cy="155887"/>
              </a:xfrm>
              <a:prstGeom prst="rect">
                <a:avLst/>
              </a:prstGeom>
            </p:spPr>
          </p:pic>
          <p:cxnSp>
            <p:nvCxnSpPr>
              <p:cNvPr id="14" name="直线连接符 13"/>
              <p:cNvCxnSpPr/>
              <p:nvPr/>
            </p:nvCxnSpPr>
            <p:spPr>
              <a:xfrm>
                <a:off x="3665102" y="4879911"/>
                <a:ext cx="0" cy="108014"/>
              </a:xfrm>
              <a:prstGeom prst="line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9BABD-2451-9747-B4A5-3CB1C80FAE68}" type="datetimeFigureOut">
              <a:rPr kumimoji="1" lang="zh-CN" altLang="en-US" smtClean="0"/>
              <a:t>2025/7/29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10A4FE-C7CD-534D-9D6C-0EDB6C964BF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1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13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notesSlide" Target="../notesSlides/notesSlide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12.xml"/><Relationship Id="rId30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18" Type="http://schemas.openxmlformats.org/officeDocument/2006/relationships/slideLayout" Target="../slideLayouts/slideLayout12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10" Type="http://schemas.openxmlformats.org/officeDocument/2006/relationships/tags" Target="../tags/tag36.xml"/><Relationship Id="rId19" Type="http://schemas.openxmlformats.org/officeDocument/2006/relationships/notesSlide" Target="../notesSlides/notesSlide9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209EAD-A6B7-3341-B174-E1C20834F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" y="0"/>
            <a:ext cx="9139798" cy="5143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A2F6C0A-74C6-714A-985D-E27B75FA5C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8845" r="92560"/>
          <a:stretch/>
        </p:blipFill>
        <p:spPr>
          <a:xfrm>
            <a:off x="0" y="4634894"/>
            <a:ext cx="604762" cy="50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83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147995" y="422460"/>
            <a:ext cx="8843058" cy="2445952"/>
          </a:xfrm>
          <a:prstGeom prst="rect">
            <a:avLst/>
          </a:prstGeom>
        </p:spPr>
      </p:pic>
      <p:sp>
        <p:nvSpPr>
          <p:cNvPr id="22" name="文本框 5"/>
          <p:cNvSpPr txBox="1"/>
          <p:nvPr/>
        </p:nvSpPr>
        <p:spPr>
          <a:xfrm>
            <a:off x="991" y="1637505"/>
            <a:ext cx="9153189" cy="862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6127" tIns="16127" rIns="16127" bIns="16127" numCol="1" spcCol="38100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新品揭秘：</a:t>
            </a: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3.3.7.0</a:t>
            </a:r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新特性</a:t>
            </a:r>
            <a:endParaRPr lang="en-US" altLang="zh-CN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Google Shape;160;p36"/>
          <p:cNvSpPr txBox="1"/>
          <p:nvPr/>
        </p:nvSpPr>
        <p:spPr>
          <a:xfrm>
            <a:off x="-9188" y="4495999"/>
            <a:ext cx="9162377" cy="228634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indent="0" algn="ctr">
              <a:lnSpc>
                <a:spcPct val="100000"/>
              </a:lnSpc>
              <a:buSzPts val="2100"/>
              <a:buNone/>
            </a:pPr>
            <a:r>
              <a:rPr lang="zh-CN" altLang="en-US" sz="8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北京涛思数据科技有限公司</a:t>
            </a:r>
            <a:endParaRPr lang="en-US" altLang="zh-CN" sz="8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cxnSp>
        <p:nvCxnSpPr>
          <p:cNvPr id="24" name="Straight Connector 10"/>
          <p:cNvCxnSpPr/>
          <p:nvPr/>
        </p:nvCxnSpPr>
        <p:spPr>
          <a:xfrm flipH="1">
            <a:off x="4331337" y="4368351"/>
            <a:ext cx="481327" cy="0"/>
          </a:xfrm>
          <a:prstGeom prst="line">
            <a:avLst/>
          </a:prstGeom>
          <a:ln w="15875">
            <a:solidFill>
              <a:srgbClr val="F0A8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Google Shape;160;p36"/>
          <p:cNvSpPr txBox="1"/>
          <p:nvPr/>
        </p:nvSpPr>
        <p:spPr>
          <a:xfrm>
            <a:off x="-3602" y="3374985"/>
            <a:ext cx="9162377" cy="627728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9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9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9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indent="0" algn="ctr">
              <a:lnSpc>
                <a:spcPct val="150000"/>
              </a:lnSpc>
              <a:buSzPts val="2100"/>
              <a:buNone/>
            </a:pPr>
            <a:r>
              <a:rPr lang="zh-CN" altLang="en-US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关胜亮</a:t>
            </a:r>
            <a:endParaRPr lang="en-US" altLang="zh-CN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lnSpc>
                <a:spcPct val="150000"/>
              </a:lnSpc>
              <a:buSzPts val="2100"/>
              <a:buNone/>
            </a:pPr>
            <a:r>
              <a:rPr lang="en-US" sz="1100" spc="100" dirty="0" err="1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TDengine</a:t>
            </a:r>
            <a:r>
              <a:rPr lang="zh-CN" altLang="en-US" sz="1100" spc="100" dirty="0">
                <a:solidFill>
                  <a:schemeClr val="bg1"/>
                </a:solidFill>
                <a:latin typeface="Microsoft YaHei Light" panose="020B0503020204020204" pitchFamily="34" charset="-122"/>
                <a:ea typeface="Microsoft YaHei Light" panose="020B0503020204020204" pitchFamily="34" charset="-122"/>
              </a:rPr>
              <a:t> 联合创始人</a:t>
            </a:r>
            <a:endParaRPr lang="en-US" sz="1100" spc="100" dirty="0">
              <a:solidFill>
                <a:schemeClr val="bg1"/>
              </a:solidFill>
              <a:latin typeface="Microsoft YaHei Light" panose="020B0503020204020204" pitchFamily="34" charset="-122"/>
              <a:ea typeface="Microsoft YaHei Light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617" y="317866"/>
            <a:ext cx="1421617" cy="2985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-427168" y="914021"/>
            <a:ext cx="4728286" cy="4641202"/>
            <a:chOff x="-22034" y="914399"/>
            <a:chExt cx="4728286" cy="4641202"/>
          </a:xfrm>
        </p:grpSpPr>
        <p:sp>
          <p:nvSpPr>
            <p:cNvPr id="10" name="L-Shape 2"/>
            <p:cNvSpPr/>
            <p:nvPr/>
          </p:nvSpPr>
          <p:spPr>
            <a:xfrm rot="10800000">
              <a:off x="-22034" y="914399"/>
              <a:ext cx="2585890" cy="1272220"/>
            </a:xfrm>
            <a:prstGeom prst="corner">
              <a:avLst>
                <a:gd name="adj1" fmla="val 0"/>
                <a:gd name="adj2" fmla="val 0"/>
              </a:avLst>
            </a:prstGeom>
            <a:noFill/>
            <a:ln w="12700">
              <a:solidFill>
                <a:srgbClr val="F0A8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Google Shape;193;p38"/>
            <p:cNvSpPr txBox="1"/>
            <p:nvPr/>
          </p:nvSpPr>
          <p:spPr>
            <a:xfrm>
              <a:off x="774113" y="2285584"/>
              <a:ext cx="3141069" cy="5730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>
                <a:buClr>
                  <a:srgbClr val="000000"/>
                </a:buClr>
                <a:buSzPts val="3000"/>
              </a:pPr>
              <a:r>
                <a:rPr lang="en-US" sz="4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-Shape 4"/>
            <p:cNvSpPr/>
            <p:nvPr/>
          </p:nvSpPr>
          <p:spPr>
            <a:xfrm flipH="1">
              <a:off x="3815099" y="3520502"/>
              <a:ext cx="891153" cy="2035099"/>
            </a:xfrm>
            <a:prstGeom prst="corner">
              <a:avLst>
                <a:gd name="adj1" fmla="val 0"/>
                <a:gd name="adj2" fmla="val 0"/>
              </a:avLst>
            </a:prstGeom>
            <a:noFill/>
            <a:ln w="12700">
              <a:solidFill>
                <a:srgbClr val="F0A8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728287" y="1084360"/>
            <a:ext cx="3641051" cy="628242"/>
            <a:chOff x="5086490" y="794866"/>
            <a:chExt cx="3641051" cy="628242"/>
          </a:xfrm>
        </p:grpSpPr>
        <p:sp>
          <p:nvSpPr>
            <p:cNvPr id="15" name="Google Shape;193;p38"/>
            <p:cNvSpPr txBox="1"/>
            <p:nvPr/>
          </p:nvSpPr>
          <p:spPr>
            <a:xfrm>
              <a:off x="5086490" y="850020"/>
              <a:ext cx="786486" cy="5730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>
                <a:buClr>
                  <a:srgbClr val="000000"/>
                </a:buClr>
                <a:buSzPts val="3000"/>
              </a:pPr>
              <a:r>
                <a:rPr lang="en-US" sz="2400" spc="300" dirty="0">
                  <a:solidFill>
                    <a:schemeClr val="bg1">
                      <a:alpha val="35021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16" name="Google Shape;65;p15"/>
            <p:cNvSpPr txBox="1"/>
            <p:nvPr/>
          </p:nvSpPr>
          <p:spPr>
            <a:xfrm>
              <a:off x="5707568" y="794866"/>
              <a:ext cx="3019973" cy="36911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>
                <a:lnSpc>
                  <a:spcPts val="2020"/>
                </a:lnSpc>
              </a:pPr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流计算全新发布</a:t>
              </a:r>
              <a:endPara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728287" y="1685141"/>
            <a:ext cx="3890010" cy="624073"/>
            <a:chOff x="5100741" y="1606883"/>
            <a:chExt cx="3890010" cy="624073"/>
          </a:xfrm>
        </p:grpSpPr>
        <p:sp>
          <p:nvSpPr>
            <p:cNvPr id="18" name="Google Shape;193;p38"/>
            <p:cNvSpPr txBox="1"/>
            <p:nvPr/>
          </p:nvSpPr>
          <p:spPr>
            <a:xfrm>
              <a:off x="5100741" y="1657868"/>
              <a:ext cx="786486" cy="5730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>
                <a:buClr>
                  <a:srgbClr val="000000"/>
                </a:buClr>
                <a:buSzPts val="3000"/>
              </a:pPr>
              <a:r>
                <a:rPr lang="en-US" sz="2400" dirty="0">
                  <a:solidFill>
                    <a:schemeClr val="bg1">
                      <a:alpha val="35021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sz="3200" dirty="0">
                <a:solidFill>
                  <a:schemeClr val="bg1">
                    <a:alpha val="35021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Google Shape;65;p15"/>
            <p:cNvSpPr txBox="1"/>
            <p:nvPr/>
          </p:nvSpPr>
          <p:spPr>
            <a:xfrm>
              <a:off x="5707801" y="1606883"/>
              <a:ext cx="3282950" cy="368935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>
                <a:lnSpc>
                  <a:spcPts val="2020"/>
                </a:lnSpc>
              </a:pPr>
              <a:r>
                <a:rPr lang="en-US" altLang="zh-CN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MQTT </a:t>
              </a:r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数据订阅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728287" y="2302860"/>
            <a:ext cx="4079545" cy="630737"/>
            <a:chOff x="5086490" y="2418986"/>
            <a:chExt cx="4079545" cy="630737"/>
          </a:xfrm>
        </p:grpSpPr>
        <p:sp>
          <p:nvSpPr>
            <p:cNvPr id="21" name="Google Shape;193;p38"/>
            <p:cNvSpPr txBox="1"/>
            <p:nvPr/>
          </p:nvSpPr>
          <p:spPr>
            <a:xfrm>
              <a:off x="5086490" y="2476635"/>
              <a:ext cx="786486" cy="5730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>
                <a:buClr>
                  <a:srgbClr val="000000"/>
                </a:buClr>
                <a:buSzPts val="3000"/>
              </a:pPr>
              <a:r>
                <a:rPr lang="en-US" sz="2400" dirty="0">
                  <a:solidFill>
                    <a:schemeClr val="bg1">
                      <a:alpha val="35021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400" dirty="0">
                  <a:solidFill>
                    <a:schemeClr val="bg1">
                      <a:alpha val="35021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sz="3200" dirty="0">
                <a:solidFill>
                  <a:schemeClr val="bg1">
                    <a:alpha val="35021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Google Shape;65;p15"/>
            <p:cNvSpPr txBox="1"/>
            <p:nvPr/>
          </p:nvSpPr>
          <p:spPr>
            <a:xfrm>
              <a:off x="5707568" y="2418986"/>
              <a:ext cx="3458467" cy="36911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>
                <a:lnSpc>
                  <a:spcPts val="2020"/>
                </a:lnSpc>
              </a:pPr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共享存储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728287" y="2953788"/>
            <a:ext cx="3356842" cy="619028"/>
            <a:chOff x="5086490" y="3239973"/>
            <a:chExt cx="3356842" cy="619028"/>
          </a:xfrm>
        </p:grpSpPr>
        <p:sp>
          <p:nvSpPr>
            <p:cNvPr id="28" name="Google Shape;193;p38"/>
            <p:cNvSpPr txBox="1"/>
            <p:nvPr/>
          </p:nvSpPr>
          <p:spPr>
            <a:xfrm>
              <a:off x="5086490" y="3285913"/>
              <a:ext cx="786486" cy="5730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 panose="020B0604020202090204"/>
                <a:buNone/>
                <a:defRPr sz="2800" b="0" i="0" u="none" strike="noStrike" cap="none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>
                <a:buClr>
                  <a:srgbClr val="000000"/>
                </a:buClr>
                <a:buSzPts val="3000"/>
              </a:pPr>
              <a:r>
                <a:rPr lang="en-US" sz="2400" dirty="0">
                  <a:solidFill>
                    <a:schemeClr val="bg1">
                      <a:alpha val="35021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en-US" altLang="zh-CN" sz="2400" dirty="0">
                  <a:solidFill>
                    <a:schemeClr val="bg1">
                      <a:alpha val="35021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sz="3200" dirty="0">
                <a:solidFill>
                  <a:schemeClr val="bg1">
                    <a:alpha val="35021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Google Shape;65;p15"/>
            <p:cNvSpPr txBox="1"/>
            <p:nvPr/>
          </p:nvSpPr>
          <p:spPr>
            <a:xfrm>
              <a:off x="5707568" y="3239973"/>
              <a:ext cx="2735764" cy="369116"/>
            </a:xfrm>
            <a:prstGeom prst="rect">
              <a:avLst/>
            </a:prstGeom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90204"/>
                <a:defRPr sz="14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defRPr>
              </a:lvl9pPr>
            </a:lstStyle>
            <a:p>
              <a:pPr>
                <a:lnSpc>
                  <a:spcPts val="2020"/>
                </a:lnSpc>
              </a:pPr>
              <a:r>
                <a: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其他优化与迭代</a:t>
              </a:r>
              <a:endPara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55">
            <a:extLst>
              <a:ext uri="{FF2B5EF4-FFF2-40B4-BE49-F238E27FC236}">
                <a16:creationId xmlns:a16="http://schemas.microsoft.com/office/drawing/2014/main" id="{C39ED42A-E0AA-F941-BE61-CC2F952F6784}"/>
              </a:ext>
            </a:extLst>
          </p:cNvPr>
          <p:cNvSpPr/>
          <p:nvPr/>
        </p:nvSpPr>
        <p:spPr>
          <a:xfrm>
            <a:off x="526242" y="1136951"/>
            <a:ext cx="3945465" cy="2991677"/>
          </a:xfrm>
          <a:prstGeom prst="roundRect">
            <a:avLst>
              <a:gd name="adj" fmla="val 2132"/>
            </a:avLst>
          </a:prstGeom>
          <a:solidFill>
            <a:schemeClr val="bg1"/>
          </a:solidFill>
          <a:ln w="6350">
            <a:solidFill>
              <a:srgbClr val="051DAA"/>
            </a:solidFill>
          </a:ln>
          <a:effectLst>
            <a:outerShdw dist="50800" dir="3000000" algn="ctr" rotWithShape="0">
              <a:srgbClr val="191AFD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Google Shape;193;p38"/>
          <p:cNvSpPr txBox="1"/>
          <p:nvPr/>
        </p:nvSpPr>
        <p:spPr>
          <a:xfrm>
            <a:off x="526242" y="230204"/>
            <a:ext cx="6898489" cy="5239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ts val="3740"/>
              </a:lnSpc>
              <a:buClr>
                <a:srgbClr val="000000"/>
              </a:buClr>
              <a:buSzPts val="3000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流计算全新发布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</a:t>
            </a:r>
            <a:r>
              <a:rPr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时序数据的流处理需求</a:t>
            </a:r>
            <a:endParaRPr lang="en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F14DA89-5295-F7EC-5AB5-8D0C5B06CBE9}"/>
              </a:ext>
            </a:extLst>
          </p:cNvPr>
          <p:cNvSpPr/>
          <p:nvPr/>
        </p:nvSpPr>
        <p:spPr>
          <a:xfrm>
            <a:off x="630614" y="1627306"/>
            <a:ext cx="766100" cy="306447"/>
          </a:xfrm>
          <a:prstGeom prst="roundRect">
            <a:avLst/>
          </a:prstGeom>
          <a:solidFill>
            <a:srgbClr val="CDEEB7"/>
          </a:solidFill>
          <a:ln>
            <a:solidFill>
              <a:srgbClr val="0041CE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Raw</a:t>
            </a:r>
            <a:r>
              <a:rPr lang="zh-CN" altLang="en-US" sz="1000" dirty="0">
                <a:solidFill>
                  <a:schemeClr val="tx1"/>
                </a:solidFill>
              </a:rPr>
              <a:t> </a:t>
            </a:r>
            <a:r>
              <a:rPr lang="en-US" altLang="zh-CN" sz="1000" dirty="0">
                <a:solidFill>
                  <a:schemeClr val="tx1"/>
                </a:solidFill>
              </a:rPr>
              <a:t>Data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873717A-7AA3-1EEC-9350-A537561492AE}"/>
              </a:ext>
            </a:extLst>
          </p:cNvPr>
          <p:cNvCxnSpPr>
            <a:cxnSpLocks/>
          </p:cNvCxnSpPr>
          <p:nvPr/>
        </p:nvCxnSpPr>
        <p:spPr>
          <a:xfrm flipV="1">
            <a:off x="1396715" y="1780529"/>
            <a:ext cx="628305" cy="2"/>
          </a:xfrm>
          <a:prstGeom prst="straightConnector1">
            <a:avLst/>
          </a:prstGeom>
          <a:ln w="12700">
            <a:headEnd type="none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58DFC920-59BF-9A0F-C904-FE2D9928E9E3}"/>
              </a:ext>
            </a:extLst>
          </p:cNvPr>
          <p:cNvSpPr/>
          <p:nvPr/>
        </p:nvSpPr>
        <p:spPr>
          <a:xfrm>
            <a:off x="2025021" y="1627306"/>
            <a:ext cx="857323" cy="306447"/>
          </a:xfrm>
          <a:prstGeom prst="roundRect">
            <a:avLst/>
          </a:prstGeom>
          <a:solidFill>
            <a:srgbClr val="BBC4FF"/>
          </a:solidFill>
          <a:ln>
            <a:solidFill>
              <a:srgbClr val="0041CE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Clean Data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53BE34F9-3968-3D03-BC66-4DBD06C72BB9}"/>
              </a:ext>
            </a:extLst>
          </p:cNvPr>
          <p:cNvSpPr/>
          <p:nvPr/>
        </p:nvSpPr>
        <p:spPr>
          <a:xfrm>
            <a:off x="3601874" y="1627306"/>
            <a:ext cx="766100" cy="306447"/>
          </a:xfrm>
          <a:prstGeom prst="roundRect">
            <a:avLst/>
          </a:prstGeom>
          <a:solidFill>
            <a:srgbClr val="F4D3BA"/>
          </a:solidFill>
          <a:ln>
            <a:solidFill>
              <a:srgbClr val="0041CE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Agg Data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C47F1C8-274D-047A-9D82-85C3A96AEEA8}"/>
              </a:ext>
            </a:extLst>
          </p:cNvPr>
          <p:cNvCxnSpPr>
            <a:cxnSpLocks/>
          </p:cNvCxnSpPr>
          <p:nvPr/>
        </p:nvCxnSpPr>
        <p:spPr>
          <a:xfrm>
            <a:off x="2882345" y="1780531"/>
            <a:ext cx="719529" cy="0"/>
          </a:xfrm>
          <a:prstGeom prst="straightConnector1">
            <a:avLst/>
          </a:prstGeom>
          <a:ln w="12700">
            <a:headEnd type="none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61775752-53E8-6862-E646-BCB51B641729}"/>
              </a:ext>
            </a:extLst>
          </p:cNvPr>
          <p:cNvSpPr txBox="1"/>
          <p:nvPr/>
        </p:nvSpPr>
        <p:spPr>
          <a:xfrm>
            <a:off x="1374389" y="1531222"/>
            <a:ext cx="6729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/>
              <a:t>Pre Process</a:t>
            </a:r>
            <a:endParaRPr lang="zh-CN" altLang="en-US" sz="8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C4FF4B9A-315F-C5A9-52CB-97FBB6C8F9BA}"/>
              </a:ext>
            </a:extLst>
          </p:cNvPr>
          <p:cNvSpPr txBox="1"/>
          <p:nvPr/>
        </p:nvSpPr>
        <p:spPr>
          <a:xfrm>
            <a:off x="2859058" y="1525904"/>
            <a:ext cx="766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/>
              <a:t>Down Sample</a:t>
            </a:r>
            <a:endParaRPr lang="zh-CN" altLang="en-US" sz="800" dirty="0"/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B84D89EC-7E0C-D163-F528-565352ABFE08}"/>
              </a:ext>
            </a:extLst>
          </p:cNvPr>
          <p:cNvSpPr/>
          <p:nvPr/>
        </p:nvSpPr>
        <p:spPr>
          <a:xfrm>
            <a:off x="1303572" y="2482265"/>
            <a:ext cx="766100" cy="306445"/>
          </a:xfrm>
          <a:prstGeom prst="roundRect">
            <a:avLst/>
          </a:prstGeom>
          <a:solidFill>
            <a:srgbClr val="00B0F0"/>
          </a:solidFill>
          <a:ln>
            <a:solidFill>
              <a:srgbClr val="0041CE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Data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284D612E-8624-01E1-082B-FFB95AEB913C}"/>
              </a:ext>
            </a:extLst>
          </p:cNvPr>
          <p:cNvCxnSpPr>
            <a:cxnSpLocks/>
          </p:cNvCxnSpPr>
          <p:nvPr/>
        </p:nvCxnSpPr>
        <p:spPr>
          <a:xfrm>
            <a:off x="2069672" y="2620131"/>
            <a:ext cx="925519" cy="0"/>
          </a:xfrm>
          <a:prstGeom prst="straightConnector1">
            <a:avLst/>
          </a:prstGeom>
          <a:ln w="12700">
            <a:headEnd type="none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823E6D3C-060F-A2C1-D94D-58E71681FB5A}"/>
              </a:ext>
            </a:extLst>
          </p:cNvPr>
          <p:cNvSpPr/>
          <p:nvPr/>
        </p:nvSpPr>
        <p:spPr>
          <a:xfrm>
            <a:off x="2995191" y="2482265"/>
            <a:ext cx="766100" cy="306438"/>
          </a:xfrm>
          <a:prstGeom prst="roundRect">
            <a:avLst/>
          </a:prstGeom>
          <a:solidFill>
            <a:srgbClr val="E9FAFF"/>
          </a:solidFill>
          <a:ln>
            <a:solidFill>
              <a:srgbClr val="0041CE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App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E0530E3-01DB-1EB3-8E05-CE3B6952D601}"/>
              </a:ext>
            </a:extLst>
          </p:cNvPr>
          <p:cNvSpPr txBox="1"/>
          <p:nvPr/>
        </p:nvSpPr>
        <p:spPr>
          <a:xfrm>
            <a:off x="2025020" y="2329044"/>
            <a:ext cx="9255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/>
              <a:t>Pre Compute</a:t>
            </a:r>
            <a:endParaRPr lang="zh-CN" altLang="en-US" sz="800" dirty="0"/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BFF705BB-3EEA-676F-345F-324A9AF9DE53}"/>
              </a:ext>
            </a:extLst>
          </p:cNvPr>
          <p:cNvSpPr/>
          <p:nvPr/>
        </p:nvSpPr>
        <p:spPr>
          <a:xfrm>
            <a:off x="630614" y="3289203"/>
            <a:ext cx="766100" cy="306438"/>
          </a:xfrm>
          <a:prstGeom prst="roundRect">
            <a:avLst/>
          </a:prstGeom>
          <a:solidFill>
            <a:srgbClr val="00B0F0"/>
          </a:solidFill>
          <a:ln>
            <a:solidFill>
              <a:srgbClr val="0041CE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Data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F728F397-E9A9-2400-8543-6F886422F35E}"/>
              </a:ext>
            </a:extLst>
          </p:cNvPr>
          <p:cNvCxnSpPr>
            <a:cxnSpLocks/>
            <a:endCxn id="83" idx="1"/>
          </p:cNvCxnSpPr>
          <p:nvPr/>
        </p:nvCxnSpPr>
        <p:spPr>
          <a:xfrm flipV="1">
            <a:off x="1396714" y="3442422"/>
            <a:ext cx="615794" cy="1825"/>
          </a:xfrm>
          <a:prstGeom prst="straightConnector1">
            <a:avLst/>
          </a:prstGeom>
          <a:ln w="12700">
            <a:headEnd type="none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圆角矩形 82">
            <a:extLst>
              <a:ext uri="{FF2B5EF4-FFF2-40B4-BE49-F238E27FC236}">
                <a16:creationId xmlns:a16="http://schemas.microsoft.com/office/drawing/2014/main" id="{27F848E3-8314-FF19-4440-AE5EF794AB67}"/>
              </a:ext>
            </a:extLst>
          </p:cNvPr>
          <p:cNvSpPr/>
          <p:nvPr/>
        </p:nvSpPr>
        <p:spPr>
          <a:xfrm>
            <a:off x="2012508" y="3289203"/>
            <a:ext cx="1098387" cy="306438"/>
          </a:xfrm>
          <a:prstGeom prst="roundRect">
            <a:avLst/>
          </a:prstGeom>
          <a:solidFill>
            <a:srgbClr val="F8FFBB"/>
          </a:solidFill>
          <a:ln>
            <a:solidFill>
              <a:srgbClr val="0041CE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Processed</a:t>
            </a:r>
            <a:r>
              <a:rPr lang="zh-CN" altLang="en-US" sz="1100" dirty="0">
                <a:solidFill>
                  <a:schemeClr val="tx1"/>
                </a:solidFill>
              </a:rPr>
              <a:t> </a:t>
            </a:r>
            <a:r>
              <a:rPr lang="en-US" altLang="zh-CN" sz="1100" dirty="0">
                <a:solidFill>
                  <a:schemeClr val="tx1"/>
                </a:solidFill>
              </a:rPr>
              <a:t>Data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5C91384B-9279-49DC-6076-B4A3301917AC}"/>
              </a:ext>
            </a:extLst>
          </p:cNvPr>
          <p:cNvSpPr/>
          <p:nvPr/>
        </p:nvSpPr>
        <p:spPr>
          <a:xfrm>
            <a:off x="3601874" y="3289202"/>
            <a:ext cx="766100" cy="306438"/>
          </a:xfrm>
          <a:prstGeom prst="roundRect">
            <a:avLst/>
          </a:prstGeom>
          <a:solidFill>
            <a:srgbClr val="E9FAFF"/>
          </a:solidFill>
          <a:ln>
            <a:solidFill>
              <a:srgbClr val="0041CE"/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App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B82FD0C0-BE3F-239E-B8AA-F1A20D6EAA79}"/>
              </a:ext>
            </a:extLst>
          </p:cNvPr>
          <p:cNvCxnSpPr>
            <a:cxnSpLocks/>
            <a:stCxn id="83" idx="3"/>
          </p:cNvCxnSpPr>
          <p:nvPr/>
        </p:nvCxnSpPr>
        <p:spPr>
          <a:xfrm>
            <a:off x="3110895" y="3442422"/>
            <a:ext cx="490978" cy="1825"/>
          </a:xfrm>
          <a:prstGeom prst="straightConnector1">
            <a:avLst/>
          </a:prstGeom>
          <a:ln w="12700">
            <a:headEnd type="none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F1E0AAF4-515D-FA68-A4A5-9F444F0BF730}"/>
              </a:ext>
            </a:extLst>
          </p:cNvPr>
          <p:cNvSpPr txBox="1"/>
          <p:nvPr/>
        </p:nvSpPr>
        <p:spPr>
          <a:xfrm>
            <a:off x="1385490" y="3196427"/>
            <a:ext cx="67295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/>
              <a:t>Filter Agg</a:t>
            </a:r>
            <a:endParaRPr lang="zh-CN" altLang="en-US" sz="800" dirty="0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0C22565A-D0B8-4D12-6CE4-A30F2647BB29}"/>
              </a:ext>
            </a:extLst>
          </p:cNvPr>
          <p:cNvSpPr txBox="1"/>
          <p:nvPr/>
        </p:nvSpPr>
        <p:spPr>
          <a:xfrm>
            <a:off x="2940140" y="3198883"/>
            <a:ext cx="766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" dirty="0"/>
              <a:t>Rule</a:t>
            </a:r>
            <a:endParaRPr lang="zh-CN" altLang="en-US" sz="800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CA095AB-6793-DE46-A872-6A614F7A14C7}"/>
              </a:ext>
            </a:extLst>
          </p:cNvPr>
          <p:cNvGrpSpPr/>
          <p:nvPr/>
        </p:nvGrpSpPr>
        <p:grpSpPr>
          <a:xfrm>
            <a:off x="4830934" y="1136951"/>
            <a:ext cx="3779688" cy="914421"/>
            <a:chOff x="4226561" y="1217590"/>
            <a:chExt cx="4415025" cy="914421"/>
          </a:xfrm>
        </p:grpSpPr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D99E8388-D9B0-BF49-88AD-33257EF64204}"/>
                </a:ext>
              </a:extLst>
            </p:cNvPr>
            <p:cNvSpPr/>
            <p:nvPr/>
          </p:nvSpPr>
          <p:spPr>
            <a:xfrm>
              <a:off x="4234897" y="1219602"/>
              <a:ext cx="4361019" cy="912409"/>
            </a:xfrm>
            <a:prstGeom prst="roundRect">
              <a:avLst>
                <a:gd name="adj" fmla="val 2132"/>
              </a:avLst>
            </a:prstGeom>
            <a:solidFill>
              <a:schemeClr val="bg1"/>
            </a:solidFill>
            <a:ln w="6350">
              <a:solidFill>
                <a:srgbClr val="061DAA"/>
              </a:solidFill>
            </a:ln>
            <a:effectLst>
              <a:outerShdw dist="50800" dir="3000000" algn="ctr" rotWithShape="0">
                <a:srgbClr val="191AFD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圆角矩形 33">
              <a:extLst>
                <a:ext uri="{FF2B5EF4-FFF2-40B4-BE49-F238E27FC236}">
                  <a16:creationId xmlns:a16="http://schemas.microsoft.com/office/drawing/2014/main" id="{7285FAC4-3409-9343-AB6C-46D7D3999C31}"/>
                </a:ext>
              </a:extLst>
            </p:cNvPr>
            <p:cNvSpPr/>
            <p:nvPr/>
          </p:nvSpPr>
          <p:spPr>
            <a:xfrm>
              <a:off x="4226561" y="1217590"/>
              <a:ext cx="4415025" cy="314328"/>
            </a:xfrm>
            <a:prstGeom prst="roundRect">
              <a:avLst>
                <a:gd name="adj" fmla="val 13638"/>
              </a:avLst>
            </a:prstGeom>
            <a:solidFill>
              <a:srgbClr val="061DAA"/>
            </a:solidFill>
            <a:ln w="952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kumimoji="1" lang="zh-CN" altLang="en-US" sz="1350">
                <a:solidFill>
                  <a:srgbClr val="191AFD"/>
                </a:solidFill>
              </a:endParaRPr>
            </a:p>
          </p:txBody>
        </p:sp>
        <p:sp>
          <p:nvSpPr>
            <p:cNvPr id="35" name="TextBox 26">
              <a:extLst>
                <a:ext uri="{FF2B5EF4-FFF2-40B4-BE49-F238E27FC236}">
                  <a16:creationId xmlns:a16="http://schemas.microsoft.com/office/drawing/2014/main" id="{C2BE0718-C406-3B45-B0CE-1B1683006C20}"/>
                </a:ext>
              </a:extLst>
            </p:cNvPr>
            <p:cNvSpPr txBox="1"/>
            <p:nvPr/>
          </p:nvSpPr>
          <p:spPr>
            <a:xfrm>
              <a:off x="4359867" y="1224210"/>
              <a:ext cx="4023508" cy="295722"/>
            </a:xfrm>
            <a:prstGeom prst="rect">
              <a:avLst/>
            </a:prstGeom>
            <a:ln w="12700">
              <a:noFill/>
              <a:miter lim="400000"/>
            </a:ln>
          </p:spPr>
          <p:txBody>
            <a:bodyPr wrap="square" lIns="34289" rIns="34289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Case 1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：数据分级存储与智能降采样​​</a:t>
              </a:r>
            </a:p>
          </p:txBody>
        </p:sp>
        <p:sp>
          <p:nvSpPr>
            <p:cNvPr id="36" name="资料带 35">
              <a:extLst>
                <a:ext uri="{FF2B5EF4-FFF2-40B4-BE49-F238E27FC236}">
                  <a16:creationId xmlns:a16="http://schemas.microsoft.com/office/drawing/2014/main" id="{ACF9E041-B871-084C-A231-96F6CF9988D5}"/>
                </a:ext>
              </a:extLst>
            </p:cNvPr>
            <p:cNvSpPr/>
            <p:nvPr/>
          </p:nvSpPr>
          <p:spPr>
            <a:xfrm>
              <a:off x="4262593" y="1522961"/>
              <a:ext cx="4305626" cy="609050"/>
            </a:xfrm>
            <a:prstGeom prst="flowChartPunchedTap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kumimoji="1"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工业设备每秒生成数万条原始数据，若全量存储，则​存储成本激增，​查询效率低下，历史趋势分析响应时间长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1C9EB6A7-C427-4743-A518-543FAFDCBFFB}"/>
              </a:ext>
            </a:extLst>
          </p:cNvPr>
          <p:cNvGrpSpPr/>
          <p:nvPr/>
        </p:nvGrpSpPr>
        <p:grpSpPr>
          <a:xfrm>
            <a:off x="4838070" y="2208641"/>
            <a:ext cx="3779688" cy="914421"/>
            <a:chOff x="4226561" y="1217590"/>
            <a:chExt cx="4415025" cy="914421"/>
          </a:xfrm>
        </p:grpSpPr>
        <p:sp>
          <p:nvSpPr>
            <p:cNvPr id="38" name="圆角矩形 37">
              <a:extLst>
                <a:ext uri="{FF2B5EF4-FFF2-40B4-BE49-F238E27FC236}">
                  <a16:creationId xmlns:a16="http://schemas.microsoft.com/office/drawing/2014/main" id="{324F72EE-070F-8B49-91B9-5B14C05403DD}"/>
                </a:ext>
              </a:extLst>
            </p:cNvPr>
            <p:cNvSpPr/>
            <p:nvPr/>
          </p:nvSpPr>
          <p:spPr>
            <a:xfrm>
              <a:off x="4234897" y="1219602"/>
              <a:ext cx="4361019" cy="912409"/>
            </a:xfrm>
            <a:prstGeom prst="roundRect">
              <a:avLst>
                <a:gd name="adj" fmla="val 2132"/>
              </a:avLst>
            </a:prstGeom>
            <a:solidFill>
              <a:schemeClr val="bg1"/>
            </a:solidFill>
            <a:ln w="6350">
              <a:solidFill>
                <a:srgbClr val="061DAA"/>
              </a:solidFill>
            </a:ln>
            <a:effectLst>
              <a:outerShdw dist="50800" dir="3000000" algn="ctr" rotWithShape="0">
                <a:srgbClr val="191AFD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1" name="圆角矩形 40">
              <a:extLst>
                <a:ext uri="{FF2B5EF4-FFF2-40B4-BE49-F238E27FC236}">
                  <a16:creationId xmlns:a16="http://schemas.microsoft.com/office/drawing/2014/main" id="{D5CC1FD7-7FB6-0747-8B47-DDEAD67ACF7D}"/>
                </a:ext>
              </a:extLst>
            </p:cNvPr>
            <p:cNvSpPr/>
            <p:nvPr/>
          </p:nvSpPr>
          <p:spPr>
            <a:xfrm>
              <a:off x="4226561" y="1217590"/>
              <a:ext cx="4415025" cy="314328"/>
            </a:xfrm>
            <a:prstGeom prst="roundRect">
              <a:avLst>
                <a:gd name="adj" fmla="val 13638"/>
              </a:avLst>
            </a:prstGeom>
            <a:solidFill>
              <a:srgbClr val="061DAA"/>
            </a:solidFill>
            <a:ln w="952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kumimoji="1" lang="zh-CN" altLang="en-US" sz="1350">
                <a:solidFill>
                  <a:srgbClr val="191AFD"/>
                </a:solidFill>
              </a:endParaRPr>
            </a:p>
          </p:txBody>
        </p:sp>
        <p:sp>
          <p:nvSpPr>
            <p:cNvPr id="42" name="TextBox 26">
              <a:extLst>
                <a:ext uri="{FF2B5EF4-FFF2-40B4-BE49-F238E27FC236}">
                  <a16:creationId xmlns:a16="http://schemas.microsoft.com/office/drawing/2014/main" id="{544B97C4-5E88-324C-B3F6-0C098A42C873}"/>
                </a:ext>
              </a:extLst>
            </p:cNvPr>
            <p:cNvSpPr txBox="1"/>
            <p:nvPr/>
          </p:nvSpPr>
          <p:spPr>
            <a:xfrm>
              <a:off x="4351532" y="1224210"/>
              <a:ext cx="4023508" cy="295722"/>
            </a:xfrm>
            <a:prstGeom prst="rect">
              <a:avLst/>
            </a:prstGeom>
            <a:ln w="12700">
              <a:noFill/>
              <a:miter lim="400000"/>
            </a:ln>
          </p:spPr>
          <p:txBody>
            <a:bodyPr wrap="square" lIns="34289" rIns="34289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Case 2</a:t>
              </a:r>
              <a:r>
                <a:rPr lang="zh-CN" altLang="e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预计算加速实时决策​​​</a:t>
              </a:r>
            </a:p>
          </p:txBody>
        </p:sp>
        <p:sp>
          <p:nvSpPr>
            <p:cNvPr id="43" name="资料带 42">
              <a:extLst>
                <a:ext uri="{FF2B5EF4-FFF2-40B4-BE49-F238E27FC236}">
                  <a16:creationId xmlns:a16="http://schemas.microsoft.com/office/drawing/2014/main" id="{31685603-E0FC-7C4E-96D7-897FB448F446}"/>
                </a:ext>
              </a:extLst>
            </p:cNvPr>
            <p:cNvSpPr/>
            <p:nvPr/>
          </p:nvSpPr>
          <p:spPr>
            <a:xfrm>
              <a:off x="4262593" y="1522961"/>
              <a:ext cx="4305626" cy="609050"/>
            </a:xfrm>
            <a:prstGeom prst="flowChartPunchedTap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kumimoji="1"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用户查询全量数据时，可能需扫描百亿级别数据，很难实时获取查询结果，大屏</a:t>
              </a:r>
              <a:r>
                <a:rPr kumimoji="1"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1"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报表产生卡顿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4B1EF1D-6B6E-EA49-950A-E1C04292F0BA}"/>
              </a:ext>
            </a:extLst>
          </p:cNvPr>
          <p:cNvGrpSpPr/>
          <p:nvPr/>
        </p:nvGrpSpPr>
        <p:grpSpPr>
          <a:xfrm>
            <a:off x="4830934" y="3219494"/>
            <a:ext cx="3779688" cy="914421"/>
            <a:chOff x="4226561" y="1217590"/>
            <a:chExt cx="4415025" cy="914421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D7426F4E-A2BC-7846-9378-F69D88AE7276}"/>
                </a:ext>
              </a:extLst>
            </p:cNvPr>
            <p:cNvSpPr/>
            <p:nvPr/>
          </p:nvSpPr>
          <p:spPr>
            <a:xfrm>
              <a:off x="4234897" y="1219602"/>
              <a:ext cx="4361019" cy="912409"/>
            </a:xfrm>
            <a:prstGeom prst="roundRect">
              <a:avLst>
                <a:gd name="adj" fmla="val 2132"/>
              </a:avLst>
            </a:prstGeom>
            <a:solidFill>
              <a:schemeClr val="bg1"/>
            </a:solidFill>
            <a:ln w="6350">
              <a:solidFill>
                <a:srgbClr val="061DAA"/>
              </a:solidFill>
            </a:ln>
            <a:effectLst>
              <a:outerShdw dist="50800" dir="3000000" algn="ctr" rotWithShape="0">
                <a:srgbClr val="191AFD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13FAEACB-FBDE-2F45-89F5-8F9A074C7AEB}"/>
                </a:ext>
              </a:extLst>
            </p:cNvPr>
            <p:cNvSpPr/>
            <p:nvPr/>
          </p:nvSpPr>
          <p:spPr>
            <a:xfrm>
              <a:off x="4226561" y="1217590"/>
              <a:ext cx="4415025" cy="314328"/>
            </a:xfrm>
            <a:prstGeom prst="roundRect">
              <a:avLst>
                <a:gd name="adj" fmla="val 13638"/>
              </a:avLst>
            </a:prstGeom>
            <a:solidFill>
              <a:srgbClr val="061DAA"/>
            </a:solidFill>
            <a:ln w="9525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000" tIns="27000" rIns="27000" bIns="27000" rtlCol="0" anchor="ctr"/>
            <a:lstStyle/>
            <a:p>
              <a:pPr algn="ctr"/>
              <a:endParaRPr kumimoji="1" lang="zh-CN" altLang="en-US" sz="1350">
                <a:solidFill>
                  <a:srgbClr val="191AFD"/>
                </a:solidFill>
              </a:endParaRPr>
            </a:p>
          </p:txBody>
        </p:sp>
        <p:sp>
          <p:nvSpPr>
            <p:cNvPr id="47" name="TextBox 26">
              <a:extLst>
                <a:ext uri="{FF2B5EF4-FFF2-40B4-BE49-F238E27FC236}">
                  <a16:creationId xmlns:a16="http://schemas.microsoft.com/office/drawing/2014/main" id="{F9FEC3DA-E35E-D340-BED3-E969A5C58866}"/>
                </a:ext>
              </a:extLst>
            </p:cNvPr>
            <p:cNvSpPr txBox="1"/>
            <p:nvPr/>
          </p:nvSpPr>
          <p:spPr>
            <a:xfrm>
              <a:off x="4359867" y="1227239"/>
              <a:ext cx="4023508" cy="295722"/>
            </a:xfrm>
            <a:prstGeom prst="rect">
              <a:avLst/>
            </a:prstGeom>
            <a:ln w="12700">
              <a:noFill/>
              <a:miter lim="400000"/>
            </a:ln>
          </p:spPr>
          <p:txBody>
            <a:bodyPr wrap="square" lIns="34289" rIns="34289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Case3</a:t>
              </a:r>
              <a:r>
                <a:rPr lang="zh-CN" altLang="e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异常检测和低延迟告警​​</a:t>
              </a:r>
            </a:p>
          </p:txBody>
        </p:sp>
        <p:sp>
          <p:nvSpPr>
            <p:cNvPr id="48" name="资料带 47">
              <a:extLst>
                <a:ext uri="{FF2B5EF4-FFF2-40B4-BE49-F238E27FC236}">
                  <a16:creationId xmlns:a16="http://schemas.microsoft.com/office/drawing/2014/main" id="{2B082B69-AF97-FC49-AF3F-92FD607D202F}"/>
                </a:ext>
              </a:extLst>
            </p:cNvPr>
            <p:cNvSpPr/>
            <p:nvPr/>
          </p:nvSpPr>
          <p:spPr>
            <a:xfrm>
              <a:off x="4262593" y="1522961"/>
              <a:ext cx="4305626" cy="609050"/>
            </a:xfrm>
            <a:prstGeom prst="flowChartPunchedTap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kumimoji="1"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异常检测、监控报警，需要根据规则低延迟地获取特定数据，传统批处理的延迟通常在分钟级别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82D54-BF0B-2203-31D0-DB8595BB1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>
            <a:extLst>
              <a:ext uri="{FF2B5EF4-FFF2-40B4-BE49-F238E27FC236}">
                <a16:creationId xmlns:a16="http://schemas.microsoft.com/office/drawing/2014/main" id="{336DCD47-A0F4-9F43-876F-40CB61BC2B4B}"/>
              </a:ext>
            </a:extLst>
          </p:cNvPr>
          <p:cNvSpPr/>
          <p:nvPr/>
        </p:nvSpPr>
        <p:spPr>
          <a:xfrm>
            <a:off x="526241" y="1988087"/>
            <a:ext cx="3871867" cy="2444541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CCCC367-5159-9641-B799-5DC71E429E3F}"/>
              </a:ext>
            </a:extLst>
          </p:cNvPr>
          <p:cNvSpPr/>
          <p:nvPr/>
        </p:nvSpPr>
        <p:spPr>
          <a:xfrm>
            <a:off x="526233" y="754176"/>
            <a:ext cx="8183441" cy="663148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625112-A4F4-4A64-FBF5-CEF5ECFE4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961" y="1422754"/>
            <a:ext cx="3676691" cy="1626657"/>
          </a:xfrm>
          <a:prstGeom prst="rect">
            <a:avLst/>
          </a:prstGeom>
        </p:spPr>
      </p:pic>
      <p:sp>
        <p:nvSpPr>
          <p:cNvPr id="2" name="Google Shape;193;p38">
            <a:extLst>
              <a:ext uri="{FF2B5EF4-FFF2-40B4-BE49-F238E27FC236}">
                <a16:creationId xmlns:a16="http://schemas.microsoft.com/office/drawing/2014/main" id="{A37DF508-4506-1D5D-DEEB-358FD731DC75}"/>
              </a:ext>
            </a:extLst>
          </p:cNvPr>
          <p:cNvSpPr txBox="1"/>
          <p:nvPr/>
        </p:nvSpPr>
        <p:spPr>
          <a:xfrm>
            <a:off x="526242" y="230204"/>
            <a:ext cx="6898489" cy="5239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ts val="3740"/>
              </a:lnSpc>
              <a:buClr>
                <a:srgbClr val="000000"/>
              </a:buClr>
              <a:buSzPts val="3000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流计算全新发布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旧版本流计算引擎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1C3733-FEB7-36D5-604B-C15D7CEEA700}"/>
              </a:ext>
            </a:extLst>
          </p:cNvPr>
          <p:cNvSpPr txBox="1"/>
          <p:nvPr/>
        </p:nvSpPr>
        <p:spPr>
          <a:xfrm>
            <a:off x="526241" y="802910"/>
            <a:ext cx="8183433" cy="52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流计算的标准处理流程中，写入 </a:t>
            </a: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Vnode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的数据会​​通过预写日志（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WAL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）实时传递至流计算任务​​，经 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数据分发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并行计算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、​​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结果写回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​​三个主要步骤后，进入到流的目的表。</a:t>
            </a:r>
            <a:endParaRPr lang="zh-CN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3" name="图片 52" descr="图示&#10;&#10;AI 生成的内容可能不正确。">
            <a:extLst>
              <a:ext uri="{FF2B5EF4-FFF2-40B4-BE49-F238E27FC236}">
                <a16:creationId xmlns:a16="http://schemas.microsoft.com/office/drawing/2014/main" id="{C40ED73E-0A6C-0C1F-CE31-86A9EC02F5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750" y="2722891"/>
            <a:ext cx="3095755" cy="1908282"/>
          </a:xfrm>
          <a:prstGeom prst="rect">
            <a:avLst/>
          </a:prstGeom>
        </p:spPr>
      </p:pic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E30D1CB-23BE-C914-FD2C-AAD9F53B7770}"/>
              </a:ext>
            </a:extLst>
          </p:cNvPr>
          <p:cNvCxnSpPr>
            <a:cxnSpLocks/>
          </p:cNvCxnSpPr>
          <p:nvPr/>
        </p:nvCxnSpPr>
        <p:spPr>
          <a:xfrm>
            <a:off x="6894057" y="2343602"/>
            <a:ext cx="0" cy="379289"/>
          </a:xfrm>
          <a:prstGeom prst="straightConnector1">
            <a:avLst/>
          </a:prstGeom>
          <a:ln w="12700">
            <a:headEnd type="none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BBC6951-77F3-E14D-A62C-F89CDBCFFD50}"/>
              </a:ext>
            </a:extLst>
          </p:cNvPr>
          <p:cNvSpPr/>
          <p:nvPr/>
        </p:nvSpPr>
        <p:spPr>
          <a:xfrm>
            <a:off x="4526040" y="1530989"/>
            <a:ext cx="4183642" cy="3258725"/>
          </a:xfrm>
          <a:prstGeom prst="roundRect">
            <a:avLst>
              <a:gd name="adj" fmla="val 9041"/>
            </a:avLst>
          </a:prstGeom>
          <a:noFill/>
          <a:ln>
            <a:solidFill>
              <a:srgbClr val="051D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F1F6C8-E7C9-7D42-AF5E-E815C16D6FD9}"/>
              </a:ext>
            </a:extLst>
          </p:cNvPr>
          <p:cNvSpPr txBox="1"/>
          <p:nvPr/>
        </p:nvSpPr>
        <p:spPr>
          <a:xfrm>
            <a:off x="699007" y="2380610"/>
            <a:ext cx="3547429" cy="21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000" b="1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资源消耗严重：</a:t>
            </a:r>
            <a:r>
              <a:rPr lang="zh-CN" altLang="en-US" sz="1000" dirty="0"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乱序数据、频繁更新、多维分组引发资源消耗指数级增长</a:t>
            </a:r>
            <a:endParaRPr lang="zh-CN" altLang="en-US" sz="10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高可用实现复杂：</a:t>
            </a:r>
            <a:r>
              <a:rPr lang="zh-CN" altLang="en-US" sz="10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高频状态变化导致检查点数据量大，节点同步逻辑复杂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计算资源无法隔离：</a:t>
            </a:r>
            <a:r>
              <a:rPr lang="zh-CN" altLang="en-US" sz="10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触发逻辑与计算任务强耦合​，难以分开部署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zh-CN" altLang="en-US" sz="1000" b="1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查询扩展能力受限：</a:t>
            </a:r>
            <a:r>
              <a:rPr lang="zh-CN" altLang="en-US" sz="10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sym typeface="+mn-ea"/>
              </a:rPr>
              <a:t>驱动对象与计算对象往往统一，计算范围受限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zh-CN" altLang="en-US" sz="10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sym typeface="+mn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4FDCC0-B108-014F-828E-1A7D0290F1A8}"/>
              </a:ext>
            </a:extLst>
          </p:cNvPr>
          <p:cNvSpPr txBox="1"/>
          <p:nvPr/>
        </p:nvSpPr>
        <p:spPr>
          <a:xfrm>
            <a:off x="780610" y="2095859"/>
            <a:ext cx="1986779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旧版本流计算架构的核心挑战</a:t>
            </a:r>
          </a:p>
        </p:txBody>
      </p:sp>
    </p:spTree>
    <p:extLst>
      <p:ext uri="{BB962C8B-B14F-4D97-AF65-F5344CB8AC3E}">
        <p14:creationId xmlns:p14="http://schemas.microsoft.com/office/powerpoint/2010/main" val="363670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5F6C3-BE2B-1B3C-4B8A-2541C81D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>
            <a:extLst>
              <a:ext uri="{FF2B5EF4-FFF2-40B4-BE49-F238E27FC236}">
                <a16:creationId xmlns:a16="http://schemas.microsoft.com/office/drawing/2014/main" id="{A33E9071-6C19-E64D-B906-5BD2B2823E4B}"/>
              </a:ext>
            </a:extLst>
          </p:cNvPr>
          <p:cNvSpPr/>
          <p:nvPr/>
        </p:nvSpPr>
        <p:spPr>
          <a:xfrm>
            <a:off x="524348" y="754151"/>
            <a:ext cx="8183441" cy="295978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Google Shape;193;p38">
            <a:extLst>
              <a:ext uri="{FF2B5EF4-FFF2-40B4-BE49-F238E27FC236}">
                <a16:creationId xmlns:a16="http://schemas.microsoft.com/office/drawing/2014/main" id="{5B2D0929-5381-29FA-0F5C-41CE869D87A1}"/>
              </a:ext>
            </a:extLst>
          </p:cNvPr>
          <p:cNvSpPr txBox="1"/>
          <p:nvPr/>
        </p:nvSpPr>
        <p:spPr>
          <a:xfrm>
            <a:off x="526242" y="230204"/>
            <a:ext cx="6898489" cy="5239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ts val="3740"/>
              </a:lnSpc>
              <a:buClr>
                <a:srgbClr val="000000"/>
              </a:buClr>
              <a:buSzPts val="3000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流计算全新发布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新版本流计算引擎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28CF5F-0D56-10FD-B124-C503D1AB2826}"/>
              </a:ext>
            </a:extLst>
          </p:cNvPr>
          <p:cNvSpPr txBox="1"/>
          <p:nvPr/>
        </p:nvSpPr>
        <p:spPr>
          <a:xfrm>
            <a:off x="524348" y="754151"/>
            <a:ext cx="6744248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触发与计算分离架构，批流一体的实时数据处理新范式，显著降低流计算所需的系统资源占用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C2F50A2-4675-B09B-BA52-E47D1BFF9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78" y="2920005"/>
            <a:ext cx="8181443" cy="1744886"/>
          </a:xfrm>
          <a:prstGeom prst="rect">
            <a:avLst/>
          </a:prstGeom>
        </p:spPr>
      </p:pic>
      <p:sp>
        <p:nvSpPr>
          <p:cNvPr id="9" name="圆角矩形 8">
            <a:extLst>
              <a:ext uri="{FF2B5EF4-FFF2-40B4-BE49-F238E27FC236}">
                <a16:creationId xmlns:a16="http://schemas.microsoft.com/office/drawing/2014/main" id="{49F296A0-4AC9-CE40-B715-A4F97467A86B}"/>
              </a:ext>
            </a:extLst>
          </p:cNvPr>
          <p:cNvSpPr/>
          <p:nvPr/>
        </p:nvSpPr>
        <p:spPr>
          <a:xfrm>
            <a:off x="524348" y="1247495"/>
            <a:ext cx="2455479" cy="1275915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9F64F7-2899-C64D-ADBF-4EA80F7F3279}"/>
              </a:ext>
            </a:extLst>
          </p:cNvPr>
          <p:cNvSpPr txBox="1"/>
          <p:nvPr/>
        </p:nvSpPr>
        <p:spPr>
          <a:xfrm>
            <a:off x="612485" y="1316687"/>
            <a:ext cx="1193334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触发计算解耦​​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35BD78-3701-5648-8112-7A586FAB6E36}"/>
              </a:ext>
            </a:extLst>
          </p:cNvPr>
          <p:cNvSpPr txBox="1"/>
          <p:nvPr/>
        </p:nvSpPr>
        <p:spPr>
          <a:xfrm>
            <a:off x="524348" y="1567714"/>
            <a:ext cx="2316665" cy="898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传统局限：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事件驱动与计算强绑定，单数据源触发，计算逻辑固化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新引擎突破：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触发层与计算层分离，触发表（事件源）≠ 计算表（数据源）</a:t>
            </a: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430F2107-3C35-EC41-9EE6-3646009815F4}"/>
              </a:ext>
            </a:extLst>
          </p:cNvPr>
          <p:cNvSpPr/>
          <p:nvPr/>
        </p:nvSpPr>
        <p:spPr>
          <a:xfrm>
            <a:off x="3388329" y="1247495"/>
            <a:ext cx="2455479" cy="1275915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70A7A9-26EC-E946-AD77-971CB297C52A}"/>
              </a:ext>
            </a:extLst>
          </p:cNvPr>
          <p:cNvSpPr txBox="1"/>
          <p:nvPr/>
        </p:nvSpPr>
        <p:spPr>
          <a:xfrm>
            <a:off x="3476466" y="1316687"/>
            <a:ext cx="1193334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多种驱动机制​​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A3ECD1E-EA01-AD42-BA18-3842C4C2533F}"/>
              </a:ext>
            </a:extLst>
          </p:cNvPr>
          <p:cNvSpPr txBox="1"/>
          <p:nvPr/>
        </p:nvSpPr>
        <p:spPr>
          <a:xfrm>
            <a:off x="3388329" y="1567714"/>
            <a:ext cx="2316665" cy="1106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传统局限：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仅数据写入触发，窗口机制僵化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新引擎突破：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批流一体，事件时间驱动和定时计算，支持数据预过滤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56688AD-8D62-114D-9355-8FC118A1948A}"/>
              </a:ext>
            </a:extLst>
          </p:cNvPr>
          <p:cNvSpPr/>
          <p:nvPr/>
        </p:nvSpPr>
        <p:spPr>
          <a:xfrm>
            <a:off x="6252310" y="1247495"/>
            <a:ext cx="2455479" cy="1275915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754CBA5-3401-4B4B-91AB-8CE3F6CAADF3}"/>
              </a:ext>
            </a:extLst>
          </p:cNvPr>
          <p:cNvSpPr txBox="1"/>
          <p:nvPr/>
        </p:nvSpPr>
        <p:spPr>
          <a:xfrm>
            <a:off x="6340447" y="1316687"/>
            <a:ext cx="1193334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全局计算自由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9B8B4D0-13E6-A34D-843E-32E781F56932}"/>
              </a:ext>
            </a:extLst>
          </p:cNvPr>
          <p:cNvSpPr txBox="1"/>
          <p:nvPr/>
        </p:nvSpPr>
        <p:spPr>
          <a:xfrm>
            <a:off x="6252310" y="1567714"/>
            <a:ext cx="2316665" cy="1106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传统局限：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计算绑定触发表，查询范围受限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新引擎突破：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计算资源池化，任意 </a:t>
            </a:r>
            <a:r>
              <a:rPr lang="e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 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查询，支持回写与通知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63E2F9B6-62B1-1F46-9EFE-FFF0BCA118BC}"/>
              </a:ext>
            </a:extLst>
          </p:cNvPr>
          <p:cNvSpPr/>
          <p:nvPr/>
        </p:nvSpPr>
        <p:spPr>
          <a:xfrm>
            <a:off x="524348" y="2722639"/>
            <a:ext cx="8181443" cy="2000250"/>
          </a:xfrm>
          <a:prstGeom prst="roundRect">
            <a:avLst>
              <a:gd name="adj" fmla="val 9041"/>
            </a:avLst>
          </a:prstGeom>
          <a:noFill/>
          <a:ln>
            <a:solidFill>
              <a:srgbClr val="051D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844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D86B-F8E7-8338-80A5-EA50F04B6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3;p38">
            <a:extLst>
              <a:ext uri="{FF2B5EF4-FFF2-40B4-BE49-F238E27FC236}">
                <a16:creationId xmlns:a16="http://schemas.microsoft.com/office/drawing/2014/main" id="{65B44C10-222B-6675-3242-5C9E2B490B44}"/>
              </a:ext>
            </a:extLst>
          </p:cNvPr>
          <p:cNvSpPr txBox="1"/>
          <p:nvPr/>
        </p:nvSpPr>
        <p:spPr>
          <a:xfrm>
            <a:off x="526242" y="230204"/>
            <a:ext cx="6898489" cy="5239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ts val="3740"/>
              </a:lnSpc>
              <a:buClr>
                <a:srgbClr val="000000"/>
              </a:buClr>
              <a:buSzPts val="3000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流计算全新发布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功能特性</a:t>
            </a:r>
            <a:endParaRPr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0D6183F9-3A44-13BD-E44A-09622531C987}"/>
              </a:ext>
            </a:extLst>
          </p:cNvPr>
          <p:cNvGrpSpPr/>
          <p:nvPr/>
        </p:nvGrpSpPr>
        <p:grpSpPr>
          <a:xfrm>
            <a:off x="468313" y="1033551"/>
            <a:ext cx="3342965" cy="1464920"/>
            <a:chOff x="468313" y="1106830"/>
            <a:chExt cx="3342965" cy="1464920"/>
          </a:xfrm>
        </p:grpSpPr>
        <p:sp>
          <p:nvSpPr>
            <p:cNvPr id="10" name="圆角矩形 62">
              <a:extLst>
                <a:ext uri="{FF2B5EF4-FFF2-40B4-BE49-F238E27FC236}">
                  <a16:creationId xmlns:a16="http://schemas.microsoft.com/office/drawing/2014/main" id="{A13B9961-FB8F-5B5C-3DD3-1F5C88222B8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468313" y="1106830"/>
              <a:ext cx="3342965" cy="1464920"/>
            </a:xfrm>
            <a:prstGeom prst="roundRect">
              <a:avLst>
                <a:gd name="adj" fmla="val 2132"/>
              </a:avLst>
            </a:prstGeom>
            <a:solidFill>
              <a:schemeClr val="bg1"/>
            </a:solidFill>
            <a:ln w="6350">
              <a:solidFill>
                <a:srgbClr val="061DAA"/>
              </a:solidFill>
            </a:ln>
            <a:effectLst>
              <a:outerShdw dist="50800" dir="3000000" algn="ctr" rotWithShape="0">
                <a:srgbClr val="191AFD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1" name="直线连接符 63">
              <a:extLst>
                <a:ext uri="{FF2B5EF4-FFF2-40B4-BE49-F238E27FC236}">
                  <a16:creationId xmlns:a16="http://schemas.microsoft.com/office/drawing/2014/main" id="{5A467A0A-03DF-C353-C783-571E8D746455}"/>
                </a:ext>
              </a:extLst>
            </p:cNvPr>
            <p:cNvCxnSpPr/>
            <p:nvPr>
              <p:custDataLst>
                <p:tags r:id="rId24"/>
              </p:custDataLst>
            </p:nvPr>
          </p:nvCxnSpPr>
          <p:spPr>
            <a:xfrm>
              <a:off x="583510" y="1513217"/>
              <a:ext cx="3080305" cy="0"/>
            </a:xfrm>
            <a:prstGeom prst="line">
              <a:avLst/>
            </a:prstGeom>
            <a:ln w="6350" cmpd="sng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5">
              <a:extLst>
                <a:ext uri="{FF2B5EF4-FFF2-40B4-BE49-F238E27FC236}">
                  <a16:creationId xmlns:a16="http://schemas.microsoft.com/office/drawing/2014/main" id="{BE21DE0E-80F8-5639-8C22-BCFFA094B43F}"/>
                </a:ext>
              </a:extLst>
            </p:cNvPr>
            <p:cNvSpPr txBox="1"/>
            <p:nvPr>
              <p:custDataLst>
                <p:tags r:id="rId25"/>
              </p:custDataLst>
            </p:nvPr>
          </p:nvSpPr>
          <p:spPr>
            <a:xfrm>
              <a:off x="582835" y="1515847"/>
              <a:ext cx="2691130" cy="9477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2095" tIns="12095" rIns="12095" bIns="12095" numCol="1" spcCol="38100" rtlCol="0" anchor="ctr">
              <a:spAutoFit/>
            </a:bodyPr>
            <a:lstStyle/>
            <a:p>
              <a:pPr marL="214630" indent="-21463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定时触发：系统时间驱动、连续查询</a:t>
              </a:r>
              <a:endPara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214630" indent="-21463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滑动触发：事件时间驱动</a:t>
              </a:r>
              <a:endPara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214630" indent="-21463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窗口触发：时间、会话、事件、状态、计数</a:t>
              </a:r>
              <a:endPara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214630" indent="-21463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触发分组：子表、标签、虚拟表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483754A0-8B95-E048-229C-617B7ED4083B}"/>
                </a:ext>
              </a:extLst>
            </p:cNvPr>
            <p:cNvSpPr txBox="1"/>
            <p:nvPr>
              <p:custDataLst>
                <p:tags r:id="rId26"/>
              </p:custDataLst>
            </p:nvPr>
          </p:nvSpPr>
          <p:spPr>
            <a:xfrm>
              <a:off x="504127" y="1196681"/>
              <a:ext cx="2620712" cy="275590"/>
            </a:xfrm>
            <a:prstGeom prst="rect">
              <a:avLst/>
            </a:prstGeom>
            <a:noFill/>
            <a:ln w="12700">
              <a:noFill/>
              <a:miter lim="4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solidFill>
                    <a:srgbClr val="061D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触发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8A2A45F-9A9F-FC03-252D-AA1B11E269FA}"/>
              </a:ext>
            </a:extLst>
          </p:cNvPr>
          <p:cNvGrpSpPr/>
          <p:nvPr/>
        </p:nvGrpSpPr>
        <p:grpSpPr>
          <a:xfrm>
            <a:off x="5333494" y="1036569"/>
            <a:ext cx="3342965" cy="1464920"/>
            <a:chOff x="5333494" y="1109848"/>
            <a:chExt cx="3342965" cy="1464920"/>
          </a:xfrm>
        </p:grpSpPr>
        <p:sp>
          <p:nvSpPr>
            <p:cNvPr id="15" name="圆角矩形 47">
              <a:extLst>
                <a:ext uri="{FF2B5EF4-FFF2-40B4-BE49-F238E27FC236}">
                  <a16:creationId xmlns:a16="http://schemas.microsoft.com/office/drawing/2014/main" id="{349A0557-EBFA-55C0-2C7D-588A9FAF8755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5333494" y="1109848"/>
              <a:ext cx="3342965" cy="1464920"/>
            </a:xfrm>
            <a:prstGeom prst="roundRect">
              <a:avLst>
                <a:gd name="adj" fmla="val 2132"/>
              </a:avLst>
            </a:prstGeom>
            <a:solidFill>
              <a:schemeClr val="bg1"/>
            </a:solidFill>
            <a:ln w="6350">
              <a:solidFill>
                <a:srgbClr val="061DAA"/>
              </a:solidFill>
            </a:ln>
            <a:effectLst>
              <a:outerShdw dist="50800" dir="3000000" algn="ctr" rotWithShape="0">
                <a:srgbClr val="191AFD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53E5132-2C3E-B7E3-30C0-A753CF49E86B}"/>
                </a:ext>
              </a:extLst>
            </p:cNvPr>
            <p:cNvGrpSpPr/>
            <p:nvPr/>
          </p:nvGrpSpPr>
          <p:grpSpPr>
            <a:xfrm>
              <a:off x="5832001" y="1201343"/>
              <a:ext cx="2781559" cy="1316001"/>
              <a:chOff x="7899291" y="1471160"/>
              <a:chExt cx="3708746" cy="1754670"/>
            </a:xfrm>
          </p:grpSpPr>
          <p:cxnSp>
            <p:nvCxnSpPr>
              <p:cNvPr id="18" name="直线连接符 52">
                <a:extLst>
                  <a:ext uri="{FF2B5EF4-FFF2-40B4-BE49-F238E27FC236}">
                    <a16:creationId xmlns:a16="http://schemas.microsoft.com/office/drawing/2014/main" id="{B5E52EC3-64C3-83D5-E44C-DA11CC57B65A}"/>
                  </a:ext>
                </a:extLst>
              </p:cNvPr>
              <p:cNvCxnSpPr/>
              <p:nvPr>
                <p:custDataLst>
                  <p:tags r:id="rId20"/>
                </p:custDataLst>
              </p:nvPr>
            </p:nvCxnSpPr>
            <p:spPr>
              <a:xfrm flipV="1">
                <a:off x="8002027" y="1886991"/>
                <a:ext cx="3606010" cy="1"/>
              </a:xfrm>
              <a:prstGeom prst="line">
                <a:avLst/>
              </a:prstGeom>
              <a:ln w="6350" cmpd="sng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5">
                <a:extLst>
                  <a:ext uri="{FF2B5EF4-FFF2-40B4-BE49-F238E27FC236}">
                    <a16:creationId xmlns:a16="http://schemas.microsoft.com/office/drawing/2014/main" id="{B21C4DFC-BAD0-EFED-BC16-90CFA9A68F77}"/>
                  </a:ext>
                </a:extLst>
              </p:cNvPr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8002027" y="1900599"/>
                <a:ext cx="3573770" cy="13252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12095" tIns="12095" rIns="12095" bIns="12095" numCol="1" spcCol="38100" rtlCol="0" anchor="ctr">
                <a:spAutoFit/>
              </a:bodyPr>
              <a:lstStyle/>
              <a:p>
                <a:pPr marL="214630" indent="-21463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0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支持多个控制选项，降低数据乱序、更新、删除对触发的影响，支持重新计算</a:t>
                </a:r>
                <a:endPara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marL="214630" indent="-21463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0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支持在触发前对数据进行过滤</a:t>
                </a:r>
                <a:endParaRPr lang="en-US" altLang="zh-CN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endParaRPr>
              </a:p>
              <a:p>
                <a:pPr marL="214630" indent="-21463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05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支持在窗口关闭时提前输出结果</a:t>
                </a:r>
                <a:endParaRPr lang="zh-CN" altLang="en-US" sz="105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16E89C5F-8EE6-F5A6-0A67-2167874F13F8}"/>
                  </a:ext>
                </a:extLst>
              </p:cNvPr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7899291" y="1471160"/>
                <a:ext cx="3700274" cy="367453"/>
              </a:xfrm>
              <a:prstGeom prst="rect">
                <a:avLst/>
              </a:prstGeom>
              <a:noFill/>
              <a:ln w="12700">
                <a:noFill/>
                <a:miter lim="400000"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1200" dirty="0">
                    <a:solidFill>
                      <a:srgbClr val="061DA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</a:t>
                </a:r>
              </a:p>
            </p:txBody>
          </p:sp>
        </p:grpSp>
      </p:grpSp>
      <p:sp>
        <p:nvSpPr>
          <p:cNvPr id="21" name="圆角矩形 42">
            <a:extLst>
              <a:ext uri="{FF2B5EF4-FFF2-40B4-BE49-F238E27FC236}">
                <a16:creationId xmlns:a16="http://schemas.microsoft.com/office/drawing/2014/main" id="{5BBBA369-092A-B375-86EB-D32ED24E527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333494" y="2836291"/>
            <a:ext cx="3342965" cy="1464920"/>
          </a:xfrm>
          <a:prstGeom prst="roundRect">
            <a:avLst>
              <a:gd name="adj" fmla="val 2132"/>
            </a:avLst>
          </a:prstGeom>
          <a:solidFill>
            <a:schemeClr val="bg1"/>
          </a:solidFill>
          <a:ln w="6350">
            <a:solidFill>
              <a:srgbClr val="061DAA"/>
            </a:solidFill>
          </a:ln>
          <a:effectLst>
            <a:outerShdw dist="50800" dir="3000000" algn="ctr" rotWithShape="0">
              <a:srgbClr val="191AFD">
                <a:alpha val="25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9CE98B4-6955-F94E-3852-28A6A2A7E2DF}"/>
              </a:ext>
            </a:extLst>
          </p:cNvPr>
          <p:cNvGrpSpPr/>
          <p:nvPr/>
        </p:nvGrpSpPr>
        <p:grpSpPr>
          <a:xfrm>
            <a:off x="468313" y="2833273"/>
            <a:ext cx="3342965" cy="1464920"/>
            <a:chOff x="468313" y="2906552"/>
            <a:chExt cx="3342965" cy="1464920"/>
          </a:xfrm>
        </p:grpSpPr>
        <p:sp>
          <p:nvSpPr>
            <p:cNvPr id="23" name="圆角矩形 38">
              <a:extLst>
                <a:ext uri="{FF2B5EF4-FFF2-40B4-BE49-F238E27FC236}">
                  <a16:creationId xmlns:a16="http://schemas.microsoft.com/office/drawing/2014/main" id="{1C3A6C9E-1D76-886A-7E84-30678D3F88B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68313" y="2906552"/>
              <a:ext cx="3342965" cy="1464920"/>
            </a:xfrm>
            <a:prstGeom prst="roundRect">
              <a:avLst>
                <a:gd name="adj" fmla="val 2132"/>
              </a:avLst>
            </a:prstGeom>
            <a:solidFill>
              <a:schemeClr val="bg1"/>
            </a:solidFill>
            <a:ln w="6350">
              <a:solidFill>
                <a:srgbClr val="061DAA"/>
              </a:solidFill>
            </a:ln>
            <a:effectLst>
              <a:outerShdw dist="50800" dir="3000000" algn="ctr" rotWithShape="0">
                <a:srgbClr val="191AFD">
                  <a:alpha val="2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4" name="文本框 5">
              <a:extLst>
                <a:ext uri="{FF2B5EF4-FFF2-40B4-BE49-F238E27FC236}">
                  <a16:creationId xmlns:a16="http://schemas.microsoft.com/office/drawing/2014/main" id="{0072A3C7-2C70-DD02-6524-C12D9A78B55B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577126" y="3370672"/>
              <a:ext cx="2816148" cy="7169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12095" tIns="12095" rIns="12095" bIns="12095" numCol="1" spcCol="38100" rtlCol="0" anchor="ctr">
              <a:spAutoFit/>
            </a:bodyPr>
            <a:lstStyle/>
            <a:p>
              <a:pPr marL="214630" indent="-21463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每个分组对应一个单独的流计算</a:t>
              </a:r>
              <a:endPara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214630" indent="-21463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支持任意查询，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SQL 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自由度高，可跨库表</a:t>
              </a:r>
              <a:endPara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marL="214630" indent="-214630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通过占位符引用触发时的关键参数和数据</a:t>
              </a:r>
              <a:endPara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F2B4705-F27D-6BC1-5C89-49DA36619EB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545023" y="2996284"/>
              <a:ext cx="2999094" cy="275590"/>
            </a:xfrm>
            <a:prstGeom prst="rect">
              <a:avLst/>
            </a:prstGeom>
            <a:noFill/>
            <a:ln w="12700">
              <a:noFill/>
              <a:miter lim="400000"/>
            </a:ln>
          </p:spPr>
          <p:txBody>
            <a:bodyPr wrap="square">
              <a:spAutoFit/>
            </a:bodyPr>
            <a:lstStyle/>
            <a:p>
              <a:r>
                <a:rPr lang="zh-CN" altLang="en-US" sz="1200" dirty="0">
                  <a:solidFill>
                    <a:srgbClr val="061DA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计算</a:t>
              </a:r>
            </a:p>
          </p:txBody>
        </p:sp>
        <p:cxnSp>
          <p:nvCxnSpPr>
            <p:cNvPr id="26" name="直线连接符 41">
              <a:extLst>
                <a:ext uri="{FF2B5EF4-FFF2-40B4-BE49-F238E27FC236}">
                  <a16:creationId xmlns:a16="http://schemas.microsoft.com/office/drawing/2014/main" id="{6F0B50AD-4074-775F-DE7E-DC1EEA11B37F}"/>
                </a:ext>
              </a:extLst>
            </p:cNvPr>
            <p:cNvCxnSpPr/>
            <p:nvPr>
              <p:custDataLst>
                <p:tags r:id="rId18"/>
              </p:custDataLst>
            </p:nvPr>
          </p:nvCxnSpPr>
          <p:spPr>
            <a:xfrm>
              <a:off x="583669" y="3305837"/>
              <a:ext cx="3112251" cy="0"/>
            </a:xfrm>
            <a:prstGeom prst="line">
              <a:avLst/>
            </a:prstGeom>
            <a:ln w="6350" cmpd="sng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饼形 18">
            <a:extLst>
              <a:ext uri="{FF2B5EF4-FFF2-40B4-BE49-F238E27FC236}">
                <a16:creationId xmlns:a16="http://schemas.microsoft.com/office/drawing/2014/main" id="{E2411CFE-58CD-B56C-AFC5-2D1C0A36E0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11242" y="1400400"/>
            <a:ext cx="2520003" cy="2520000"/>
          </a:xfrm>
          <a:prstGeom prst="pie">
            <a:avLst>
              <a:gd name="adj1" fmla="val 10786967"/>
              <a:gd name="adj2" fmla="val 16200000"/>
            </a:avLst>
          </a:prstGeom>
          <a:solidFill>
            <a:srgbClr val="061DA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线连接符 66">
            <a:extLst>
              <a:ext uri="{FF2B5EF4-FFF2-40B4-BE49-F238E27FC236}">
                <a16:creationId xmlns:a16="http://schemas.microsoft.com/office/drawing/2014/main" id="{B404BB7F-3BE5-967A-D641-3DD659517C7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 flipV="1">
            <a:off x="5909053" y="3240695"/>
            <a:ext cx="2704507" cy="1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5">
            <a:extLst>
              <a:ext uri="{FF2B5EF4-FFF2-40B4-BE49-F238E27FC236}">
                <a16:creationId xmlns:a16="http://schemas.microsoft.com/office/drawing/2014/main" id="{859D15B4-424C-2E63-6983-070B27B5BEA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909053" y="3240695"/>
            <a:ext cx="2680327" cy="9939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2095" tIns="12095" rIns="12095" bIns="12095" numCol="1" spcCol="38100" rtlCol="0" anchor="ctr">
            <a:spAutoFit/>
          </a:bodyPr>
          <a:lstStyle/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计算结果默认会保存到输出表，可以指定每个触发分组的计算输出表名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支持通过 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WebSocket 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协议发送事件通知到应用，消息体为 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JSON 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格式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6946F76-3FEF-881E-2013-B95A5C99805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5832001" y="2928822"/>
            <a:ext cx="2775205" cy="275590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61D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4BA51CB6-CCB8-B0C7-70A9-B21ED26B053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3777679" y="1887884"/>
            <a:ext cx="671759" cy="556181"/>
          </a:xfrm>
          <a:prstGeom prst="rect">
            <a:avLst/>
          </a:prstGeom>
        </p:spPr>
      </p:pic>
      <p:sp>
        <p:nvSpPr>
          <p:cNvPr id="32" name="饼形 70">
            <a:extLst>
              <a:ext uri="{FF2B5EF4-FFF2-40B4-BE49-F238E27FC236}">
                <a16:creationId xmlns:a16="http://schemas.microsoft.com/office/drawing/2014/main" id="{0CD6E3FC-591A-7B76-59FA-31B0DEA1F406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 rot="5400000">
            <a:off x="3313222" y="1400399"/>
            <a:ext cx="2520003" cy="2520000"/>
          </a:xfrm>
          <a:prstGeom prst="pie">
            <a:avLst>
              <a:gd name="adj1" fmla="val 10786967"/>
              <a:gd name="adj2" fmla="val 16200000"/>
            </a:avLst>
          </a:prstGeom>
          <a:solidFill>
            <a:srgbClr val="061DA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03D23078-75CC-2C43-CC56-8D89D365753B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4819019" y="1929695"/>
            <a:ext cx="504347" cy="475085"/>
          </a:xfrm>
          <a:prstGeom prst="rect">
            <a:avLst/>
          </a:prstGeom>
        </p:spPr>
      </p:pic>
      <p:sp>
        <p:nvSpPr>
          <p:cNvPr id="34" name="饼形 71">
            <a:extLst>
              <a:ext uri="{FF2B5EF4-FFF2-40B4-BE49-F238E27FC236}">
                <a16:creationId xmlns:a16="http://schemas.microsoft.com/office/drawing/2014/main" id="{23648172-876A-F6A0-8A45-7C23E0D2974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 rot="16200000">
            <a:off x="3309721" y="1400396"/>
            <a:ext cx="2520000" cy="2520000"/>
          </a:xfrm>
          <a:prstGeom prst="pie">
            <a:avLst>
              <a:gd name="adj1" fmla="val 10786967"/>
              <a:gd name="adj2" fmla="val 16200000"/>
            </a:avLst>
          </a:prstGeom>
          <a:solidFill>
            <a:srgbClr val="061DA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8BC6C59-17F5-7495-36A4-F834488D3E2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3837432" y="2812749"/>
            <a:ext cx="572726" cy="572726"/>
          </a:xfrm>
          <a:prstGeom prst="rect">
            <a:avLst/>
          </a:prstGeom>
        </p:spPr>
      </p:pic>
      <p:sp>
        <p:nvSpPr>
          <p:cNvPr id="36" name="饼形 69">
            <a:extLst>
              <a:ext uri="{FF2B5EF4-FFF2-40B4-BE49-F238E27FC236}">
                <a16:creationId xmlns:a16="http://schemas.microsoft.com/office/drawing/2014/main" id="{6D53DCD8-238C-975E-E5C2-013E9120A51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 rot="10800000">
            <a:off x="3311245" y="1400400"/>
            <a:ext cx="2520000" cy="2520000"/>
          </a:xfrm>
          <a:prstGeom prst="pie">
            <a:avLst>
              <a:gd name="adj1" fmla="val 10786967"/>
              <a:gd name="adj2" fmla="val 16200000"/>
            </a:avLst>
          </a:prstGeom>
          <a:solidFill>
            <a:srgbClr val="061DAA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FCCF17B-7716-9B3D-BA38-8D0482D44A1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4819019" y="2900741"/>
            <a:ext cx="504347" cy="421946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6DC64868-7FDE-9111-5C36-22125D80F41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26489" y="1370409"/>
            <a:ext cx="91023" cy="2593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50792DB-5821-8076-9742-B6CBD882AE1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 rot="5400000">
            <a:off x="4526489" y="1370412"/>
            <a:ext cx="91023" cy="2593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378709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8055F-A925-AF00-1022-B4A963B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3;p38">
            <a:extLst>
              <a:ext uri="{FF2B5EF4-FFF2-40B4-BE49-F238E27FC236}">
                <a16:creationId xmlns:a16="http://schemas.microsoft.com/office/drawing/2014/main" id="{678ECB4B-3F53-35AA-34DB-8B81DEED73F2}"/>
              </a:ext>
            </a:extLst>
          </p:cNvPr>
          <p:cNvSpPr txBox="1"/>
          <p:nvPr/>
        </p:nvSpPr>
        <p:spPr>
          <a:xfrm>
            <a:off x="526242" y="230204"/>
            <a:ext cx="6898489" cy="5239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ts val="3740"/>
              </a:lnSpc>
              <a:buClr>
                <a:srgbClr val="000000"/>
              </a:buClr>
              <a:buSzPts val="3000"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MQTT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订阅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业务价值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3BC57D-D7DC-D689-099F-7AAF3519A7AA}"/>
              </a:ext>
            </a:extLst>
          </p:cNvPr>
          <p:cNvSpPr txBox="1"/>
          <p:nvPr/>
        </p:nvSpPr>
        <p:spPr>
          <a:xfrm>
            <a:off x="526241" y="2614771"/>
            <a:ext cx="7735124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以智能工厂的业务场景为例，部署效率显著提高，更容易从开发者视角转向业务视角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68446ED-E8D5-7F44-AA22-A62D76866402}"/>
              </a:ext>
            </a:extLst>
          </p:cNvPr>
          <p:cNvSpPr/>
          <p:nvPr/>
        </p:nvSpPr>
        <p:spPr>
          <a:xfrm>
            <a:off x="526241" y="754151"/>
            <a:ext cx="8183441" cy="295978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FFA40DE-88F0-B74F-9175-F014DB9C7ED4}"/>
              </a:ext>
            </a:extLst>
          </p:cNvPr>
          <p:cNvSpPr txBox="1"/>
          <p:nvPr/>
        </p:nvSpPr>
        <p:spPr>
          <a:xfrm>
            <a:off x="526241" y="754151"/>
            <a:ext cx="6744248" cy="29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TDengine</a:t>
            </a:r>
            <a:r>
              <a:rPr lang="e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的数据订阅支持 </a:t>
            </a:r>
            <a:r>
              <a:rPr lang="e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MQTT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协议后，带来如下业务价值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FA2CE83-9587-5241-8C56-034B1BCD8939}"/>
              </a:ext>
            </a:extLst>
          </p:cNvPr>
          <p:cNvSpPr/>
          <p:nvPr/>
        </p:nvSpPr>
        <p:spPr>
          <a:xfrm>
            <a:off x="526241" y="1280777"/>
            <a:ext cx="3919013" cy="1100721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74DAE78-77FC-4541-B45B-94D3453A358C}"/>
              </a:ext>
            </a:extLst>
          </p:cNvPr>
          <p:cNvSpPr txBox="1"/>
          <p:nvPr/>
        </p:nvSpPr>
        <p:spPr>
          <a:xfrm>
            <a:off x="614378" y="1349969"/>
            <a:ext cx="921814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零代码集成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C5C9337-E8BA-B443-990E-FE37F8F043C6}"/>
              </a:ext>
            </a:extLst>
          </p:cNvPr>
          <p:cNvSpPr txBox="1"/>
          <p:nvPr/>
        </p:nvSpPr>
        <p:spPr>
          <a:xfrm>
            <a:off x="526241" y="1600996"/>
            <a:ext cx="3850687" cy="69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原数据订阅接口​​类似 </a:t>
            </a:r>
            <a:r>
              <a:rPr lang="e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Kafka 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编码实现复杂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MQTT 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为工业协议的事实标准，新接口能够显著降低系统集成复杂度，实现基础设施无缝融合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545EAAB5-BF5F-7045-86B8-F0332015CD10}"/>
              </a:ext>
            </a:extLst>
          </p:cNvPr>
          <p:cNvSpPr/>
          <p:nvPr/>
        </p:nvSpPr>
        <p:spPr>
          <a:xfrm>
            <a:off x="4790669" y="1280777"/>
            <a:ext cx="3919013" cy="1100721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C045DA8-00E4-634D-B234-FA4FE49987AF}"/>
              </a:ext>
            </a:extLst>
          </p:cNvPr>
          <p:cNvSpPr txBox="1"/>
          <p:nvPr/>
        </p:nvSpPr>
        <p:spPr>
          <a:xfrm>
            <a:off x="4878806" y="1349969"/>
            <a:ext cx="1439470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数据持久化与高可用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D01E283-794E-AD4A-80C5-67B8EDD04EAF}"/>
              </a:ext>
            </a:extLst>
          </p:cNvPr>
          <p:cNvSpPr txBox="1"/>
          <p:nvPr/>
        </p:nvSpPr>
        <p:spPr>
          <a:xfrm>
            <a:off x="4790669" y="1600996"/>
            <a:ext cx="3919013" cy="69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" altLang="zh-CN" sz="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TDengine</a:t>
            </a:r>
            <a:r>
              <a:rPr lang="e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数据订阅实现，继承消息队列的全部特性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通过共享订阅、消费组、多副本功能的结合，共同保证整个数据链条的高可用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BF1F259E-C9F2-5344-A66A-58932C088621}"/>
              </a:ext>
            </a:extLst>
          </p:cNvPr>
          <p:cNvGrpSpPr/>
          <p:nvPr/>
        </p:nvGrpSpPr>
        <p:grpSpPr>
          <a:xfrm>
            <a:off x="749875" y="3376819"/>
            <a:ext cx="7644249" cy="998959"/>
            <a:chOff x="526240" y="3171732"/>
            <a:chExt cx="7644249" cy="998959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A04D2A13-4EF3-B54A-9AAE-80A2966A08A9}"/>
                </a:ext>
              </a:extLst>
            </p:cNvPr>
            <p:cNvSpPr/>
            <p:nvPr/>
          </p:nvSpPr>
          <p:spPr>
            <a:xfrm>
              <a:off x="526240" y="3493008"/>
              <a:ext cx="900000" cy="360000"/>
            </a:xfrm>
            <a:prstGeom prst="rect">
              <a:avLst/>
            </a:prstGeom>
            <a:solidFill>
              <a:srgbClr val="CDEEB7"/>
            </a:solidFill>
            <a:ln>
              <a:solidFill>
                <a:srgbClr val="0041CE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</a:rPr>
                <a:t>PLC</a:t>
              </a:r>
              <a:r>
                <a:rPr lang="zh-CN" altLang="en-US" sz="1000" dirty="0">
                  <a:solidFill>
                    <a:schemeClr val="tx1"/>
                  </a:solidFill>
                </a:rPr>
                <a:t> 设备</a:t>
              </a:r>
            </a:p>
          </p:txBody>
        </p:sp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91D3CA90-B3C0-9543-8F9E-837ED42C20E5}"/>
                </a:ext>
              </a:extLst>
            </p:cNvPr>
            <p:cNvSpPr/>
            <p:nvPr/>
          </p:nvSpPr>
          <p:spPr>
            <a:xfrm>
              <a:off x="2823742" y="3490983"/>
              <a:ext cx="900000" cy="360000"/>
            </a:xfrm>
            <a:prstGeom prst="roundRect">
              <a:avLst/>
            </a:prstGeom>
            <a:solidFill>
              <a:srgbClr val="0041CE"/>
            </a:solidFill>
            <a:ln>
              <a:solidFill>
                <a:srgbClr val="0041CE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err="1">
                  <a:solidFill>
                    <a:schemeClr val="bg1"/>
                  </a:solidFill>
                </a:rPr>
                <a:t>TDengine</a:t>
              </a:r>
              <a:endParaRPr lang="zh-CN" altLang="en-US" sz="1000" dirty="0">
                <a:solidFill>
                  <a:schemeClr val="bg1"/>
                </a:solidFill>
              </a:endParaRPr>
            </a:p>
          </p:txBody>
        </p:sp>
        <p:cxnSp>
          <p:nvCxnSpPr>
            <p:cNvPr id="26" name="直接箭头连接符 12">
              <a:extLst>
                <a:ext uri="{FF2B5EF4-FFF2-40B4-BE49-F238E27FC236}">
                  <a16:creationId xmlns:a16="http://schemas.microsoft.com/office/drawing/2014/main" id="{316D0EF9-B7B5-AB4B-B2B0-370594C8B5EA}"/>
                </a:ext>
              </a:extLst>
            </p:cNvPr>
            <p:cNvCxnSpPr>
              <a:cxnSpLocks/>
              <a:stCxn id="23" idx="3"/>
              <a:endCxn id="24" idx="1"/>
            </p:cNvCxnSpPr>
            <p:nvPr/>
          </p:nvCxnSpPr>
          <p:spPr>
            <a:xfrm flipV="1">
              <a:off x="1426240" y="3670983"/>
              <a:ext cx="1397502" cy="2025"/>
            </a:xfrm>
            <a:prstGeom prst="straightConnector1">
              <a:avLst/>
            </a:prstGeom>
            <a:ln w="12700">
              <a:headEnd type="none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3059BED-45B6-FB4D-A680-67AF3C9A8CDD}"/>
                </a:ext>
              </a:extLst>
            </p:cNvPr>
            <p:cNvSpPr txBox="1"/>
            <p:nvPr/>
          </p:nvSpPr>
          <p:spPr>
            <a:xfrm>
              <a:off x="1601450" y="3547872"/>
              <a:ext cx="104708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dirty="0"/>
                <a:t>MQTT</a:t>
              </a:r>
              <a:r>
                <a:rPr kumimoji="1" lang="zh-CN" altLang="en-US" sz="1000" dirty="0"/>
                <a:t> 原生协议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C77DC3D-D9C7-CC40-BC6C-5FBAE3D1FAC0}"/>
                </a:ext>
              </a:extLst>
            </p:cNvPr>
            <p:cNvSpPr/>
            <p:nvPr/>
          </p:nvSpPr>
          <p:spPr>
            <a:xfrm>
              <a:off x="7270489" y="3171732"/>
              <a:ext cx="900000" cy="360000"/>
            </a:xfrm>
            <a:prstGeom prst="rect">
              <a:avLst/>
            </a:prstGeom>
            <a:solidFill>
              <a:srgbClr val="BBC4FF"/>
            </a:solidFill>
            <a:ln>
              <a:solidFill>
                <a:srgbClr val="0041CE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机械臂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576943E4-F278-C847-93FD-98E37A523CD9}"/>
                </a:ext>
              </a:extLst>
            </p:cNvPr>
            <p:cNvSpPr/>
            <p:nvPr/>
          </p:nvSpPr>
          <p:spPr>
            <a:xfrm>
              <a:off x="7270292" y="3810691"/>
              <a:ext cx="900000" cy="360000"/>
            </a:xfrm>
            <a:prstGeom prst="rect">
              <a:avLst/>
            </a:prstGeom>
            <a:solidFill>
              <a:srgbClr val="BBC4FF"/>
            </a:solidFill>
            <a:ln>
              <a:solidFill>
                <a:srgbClr val="0041CE"/>
              </a:solidFill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</a:rPr>
                <a:t>工程师手机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7C22830-33CE-2449-9C69-5AA150582542}"/>
                </a:ext>
              </a:extLst>
            </p:cNvPr>
            <p:cNvSpPr/>
            <p:nvPr/>
          </p:nvSpPr>
          <p:spPr>
            <a:xfrm rot="2700000">
              <a:off x="5251256" y="3318597"/>
              <a:ext cx="708502" cy="707622"/>
            </a:xfrm>
            <a:prstGeom prst="rect">
              <a:avLst/>
            </a:prstGeom>
            <a:solidFill>
              <a:srgbClr val="E9FA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cxnSp>
          <p:nvCxnSpPr>
            <p:cNvPr id="36" name="直接箭头连接符 12">
              <a:extLst>
                <a:ext uri="{FF2B5EF4-FFF2-40B4-BE49-F238E27FC236}">
                  <a16:creationId xmlns:a16="http://schemas.microsoft.com/office/drawing/2014/main" id="{40652BEE-B081-7F4D-9996-B1546A260AAF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>
              <a:off x="3723742" y="3670983"/>
              <a:ext cx="1381089" cy="0"/>
            </a:xfrm>
            <a:prstGeom prst="straightConnector1">
              <a:avLst/>
            </a:prstGeom>
            <a:ln w="12700">
              <a:headEnd type="none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D5E6C34D-6CC9-1946-8394-0AAD2205DC05}"/>
                </a:ext>
              </a:extLst>
            </p:cNvPr>
            <p:cNvSpPr txBox="1"/>
            <p:nvPr/>
          </p:nvSpPr>
          <p:spPr>
            <a:xfrm>
              <a:off x="3870262" y="3547871"/>
              <a:ext cx="104708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dirty="0"/>
                <a:t>MQTT</a:t>
              </a:r>
              <a:r>
                <a:rPr kumimoji="1" lang="zh-CN" altLang="en-US" sz="1000" dirty="0"/>
                <a:t> 数据订阅</a:t>
              </a:r>
            </a:p>
          </p:txBody>
        </p:sp>
        <p:cxnSp>
          <p:nvCxnSpPr>
            <p:cNvPr id="42" name="直接箭头连接符 12">
              <a:extLst>
                <a:ext uri="{FF2B5EF4-FFF2-40B4-BE49-F238E27FC236}">
                  <a16:creationId xmlns:a16="http://schemas.microsoft.com/office/drawing/2014/main" id="{09B840CE-9269-1F4C-82B7-05B15456B9A3}"/>
                </a:ext>
              </a:extLst>
            </p:cNvPr>
            <p:cNvCxnSpPr>
              <a:cxnSpLocks/>
              <a:stCxn id="35" idx="0"/>
              <a:endCxn id="32" idx="1"/>
            </p:cNvCxnSpPr>
            <p:nvPr/>
          </p:nvCxnSpPr>
          <p:spPr>
            <a:xfrm flipV="1">
              <a:off x="5855689" y="3351732"/>
              <a:ext cx="1414800" cy="70494"/>
            </a:xfrm>
            <a:prstGeom prst="straightConnector1">
              <a:avLst/>
            </a:prstGeom>
            <a:ln w="12700">
              <a:headEnd type="none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12">
              <a:extLst>
                <a:ext uri="{FF2B5EF4-FFF2-40B4-BE49-F238E27FC236}">
                  <a16:creationId xmlns:a16="http://schemas.microsoft.com/office/drawing/2014/main" id="{1ABB470F-7742-9E48-9B0F-D66F430B954A}"/>
                </a:ext>
              </a:extLst>
            </p:cNvPr>
            <p:cNvCxnSpPr>
              <a:cxnSpLocks/>
              <a:stCxn id="35" idx="3"/>
              <a:endCxn id="33" idx="1"/>
            </p:cNvCxnSpPr>
            <p:nvPr/>
          </p:nvCxnSpPr>
          <p:spPr>
            <a:xfrm>
              <a:off x="5856000" y="3922901"/>
              <a:ext cx="1414292" cy="67790"/>
            </a:xfrm>
            <a:prstGeom prst="straightConnector1">
              <a:avLst/>
            </a:prstGeom>
            <a:ln w="12700">
              <a:headEnd type="none"/>
              <a:tailEnd type="stealth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85B99A6-4C6C-C14D-886C-4FE3EB0C38D4}"/>
                </a:ext>
              </a:extLst>
            </p:cNvPr>
            <p:cNvSpPr txBox="1"/>
            <p:nvPr/>
          </p:nvSpPr>
          <p:spPr>
            <a:xfrm>
              <a:off x="6199178" y="3263868"/>
              <a:ext cx="72782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000" dirty="0"/>
                <a:t>控制指令</a:t>
              </a: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DA4D4A2-5235-B647-8B9C-67BEAD67EF9C}"/>
                </a:ext>
              </a:extLst>
            </p:cNvPr>
            <p:cNvSpPr txBox="1"/>
            <p:nvPr/>
          </p:nvSpPr>
          <p:spPr>
            <a:xfrm>
              <a:off x="6199178" y="3829948"/>
              <a:ext cx="727822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000" dirty="0"/>
                <a:t>告警通知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51300420-5B50-9641-9226-9AF04511B7CD}"/>
                </a:ext>
              </a:extLst>
            </p:cNvPr>
            <p:cNvSpPr txBox="1"/>
            <p:nvPr/>
          </p:nvSpPr>
          <p:spPr>
            <a:xfrm>
              <a:off x="5251351" y="3551637"/>
              <a:ext cx="7278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000" dirty="0"/>
                <a:t>Node-RED</a:t>
              </a:r>
              <a:endParaRPr kumimoji="1" lang="zh-CN" altLang="en-US" sz="1000" dirty="0"/>
            </a:p>
          </p:txBody>
        </p:sp>
      </p:grp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E3939B7B-8B81-8548-99D6-4FC6033DE1F2}"/>
              </a:ext>
            </a:extLst>
          </p:cNvPr>
          <p:cNvSpPr/>
          <p:nvPr/>
        </p:nvSpPr>
        <p:spPr>
          <a:xfrm>
            <a:off x="524348" y="3029711"/>
            <a:ext cx="8183441" cy="1693177"/>
          </a:xfrm>
          <a:prstGeom prst="roundRect">
            <a:avLst>
              <a:gd name="adj" fmla="val 9041"/>
            </a:avLst>
          </a:prstGeom>
          <a:noFill/>
          <a:ln>
            <a:solidFill>
              <a:srgbClr val="051D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772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7FC7-2640-227F-1A1A-B192E7C0B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3;p38">
            <a:extLst>
              <a:ext uri="{FF2B5EF4-FFF2-40B4-BE49-F238E27FC236}">
                <a16:creationId xmlns:a16="http://schemas.microsoft.com/office/drawing/2014/main" id="{456DF7F5-DADB-12A8-4903-6006AE8832F7}"/>
              </a:ext>
            </a:extLst>
          </p:cNvPr>
          <p:cNvSpPr txBox="1"/>
          <p:nvPr/>
        </p:nvSpPr>
        <p:spPr>
          <a:xfrm>
            <a:off x="526242" y="230204"/>
            <a:ext cx="6898489" cy="5239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ts val="3740"/>
              </a:lnSpc>
              <a:buClr>
                <a:srgbClr val="000000"/>
              </a:buClr>
              <a:buSzPts val="3000"/>
            </a:pP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MQTT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订阅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高可用</a:t>
            </a:r>
            <a:endParaRPr lang="en-US" altLang="zh-CN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339BBEBF-4F9F-7333-C6AF-43F8F7447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451" y="2849826"/>
            <a:ext cx="4917600" cy="1692027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752A9A54-04C8-BF93-A427-3C34C377E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4914" y="984741"/>
            <a:ext cx="4895598" cy="158700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6369BDA3-4548-E145-9E51-C22DE82A2A08}"/>
              </a:ext>
            </a:extLst>
          </p:cNvPr>
          <p:cNvSpPr/>
          <p:nvPr/>
        </p:nvSpPr>
        <p:spPr>
          <a:xfrm>
            <a:off x="3708543" y="898978"/>
            <a:ext cx="5157417" cy="1783261"/>
          </a:xfrm>
          <a:prstGeom prst="roundRect">
            <a:avLst>
              <a:gd name="adj" fmla="val 9041"/>
            </a:avLst>
          </a:prstGeom>
          <a:noFill/>
          <a:ln>
            <a:solidFill>
              <a:srgbClr val="051D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D94271F2-1729-6A43-BB4B-9C9F304ADFC9}"/>
              </a:ext>
            </a:extLst>
          </p:cNvPr>
          <p:cNvSpPr/>
          <p:nvPr/>
        </p:nvSpPr>
        <p:spPr>
          <a:xfrm>
            <a:off x="3708543" y="2780569"/>
            <a:ext cx="5157417" cy="1783261"/>
          </a:xfrm>
          <a:prstGeom prst="roundRect">
            <a:avLst>
              <a:gd name="adj" fmla="val 9041"/>
            </a:avLst>
          </a:prstGeom>
          <a:noFill/>
          <a:ln>
            <a:solidFill>
              <a:srgbClr val="051D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47194447-F3CB-4E46-92B9-4DBF7E9DF300}"/>
              </a:ext>
            </a:extLst>
          </p:cNvPr>
          <p:cNvSpPr/>
          <p:nvPr/>
        </p:nvSpPr>
        <p:spPr>
          <a:xfrm>
            <a:off x="526242" y="945429"/>
            <a:ext cx="2997246" cy="3618401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3150ECB-FE43-4F4B-9F05-805E39C8597B}"/>
              </a:ext>
            </a:extLst>
          </p:cNvPr>
          <p:cNvSpPr txBox="1"/>
          <p:nvPr/>
        </p:nvSpPr>
        <p:spPr>
          <a:xfrm>
            <a:off x="702516" y="1663645"/>
            <a:ext cx="931212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服务连续性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4AE4E8D-C78E-5D40-B5AF-B1A664A66448}"/>
              </a:ext>
            </a:extLst>
          </p:cNvPr>
          <p:cNvSpPr txBox="1"/>
          <p:nvPr/>
        </p:nvSpPr>
        <p:spPr>
          <a:xfrm>
            <a:off x="614379" y="1914672"/>
            <a:ext cx="2838750" cy="483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单个 </a:t>
            </a:r>
            <a:r>
              <a:rPr lang="en" altLang="zh-CN" sz="9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dnode</a:t>
            </a:r>
            <a:r>
              <a:rPr lang="en" altLang="zh-CN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宕机不会导致推送服务中断</a:t>
            </a: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客户端可自动切换至其他可用节点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D45DD7C-3F4D-6B46-970D-2EFCC4C59ACD}"/>
              </a:ext>
            </a:extLst>
          </p:cNvPr>
          <p:cNvSpPr txBox="1"/>
          <p:nvPr/>
        </p:nvSpPr>
        <p:spPr>
          <a:xfrm>
            <a:off x="614379" y="1016006"/>
            <a:ext cx="2838750" cy="52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TDengine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新增 </a:t>
            </a: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bnode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节点，对外提供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MQTT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数据订阅。</a:t>
            </a: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bnode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实现了以下关键优势：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FF3CB53-23F5-4044-A71D-C330DB73F7EB}"/>
              </a:ext>
            </a:extLst>
          </p:cNvPr>
          <p:cNvSpPr txBox="1"/>
          <p:nvPr/>
        </p:nvSpPr>
        <p:spPr>
          <a:xfrm>
            <a:off x="702516" y="2569458"/>
            <a:ext cx="1144572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消费端高可用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B4116BC-2548-9F49-86EF-151CFC369C08}"/>
              </a:ext>
            </a:extLst>
          </p:cNvPr>
          <p:cNvSpPr txBox="1"/>
          <p:nvPr/>
        </p:nvSpPr>
        <p:spPr>
          <a:xfrm>
            <a:off x="614379" y="2820485"/>
            <a:ext cx="2838750" cy="69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共享消费组内单个客户端宕机不影响其他客户端的消费</a:t>
            </a: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消息会重新分配给组内其他客户端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9D65BD-AFD3-664E-918A-B2B164891BA8}"/>
              </a:ext>
            </a:extLst>
          </p:cNvPr>
          <p:cNvSpPr txBox="1"/>
          <p:nvPr/>
        </p:nvSpPr>
        <p:spPr>
          <a:xfrm>
            <a:off x="702516" y="3648212"/>
            <a:ext cx="931212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弹性拓展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A077762-4FEB-4043-85A7-003CB1858B34}"/>
              </a:ext>
            </a:extLst>
          </p:cNvPr>
          <p:cNvSpPr txBox="1"/>
          <p:nvPr/>
        </p:nvSpPr>
        <p:spPr>
          <a:xfrm>
            <a:off x="614379" y="3899239"/>
            <a:ext cx="2838750" cy="483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通过增加订阅客户端，可轻松扩展消费能力</a:t>
            </a:r>
          </a:p>
          <a:p>
            <a:pPr marL="1714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系统自动处理负载均衡和故障转移</a:t>
            </a:r>
          </a:p>
        </p:txBody>
      </p:sp>
    </p:spTree>
    <p:extLst>
      <p:ext uri="{BB962C8B-B14F-4D97-AF65-F5344CB8AC3E}">
        <p14:creationId xmlns:p14="http://schemas.microsoft.com/office/powerpoint/2010/main" val="492446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5BF72-B4F0-7131-6E1C-CBEB06EAA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D78DB9-6B0C-1F46-A728-4BF08BF30D35}"/>
              </a:ext>
            </a:extLst>
          </p:cNvPr>
          <p:cNvSpPr/>
          <p:nvPr/>
        </p:nvSpPr>
        <p:spPr>
          <a:xfrm>
            <a:off x="526242" y="852558"/>
            <a:ext cx="8183441" cy="880237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Google Shape;193;p38">
            <a:extLst>
              <a:ext uri="{FF2B5EF4-FFF2-40B4-BE49-F238E27FC236}">
                <a16:creationId xmlns:a16="http://schemas.microsoft.com/office/drawing/2014/main" id="{FC61CC87-F6F1-425A-CE12-EE551090133D}"/>
              </a:ext>
            </a:extLst>
          </p:cNvPr>
          <p:cNvSpPr txBox="1"/>
          <p:nvPr/>
        </p:nvSpPr>
        <p:spPr>
          <a:xfrm>
            <a:off x="526242" y="230204"/>
            <a:ext cx="6898489" cy="5239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ts val="3740"/>
              </a:lnSpc>
              <a:buClr>
                <a:srgbClr val="000000"/>
              </a:buClr>
              <a:buSzPts val="3000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多级存储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业务价值（企业版）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68316B5-560B-E87E-1B8A-22A2CBADF74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56995" y="939102"/>
            <a:ext cx="6817270" cy="702264"/>
          </a:xfrm>
          <a:prstGeom prst="rect">
            <a:avLst/>
          </a:prstGeom>
        </p:spPr>
        <p:txBody>
          <a:bodyPr wrap="square" lIns="36596" tIns="18298" rIns="36596" bIns="18298">
            <a:spAutoFit/>
          </a:bodyPr>
          <a:lstStyle/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0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降低存储成本</a:t>
            </a:r>
            <a:r>
              <a:rPr lang="zh-CN" altLang="en-US" sz="1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：数据可以存储在更便宜的介质，迁移前进行数据整理，能够大幅度降低存储成本</a:t>
            </a: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0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降低节点数目</a:t>
            </a:r>
            <a:r>
              <a:rPr lang="zh-CN" altLang="en-US" sz="1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：多个存储设备挂载在同一台物理机上，可以降低物理节点数目</a:t>
            </a: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0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提高写入吞吐</a:t>
            </a:r>
            <a:r>
              <a:rPr lang="zh-CN" altLang="en-US" sz="1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：同时写入多块磁盘，CPU 不是瓶颈的情况下，可显著提高写入吞吐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2839AB78-7D7B-D7D2-6234-3E0FF059C810}"/>
              </a:ext>
            </a:extLst>
          </p:cNvPr>
          <p:cNvGrpSpPr/>
          <p:nvPr/>
        </p:nvGrpSpPr>
        <p:grpSpPr>
          <a:xfrm>
            <a:off x="1518905" y="1893166"/>
            <a:ext cx="6106190" cy="2657190"/>
            <a:chOff x="1391" y="2041"/>
            <a:chExt cx="18474" cy="7111"/>
          </a:xfrm>
        </p:grpSpPr>
        <p:sp>
          <p:nvSpPr>
            <p:cNvPr id="25" name="三角形 31">
              <a:extLst>
                <a:ext uri="{FF2B5EF4-FFF2-40B4-BE49-F238E27FC236}">
                  <a16:creationId xmlns:a16="http://schemas.microsoft.com/office/drawing/2014/main" id="{F9F2D7E0-7718-6096-4694-415EA2DC9BB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5428" y="2041"/>
              <a:ext cx="2589" cy="1914"/>
            </a:xfrm>
            <a:prstGeom prst="triangle">
              <a:avLst>
                <a:gd name="adj" fmla="val 49902"/>
              </a:avLst>
            </a:prstGeom>
            <a:solidFill>
              <a:srgbClr val="E46C0A">
                <a:alpha val="52157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00"/>
            </a:p>
          </p:txBody>
        </p:sp>
        <p:sp>
          <p:nvSpPr>
            <p:cNvPr id="26" name="文本框 32">
              <a:extLst>
                <a:ext uri="{FF2B5EF4-FFF2-40B4-BE49-F238E27FC236}">
                  <a16:creationId xmlns:a16="http://schemas.microsoft.com/office/drawing/2014/main" id="{B68DB6F7-12F5-8F15-D62E-D04FF640990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5940" y="2875"/>
              <a:ext cx="1680" cy="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800" dirty="0"/>
                <a:t>内存缓存数据</a:t>
              </a:r>
            </a:p>
          </p:txBody>
        </p:sp>
        <p:sp>
          <p:nvSpPr>
            <p:cNvPr id="27" name="梯形 34">
              <a:extLst>
                <a:ext uri="{FF2B5EF4-FFF2-40B4-BE49-F238E27FC236}">
                  <a16:creationId xmlns:a16="http://schemas.microsoft.com/office/drawing/2014/main" id="{BB8F5211-7558-E098-A286-A87DADBC07F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4392" y="4342"/>
              <a:ext cx="4704" cy="1048"/>
            </a:xfrm>
            <a:prstGeom prst="trapezoid">
              <a:avLst>
                <a:gd name="adj" fmla="val 7259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00"/>
            </a:p>
          </p:txBody>
        </p:sp>
        <p:sp>
          <p:nvSpPr>
            <p:cNvPr id="28" name="文本框 35">
              <a:extLst>
                <a:ext uri="{FF2B5EF4-FFF2-40B4-BE49-F238E27FC236}">
                  <a16:creationId xmlns:a16="http://schemas.microsoft.com/office/drawing/2014/main" id="{BCB74765-CA5D-F09D-42A5-219B3AF8133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5904" y="4403"/>
              <a:ext cx="1680" cy="9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800" dirty="0">
                  <a:solidFill>
                    <a:schemeClr val="bg1"/>
                  </a:solidFill>
                </a:rPr>
                <a:t>第一级</a:t>
              </a:r>
              <a:r>
                <a:rPr kumimoji="1" lang="en-US" altLang="zh-CN" sz="800" dirty="0">
                  <a:solidFill>
                    <a:schemeClr val="bg1"/>
                  </a:solidFill>
                </a:rPr>
                <a:t>SSD</a:t>
              </a:r>
            </a:p>
          </p:txBody>
        </p:sp>
        <p:sp>
          <p:nvSpPr>
            <p:cNvPr id="29" name="梯形 36">
              <a:extLst>
                <a:ext uri="{FF2B5EF4-FFF2-40B4-BE49-F238E27FC236}">
                  <a16:creationId xmlns:a16="http://schemas.microsoft.com/office/drawing/2014/main" id="{B8B4457E-11F1-7FF7-CCF9-EEF9A0F19E5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3504" y="5603"/>
              <a:ext cx="6480" cy="1048"/>
            </a:xfrm>
            <a:prstGeom prst="trapezoid">
              <a:avLst>
                <a:gd name="adj" fmla="val 7259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00"/>
            </a:p>
          </p:txBody>
        </p:sp>
        <p:sp>
          <p:nvSpPr>
            <p:cNvPr id="30" name="梯形 37">
              <a:extLst>
                <a:ext uri="{FF2B5EF4-FFF2-40B4-BE49-F238E27FC236}">
                  <a16:creationId xmlns:a16="http://schemas.microsoft.com/office/drawing/2014/main" id="{075F5AC6-E97B-34ED-7A3F-12C51E45357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2700" y="6814"/>
              <a:ext cx="8160" cy="1048"/>
            </a:xfrm>
            <a:prstGeom prst="trapezoid">
              <a:avLst>
                <a:gd name="adj" fmla="val 7259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00"/>
            </a:p>
          </p:txBody>
        </p:sp>
        <p:sp>
          <p:nvSpPr>
            <p:cNvPr id="31" name="文本框 38">
              <a:extLst>
                <a:ext uri="{FF2B5EF4-FFF2-40B4-BE49-F238E27FC236}">
                  <a16:creationId xmlns:a16="http://schemas.microsoft.com/office/drawing/2014/main" id="{F54B69FA-3EA4-017E-2932-2C2EA61D576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5143" y="5640"/>
              <a:ext cx="3117" cy="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800" dirty="0">
                  <a:solidFill>
                    <a:schemeClr val="bg1"/>
                  </a:solidFill>
                </a:rPr>
                <a:t>第二级</a:t>
              </a:r>
            </a:p>
            <a:p>
              <a:pPr algn="ctr"/>
              <a:r>
                <a:rPr kumimoji="1" lang="en-US" altLang="zh-CN" sz="800" dirty="0">
                  <a:solidFill>
                    <a:schemeClr val="bg1"/>
                  </a:solidFill>
                </a:rPr>
                <a:t>HDD / </a:t>
              </a:r>
              <a:r>
                <a:rPr kumimoji="1" lang="zh-CN" altLang="en-US" sz="800" dirty="0">
                  <a:solidFill>
                    <a:schemeClr val="bg1"/>
                  </a:solidFill>
                </a:rPr>
                <a:t>共享存储</a:t>
              </a:r>
              <a:endParaRPr kumimoji="1" lang="en-US" altLang="zh-CN" sz="800" dirty="0">
                <a:solidFill>
                  <a:schemeClr val="bg1"/>
                </a:solidFill>
              </a:endParaRPr>
            </a:p>
          </p:txBody>
        </p:sp>
        <p:sp>
          <p:nvSpPr>
            <p:cNvPr id="32" name="文本框 39">
              <a:extLst>
                <a:ext uri="{FF2B5EF4-FFF2-40B4-BE49-F238E27FC236}">
                  <a16:creationId xmlns:a16="http://schemas.microsoft.com/office/drawing/2014/main" id="{07ACF38C-1A7A-1152-C6AA-661C130D328B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5141" y="6846"/>
              <a:ext cx="3112" cy="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800" dirty="0">
                  <a:solidFill>
                    <a:schemeClr val="bg1"/>
                  </a:solidFill>
                </a:rPr>
                <a:t>第三级</a:t>
              </a:r>
              <a:endParaRPr kumimoji="1" lang="en-US" altLang="zh-CN" sz="800" dirty="0">
                <a:solidFill>
                  <a:schemeClr val="bg1"/>
                </a:solidFill>
              </a:endParaRPr>
            </a:p>
            <a:p>
              <a:pPr algn="ctr"/>
              <a:r>
                <a:rPr kumimoji="1" lang="en-US" altLang="zh-CN" sz="800" dirty="0">
                  <a:solidFill>
                    <a:schemeClr val="bg1"/>
                  </a:solidFill>
                </a:rPr>
                <a:t>HDD / </a:t>
              </a:r>
              <a:r>
                <a:rPr kumimoji="1" lang="zh-CN" altLang="en-US" sz="800" dirty="0">
                  <a:solidFill>
                    <a:schemeClr val="bg1"/>
                  </a:solidFill>
                </a:rPr>
                <a:t>共享存储</a:t>
              </a:r>
              <a:endParaRPr kumimoji="1" lang="en-US" altLang="zh-CN" sz="800" dirty="0">
                <a:solidFill>
                  <a:schemeClr val="bg1"/>
                </a:solidFill>
              </a:endParaRPr>
            </a:p>
          </p:txBody>
        </p:sp>
        <p:sp>
          <p:nvSpPr>
            <p:cNvPr id="33" name="圆角矩形 41">
              <a:extLst>
                <a:ext uri="{FF2B5EF4-FFF2-40B4-BE49-F238E27FC236}">
                  <a16:creationId xmlns:a16="http://schemas.microsoft.com/office/drawing/2014/main" id="{9B17BB01-4B7A-A366-C341-05BDE498BFE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2003" y="2175"/>
              <a:ext cx="7862" cy="173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记录驱动：数据优先写入内存缓存，写入达到阈值，批量 </a:t>
              </a:r>
              <a:r>
                <a:rPr lang="en-US" altLang="zh-CN" sz="1000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flush</a:t>
              </a:r>
              <a:r>
                <a:rPr lang="zh-CN" altLang="en-US" sz="1000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 到持久化存储</a:t>
              </a:r>
            </a:p>
          </p:txBody>
        </p:sp>
        <p:sp>
          <p:nvSpPr>
            <p:cNvPr id="34" name="圆角矩形 42">
              <a:extLst>
                <a:ext uri="{FF2B5EF4-FFF2-40B4-BE49-F238E27FC236}">
                  <a16:creationId xmlns:a16="http://schemas.microsoft.com/office/drawing/2014/main" id="{E2AD74FC-4E3F-18D6-A189-97604452E13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2003" y="5298"/>
              <a:ext cx="7862" cy="182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时间驱动：随数据的产生时间，逐步移至不同级别存储</a:t>
              </a:r>
            </a:p>
          </p:txBody>
        </p:sp>
        <p:sp>
          <p:nvSpPr>
            <p:cNvPr id="35" name="圆角矩形 46">
              <a:extLst>
                <a:ext uri="{FF2B5EF4-FFF2-40B4-BE49-F238E27FC236}">
                  <a16:creationId xmlns:a16="http://schemas.microsoft.com/office/drawing/2014/main" id="{256091D2-F74C-16C9-6D20-4259E6BE8AFD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2003" y="8254"/>
              <a:ext cx="5268" cy="802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50000"/>
                </a:lnSpc>
              </a:pPr>
              <a:r>
                <a:rPr lang="zh-CN" altLang="en-US" sz="1000" dirty="0">
                  <a:solidFill>
                    <a:schemeClr val="tx1"/>
                  </a:solidFill>
                  <a:latin typeface="微软雅黑" charset="0"/>
                  <a:ea typeface="微软雅黑" charset="0"/>
                  <a:cs typeface="微软雅黑" charset="0"/>
                </a:rPr>
                <a:t>超过最长保存时间自动删除</a:t>
              </a:r>
            </a:p>
          </p:txBody>
        </p:sp>
        <p:cxnSp>
          <p:nvCxnSpPr>
            <p:cNvPr id="36" name="直线连接符 48">
              <a:extLst>
                <a:ext uri="{FF2B5EF4-FFF2-40B4-BE49-F238E27FC236}">
                  <a16:creationId xmlns:a16="http://schemas.microsoft.com/office/drawing/2014/main" id="{3CD6C66E-B9DD-5123-5CCB-7B139F8740FE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1666" y="4195"/>
              <a:ext cx="15686" cy="0"/>
            </a:xfrm>
            <a:prstGeom prst="line">
              <a:avLst/>
            </a:prstGeom>
            <a:ln w="41275" cmpd="sng">
              <a:solidFill>
                <a:schemeClr val="bg2">
                  <a:lumMod val="50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49">
              <a:extLst>
                <a:ext uri="{FF2B5EF4-FFF2-40B4-BE49-F238E27FC236}">
                  <a16:creationId xmlns:a16="http://schemas.microsoft.com/office/drawing/2014/main" id="{260B5BF3-57E7-B5AC-B0E4-55EED345F4F5}"/>
                </a:ext>
              </a:extLst>
            </p:cNvPr>
            <p:cNvCxnSpPr/>
            <p:nvPr>
              <p:custDataLst>
                <p:tags r:id="rId14"/>
              </p:custDataLst>
            </p:nvPr>
          </p:nvCxnSpPr>
          <p:spPr>
            <a:xfrm>
              <a:off x="1666" y="8136"/>
              <a:ext cx="15686" cy="0"/>
            </a:xfrm>
            <a:prstGeom prst="line">
              <a:avLst/>
            </a:prstGeom>
            <a:ln w="41275" cmpd="sng">
              <a:solidFill>
                <a:schemeClr val="bg2">
                  <a:lumMod val="50000"/>
                </a:schemeClr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53">
              <a:extLst>
                <a:ext uri="{FF2B5EF4-FFF2-40B4-BE49-F238E27FC236}">
                  <a16:creationId xmlns:a16="http://schemas.microsoft.com/office/drawing/2014/main" id="{9D3233C3-D22B-0AC1-4B4D-A6DD804CDE0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 rot="16200000">
              <a:off x="1012" y="5072"/>
              <a:ext cx="1454" cy="695"/>
            </a:xfrm>
            <a:prstGeom prst="rect">
              <a:avLst/>
            </a:prstGeom>
            <a:noFill/>
          </p:spPr>
          <p:txBody>
            <a:bodyPr vert="horz" wrap="square" rtlCol="0" anchor="t">
              <a:spAutoFit/>
            </a:bodyPr>
            <a:lstStyle/>
            <a:p>
              <a:r>
                <a:rPr kumimoji="1" lang="en-US" altLang="zh-CN" sz="900"/>
                <a:t>time</a:t>
              </a:r>
            </a:p>
          </p:txBody>
        </p:sp>
        <p:sp>
          <p:nvSpPr>
            <p:cNvPr id="39" name="圆角矩形 54">
              <a:extLst>
                <a:ext uri="{FF2B5EF4-FFF2-40B4-BE49-F238E27FC236}">
                  <a16:creationId xmlns:a16="http://schemas.microsoft.com/office/drawing/2014/main" id="{EC84E271-38E9-6DC6-D376-748A9B554DF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009" y="8474"/>
              <a:ext cx="5678" cy="579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800" dirty="0"/>
                <a:t>数据删除资源回收</a:t>
              </a:r>
            </a:p>
          </p:txBody>
        </p:sp>
        <p:sp>
          <p:nvSpPr>
            <p:cNvPr id="40" name="下箭头 50">
              <a:extLst>
                <a:ext uri="{FF2B5EF4-FFF2-40B4-BE49-F238E27FC236}">
                  <a16:creationId xmlns:a16="http://schemas.microsoft.com/office/drawing/2014/main" id="{E045A389-A8BF-B84C-E060-C3C7496E2BF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990" y="2041"/>
              <a:ext cx="420" cy="7111"/>
            </a:xfrm>
            <a:prstGeom prst="downArrow">
              <a:avLst/>
            </a:prstGeom>
            <a:gradFill flip="none" rotWithShape="1">
              <a:gsLst>
                <a:gs pos="0">
                  <a:srgbClr val="1356FF">
                    <a:lumMod val="100000"/>
                  </a:srgbClr>
                </a:gs>
                <a:gs pos="20000">
                  <a:srgbClr val="1356FF"/>
                </a:gs>
                <a:gs pos="70000">
                  <a:srgbClr val="FF0000">
                    <a:lumMod val="59000"/>
                    <a:lumOff val="41000"/>
                  </a:srgbClr>
                </a:gs>
                <a:gs pos="100000">
                  <a:srgbClr val="FF0000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00"/>
            </a:p>
          </p:txBody>
        </p:sp>
      </p:grpSp>
    </p:spTree>
    <p:extLst>
      <p:ext uri="{BB962C8B-B14F-4D97-AF65-F5344CB8AC3E}">
        <p14:creationId xmlns:p14="http://schemas.microsoft.com/office/powerpoint/2010/main" val="112109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655E6-14AC-B104-4678-718477B48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1F74EDAA-C660-B540-96E8-1390B9489B41}"/>
              </a:ext>
            </a:extLst>
          </p:cNvPr>
          <p:cNvSpPr/>
          <p:nvPr/>
        </p:nvSpPr>
        <p:spPr>
          <a:xfrm>
            <a:off x="526242" y="934959"/>
            <a:ext cx="8183441" cy="988476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Google Shape;193;p38">
            <a:extLst>
              <a:ext uri="{FF2B5EF4-FFF2-40B4-BE49-F238E27FC236}">
                <a16:creationId xmlns:a16="http://schemas.microsoft.com/office/drawing/2014/main" id="{F7FF5B8A-AB28-D13E-DDE6-1DD0B5FD6011}"/>
              </a:ext>
            </a:extLst>
          </p:cNvPr>
          <p:cNvSpPr txBox="1"/>
          <p:nvPr/>
        </p:nvSpPr>
        <p:spPr>
          <a:xfrm>
            <a:off x="526242" y="230204"/>
            <a:ext cx="6898489" cy="5239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ts val="3740"/>
              </a:lnSpc>
              <a:buClr>
                <a:srgbClr val="000000"/>
              </a:buClr>
              <a:buSzPts val="3000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多级存储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第二、三级支持共享存储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7FBE1E7-4BA8-E0A6-0B9D-C3A33E58D300}"/>
              </a:ext>
            </a:extLst>
          </p:cNvPr>
          <p:cNvSpPr txBox="1"/>
          <p:nvPr/>
        </p:nvSpPr>
        <p:spPr>
          <a:xfrm>
            <a:off x="658586" y="1312051"/>
            <a:ext cx="7918752" cy="526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冷数据 </a:t>
            </a:r>
            <a:r>
              <a:rPr lang="zh-CN" altLang="en-US" sz="1000" b="1" dirty="0">
                <a:solidFill>
                  <a:srgbClr val="0041C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查询、写入的需求低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，但是作为公司的数据资产，不能彻底删除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zh-CN" altLang="en-US" sz="1000" b="1" dirty="0">
                <a:solidFill>
                  <a:srgbClr val="0041C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数据存储成本敏感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，希望能降低本地磁盘占用，必要时还可以读取冷数据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C21460-D9FD-FCA2-7490-E748EAF5657D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95670917"/>
              </p:ext>
            </p:extLst>
          </p:nvPr>
        </p:nvGraphicFramePr>
        <p:xfrm>
          <a:off x="518622" y="2240023"/>
          <a:ext cx="7918752" cy="196851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728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0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33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900" b="1" i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优点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D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900" b="1" i="0" kern="12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原因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1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182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显著降低存储成本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共享存储本身存储成本低，数据上传前通过重新整理提高了压缩比</a:t>
                      </a:r>
                      <a:endParaRPr lang="en-US" altLang="zh-CN" sz="900" b="0" i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171450" marR="0" lvl="0" indent="-17145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1" i="0" kern="1200" dirty="0">
                          <a:solidFill>
                            <a:srgbClr val="0041C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多副本共享一份共享存储数据</a:t>
                      </a: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（新版本最大变化）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33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写入行为透明：支持冷数据写入、更新、删除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数据拆分多个对象上传，最后一个对象在本地存储， </a:t>
                      </a:r>
                      <a:r>
                        <a:rPr lang="en-US" altLang="zh-CN" sz="900" b="0" i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AppendOnly</a:t>
                      </a: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使得更新发生在最后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334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查询行为透明：速度仅下降一倍左右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存储模型保证同一个表的数据相邻存放，每次查询只需读取少量数据，且预计算数据留在本地</a:t>
                      </a: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407680"/>
                  </a:ext>
                </a:extLst>
              </a:tr>
              <a:tr h="371334"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900" b="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支持多种类别的共享存储</a:t>
                      </a: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对共享存储接口进行上层封装，因此很容易和 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SAN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NAS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S3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DFS 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 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 </a:t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进行集成</a:t>
                      </a:r>
                      <a:endParaRPr lang="zh-CN" altLang="en-US" sz="900" b="0" i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39346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180A032-4B92-0C44-AF2C-ED1BA710EF15}"/>
              </a:ext>
            </a:extLst>
          </p:cNvPr>
          <p:cNvSpPr txBox="1"/>
          <p:nvPr/>
        </p:nvSpPr>
        <p:spPr>
          <a:xfrm>
            <a:off x="699006" y="1043360"/>
            <a:ext cx="931212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业务场景</a:t>
            </a:r>
          </a:p>
        </p:txBody>
      </p:sp>
    </p:spTree>
    <p:extLst>
      <p:ext uri="{BB962C8B-B14F-4D97-AF65-F5344CB8AC3E}">
        <p14:creationId xmlns:p14="http://schemas.microsoft.com/office/powerpoint/2010/main" val="2173017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49C4-BD68-E1D2-5435-59EEFBA70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圆角矩形 25">
            <a:extLst>
              <a:ext uri="{FF2B5EF4-FFF2-40B4-BE49-F238E27FC236}">
                <a16:creationId xmlns:a16="http://schemas.microsoft.com/office/drawing/2014/main" id="{0627BA77-6347-FE42-919A-6E6438BE81C9}"/>
              </a:ext>
            </a:extLst>
          </p:cNvPr>
          <p:cNvSpPr/>
          <p:nvPr/>
        </p:nvSpPr>
        <p:spPr>
          <a:xfrm>
            <a:off x="526241" y="3251887"/>
            <a:ext cx="5063791" cy="1533474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6DFD4D9-8178-BC40-9008-8ECEA2377423}"/>
              </a:ext>
            </a:extLst>
          </p:cNvPr>
          <p:cNvSpPr/>
          <p:nvPr/>
        </p:nvSpPr>
        <p:spPr>
          <a:xfrm>
            <a:off x="526241" y="762278"/>
            <a:ext cx="3925443" cy="2318039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Google Shape;193;p38">
            <a:extLst>
              <a:ext uri="{FF2B5EF4-FFF2-40B4-BE49-F238E27FC236}">
                <a16:creationId xmlns:a16="http://schemas.microsoft.com/office/drawing/2014/main" id="{24FFB29C-C8D2-3539-56CB-69FEF0BD55B3}"/>
              </a:ext>
            </a:extLst>
          </p:cNvPr>
          <p:cNvSpPr txBox="1"/>
          <p:nvPr/>
        </p:nvSpPr>
        <p:spPr>
          <a:xfrm>
            <a:off x="526242" y="230204"/>
            <a:ext cx="6898489" cy="523947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ts val="3740"/>
              </a:lnSpc>
              <a:buClr>
                <a:srgbClr val="000000"/>
              </a:buClr>
              <a:buSzPts val="3000"/>
            </a:pP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其他优化迭代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CC289C-5750-A0C5-78B7-F345F49679D3}"/>
              </a:ext>
            </a:extLst>
          </p:cNvPr>
          <p:cNvSpPr txBox="1"/>
          <p:nvPr/>
        </p:nvSpPr>
        <p:spPr>
          <a:xfrm>
            <a:off x="644879" y="1093655"/>
            <a:ext cx="3542116" cy="1911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单变量预测的局限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：仅依赖目标变量自身的历史值进行预测，容易产生长周期失效问题。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协变量预测的价值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：除目标变量历史值外，引入外部变量（协变量）作为输入，显式注入外部信息，共同预测目标变量。例如可引入节假日标签和天气数据预测发电量。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TDengine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同时支持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历史协变量预测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未来协变量预测：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可引入天气预报、生产计划等未来数据，显著提高预测的准确度。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F8258EEA-39FC-282A-A351-F7D8DB569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259" y="949877"/>
            <a:ext cx="3993309" cy="213044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BDFE233-7E47-6988-0A9D-A34245430D54}"/>
              </a:ext>
            </a:extLst>
          </p:cNvPr>
          <p:cNvSpPr txBox="1"/>
          <p:nvPr/>
        </p:nvSpPr>
        <p:spPr>
          <a:xfrm>
            <a:off x="3967027" y="3633519"/>
            <a:ext cx="1543757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最大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4MB</a:t>
            </a:r>
          </a:p>
          <a:p>
            <a:pPr>
              <a:lnSpc>
                <a:spcPct val="150000"/>
              </a:lnSpc>
            </a:pP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开发 </a:t>
            </a:r>
            <a:r>
              <a: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BSE </a:t>
            </a:r>
            <a:r>
              <a:rPr lang="zh-CN" alt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引擎， 写入性能显著提升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1523D7E-16AB-C13D-87DA-D8C05A22CD5D}"/>
              </a:ext>
            </a:extLst>
          </p:cNvPr>
          <p:cNvCxnSpPr>
            <a:cxnSpLocks/>
          </p:cNvCxnSpPr>
          <p:nvPr/>
        </p:nvCxnSpPr>
        <p:spPr>
          <a:xfrm>
            <a:off x="4044042" y="3810152"/>
            <a:ext cx="443327" cy="0"/>
          </a:xfrm>
          <a:prstGeom prst="straightConnector1">
            <a:avLst/>
          </a:prstGeom>
          <a:ln w="12700">
            <a:solidFill>
              <a:srgbClr val="041DAA"/>
            </a:solidFill>
            <a:headEnd type="none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C54484C-8CC1-884D-9248-C0C3560E9E93}"/>
              </a:ext>
            </a:extLst>
          </p:cNvPr>
          <p:cNvSpPr txBox="1"/>
          <p:nvPr/>
        </p:nvSpPr>
        <p:spPr>
          <a:xfrm>
            <a:off x="699007" y="838664"/>
            <a:ext cx="1617474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en" altLang="zh-CN" sz="1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TDgpt</a:t>
            </a:r>
            <a:r>
              <a:rPr lang="en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 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支持协变量预测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98FAB159-BFF2-7649-9CB5-2CCE898835BA}"/>
              </a:ext>
            </a:extLst>
          </p:cNvPr>
          <p:cNvSpPr/>
          <p:nvPr/>
        </p:nvSpPr>
        <p:spPr>
          <a:xfrm>
            <a:off x="4570322" y="754151"/>
            <a:ext cx="4165246" cy="2326165"/>
          </a:xfrm>
          <a:prstGeom prst="roundRect">
            <a:avLst>
              <a:gd name="adj" fmla="val 9041"/>
            </a:avLst>
          </a:prstGeom>
          <a:noFill/>
          <a:ln>
            <a:solidFill>
              <a:srgbClr val="051D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5FF2A1A-4A8F-2C46-913A-F9B36D756ECB}"/>
              </a:ext>
            </a:extLst>
          </p:cNvPr>
          <p:cNvSpPr txBox="1"/>
          <p:nvPr/>
        </p:nvSpPr>
        <p:spPr>
          <a:xfrm>
            <a:off x="644879" y="3651656"/>
            <a:ext cx="3427249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全量原始报文存查：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车联网 </a:t>
            </a:r>
            <a:r>
              <a:rPr lang="e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总线报文超出 </a:t>
            </a:r>
            <a:r>
              <a:rPr lang="e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Binary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类型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e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KB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上限，被迫采用​​分片存储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拼接​​方案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存储优化：​​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二进制数据在进入数据文件前只能缓存在磁盘中，反复合并造成写入性能下降明显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4B2A22-CD85-134A-8BBA-0091334F0493}"/>
              </a:ext>
            </a:extLst>
          </p:cNvPr>
          <p:cNvSpPr txBox="1"/>
          <p:nvPr/>
        </p:nvSpPr>
        <p:spPr>
          <a:xfrm>
            <a:off x="699007" y="3328272"/>
            <a:ext cx="1617474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支持 </a:t>
            </a:r>
            <a:r>
              <a:rPr lang="en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BLOB 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数据类型</a:t>
            </a:r>
          </a:p>
        </p:txBody>
      </p:sp>
      <p:cxnSp>
        <p:nvCxnSpPr>
          <p:cNvPr id="29" name="直接箭头连接符 14">
            <a:extLst>
              <a:ext uri="{FF2B5EF4-FFF2-40B4-BE49-F238E27FC236}">
                <a16:creationId xmlns:a16="http://schemas.microsoft.com/office/drawing/2014/main" id="{C07556E1-136A-7344-BD5E-6BFDFD23C407}"/>
              </a:ext>
            </a:extLst>
          </p:cNvPr>
          <p:cNvCxnSpPr>
            <a:cxnSpLocks/>
          </p:cNvCxnSpPr>
          <p:nvPr/>
        </p:nvCxnSpPr>
        <p:spPr>
          <a:xfrm>
            <a:off x="4044041" y="4279544"/>
            <a:ext cx="443327" cy="0"/>
          </a:xfrm>
          <a:prstGeom prst="straightConnector1">
            <a:avLst/>
          </a:prstGeom>
          <a:ln w="12700">
            <a:solidFill>
              <a:srgbClr val="041DAA"/>
            </a:solidFill>
            <a:headEnd type="none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C4A8020-0E9D-3D42-8038-D75CC166EE0F}"/>
              </a:ext>
            </a:extLst>
          </p:cNvPr>
          <p:cNvSpPr/>
          <p:nvPr/>
        </p:nvSpPr>
        <p:spPr>
          <a:xfrm>
            <a:off x="5757267" y="3241439"/>
            <a:ext cx="3002513" cy="1543922"/>
          </a:xfrm>
          <a:prstGeom prst="roundRect">
            <a:avLst>
              <a:gd name="adj" fmla="val 9426"/>
            </a:avLst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A1EBA31-B444-5E48-BA7D-31CB926166D6}"/>
              </a:ext>
            </a:extLst>
          </p:cNvPr>
          <p:cNvSpPr txBox="1"/>
          <p:nvPr/>
        </p:nvSpPr>
        <p:spPr>
          <a:xfrm>
            <a:off x="5930033" y="3534048"/>
            <a:ext cx="2948385" cy="1219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 </a:t>
            </a:r>
            <a:r>
              <a:rPr lang="e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IPv6 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通信协议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支持天脉系统适配（企业版）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 </a:t>
            </a:r>
            <a:r>
              <a:rPr lang="en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STMT2</a:t>
            </a:r>
            <a:r>
              <a:rPr lang="zh-CN" altLang="e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参数绑定）的稳定性和性能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增加写入性能诊断的相关监测参数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提升节点恢复和副本变更的性能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87F55A9-8D6E-F149-B0D0-57F6CCE75FC3}"/>
              </a:ext>
            </a:extLst>
          </p:cNvPr>
          <p:cNvSpPr txBox="1"/>
          <p:nvPr/>
        </p:nvSpPr>
        <p:spPr>
          <a:xfrm>
            <a:off x="5930033" y="3317824"/>
            <a:ext cx="1617474" cy="222427"/>
          </a:xfrm>
          <a:prstGeom prst="roundRect">
            <a:avLst>
              <a:gd name="adj" fmla="val 50000"/>
            </a:avLst>
          </a:prstGeom>
          <a:solidFill>
            <a:srgbClr val="051DAA"/>
          </a:solidFill>
          <a:ln>
            <a:solidFill>
              <a:srgbClr val="1A07FF"/>
            </a:solidFill>
          </a:ln>
          <a:effectLst>
            <a:outerShdw blurRad="127000" dist="38100" dir="2700000" algn="tl" rotWithShape="0">
              <a:prstClr val="black">
                <a:alpha val="15000"/>
              </a:prstClr>
            </a:outerShdw>
          </a:effectLst>
        </p:spPr>
        <p:txBody>
          <a:bodyPr wrap="square" anchor="ctr">
            <a:noAutofit/>
          </a:bodyPr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</a:rPr>
              <a:t>其他优化迭代</a:t>
            </a:r>
          </a:p>
        </p:txBody>
      </p:sp>
    </p:spTree>
    <p:extLst>
      <p:ext uri="{BB962C8B-B14F-4D97-AF65-F5344CB8AC3E}">
        <p14:creationId xmlns:p14="http://schemas.microsoft.com/office/powerpoint/2010/main" val="192555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209EAD-A6B7-3341-B174-E1C20834F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" y="0"/>
            <a:ext cx="9139798" cy="5143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A2F6C0A-74C6-714A-985D-E27B75FA5C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8845" r="92560"/>
          <a:stretch/>
        </p:blipFill>
        <p:spPr>
          <a:xfrm>
            <a:off x="0" y="4634894"/>
            <a:ext cx="604762" cy="50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019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1167</TotalTime>
  <Words>1385</Words>
  <Application>Microsoft Office PowerPoint</Application>
  <PresentationFormat>全屏显示(16:9)</PresentationFormat>
  <Paragraphs>155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Microsoft YaHei Light</vt:lpstr>
      <vt:lpstr>等线</vt:lpstr>
      <vt:lpstr>Microsoft YaHei</vt:lpstr>
      <vt:lpstr>Microsoft YaHei</vt:lpstr>
      <vt:lpstr>微软雅黑 Light</vt:lpstr>
      <vt:lpstr>Arial</vt:lpstr>
      <vt:lpstr>Calibri</vt:lpstr>
      <vt:lpstr>Calibri Light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guanshengliang@qq.com</cp:lastModifiedBy>
  <cp:revision>124</cp:revision>
  <dcterms:created xsi:type="dcterms:W3CDTF">2025-03-26T01:41:00Z</dcterms:created>
  <dcterms:modified xsi:type="dcterms:W3CDTF">2025-07-29T01:48:41Z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D38DAE2113AE673D5372E2671DD5E82D_42</vt:lpwstr>
  </property>
  <property fmtid="{D5CDD505-2E9C-101B-9397-08002B2CF9AE}" pid="3" name="KSOProductBuildVer">
    <vt:lpwstr>2052-12.1.0.20305</vt:lpwstr>
  </property>
</Properties>
</file>