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6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  <p:sldMasterId id="2147483664" r:id="rId12"/>
  </p:sldMasterIdLst>
  <p:notesMasterIdLst>
    <p:notesMasterId r:id="rId6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Masters/slideMaster6.xml" Type="http://schemas.openxmlformats.org/officeDocument/2006/relationships/slideMaster"/><Relationship Id="rId13" Target="slides/slide1.xml" Type="http://schemas.openxmlformats.org/officeDocument/2006/relationships/slide"/><Relationship Id="rId14" Target="slides/slide2.xml" Type="http://schemas.openxmlformats.org/officeDocument/2006/relationships/slide"/><Relationship Id="rId15" Target="slides/slide3.xml" Type="http://schemas.openxmlformats.org/officeDocument/2006/relationships/slide"/><Relationship Id="rId16" Target="slides/slide4.xml" Type="http://schemas.openxmlformats.org/officeDocument/2006/relationships/slide"/><Relationship Id="rId17" Target="slides/slide5.xml" Type="http://schemas.openxmlformats.org/officeDocument/2006/relationships/slide"/><Relationship Id="rId18" Target="slides/slide6.xml" Type="http://schemas.openxmlformats.org/officeDocument/2006/relationships/slide"/><Relationship Id="rId19" Target="slides/slide7.xml" Type="http://schemas.openxmlformats.org/officeDocument/2006/relationships/slide"/><Relationship Id="rId2" Target="viewProps.xml" Type="http://schemas.openxmlformats.org/officeDocument/2006/relationships/viewProps"/><Relationship Id="rId20" Target="slides/slide8.xml" Type="http://schemas.openxmlformats.org/officeDocument/2006/relationships/slide"/><Relationship Id="rId21" Target="slides/slide9.xml" Type="http://schemas.openxmlformats.org/officeDocument/2006/relationships/slide"/><Relationship Id="rId22" Target="slides/slide10.xml" Type="http://schemas.openxmlformats.org/officeDocument/2006/relationships/slide"/><Relationship Id="rId23" Target="slides/slide11.xml" Type="http://schemas.openxmlformats.org/officeDocument/2006/relationships/slide"/><Relationship Id="rId24" Target="slides/slide12.xml" Type="http://schemas.openxmlformats.org/officeDocument/2006/relationships/slide"/><Relationship Id="rId25" Target="slides/slide13.xml" Type="http://schemas.openxmlformats.org/officeDocument/2006/relationships/slide"/><Relationship Id="rId26" Target="slides/slide14.xml" Type="http://schemas.openxmlformats.org/officeDocument/2006/relationships/slide"/><Relationship Id="rId27" Target="slides/slide15.xml" Type="http://schemas.openxmlformats.org/officeDocument/2006/relationships/slide"/><Relationship Id="rId28" Target="slides/slide16.xml" Type="http://schemas.openxmlformats.org/officeDocument/2006/relationships/slide"/><Relationship Id="rId29" Target="slides/slide17.xml" Type="http://schemas.openxmlformats.org/officeDocument/2006/relationships/slide"/><Relationship Id="rId3" Target="presProps.xml" Type="http://schemas.openxmlformats.org/officeDocument/2006/relationships/presProps"/><Relationship Id="rId30" Target="slides/slide18.xml" Type="http://schemas.openxmlformats.org/officeDocument/2006/relationships/slide"/><Relationship Id="rId31" Target="slides/slide19.xml" Type="http://schemas.openxmlformats.org/officeDocument/2006/relationships/slide"/><Relationship Id="rId32" Target="slides/slide20.xml" Type="http://schemas.openxmlformats.org/officeDocument/2006/relationships/slide"/><Relationship Id="rId33" Target="slides/slide21.xml" Type="http://schemas.openxmlformats.org/officeDocument/2006/relationships/slide"/><Relationship Id="rId34" Target="slides/slide22.xml" Type="http://schemas.openxmlformats.org/officeDocument/2006/relationships/slide"/><Relationship Id="rId35" Target="slides/slide23.xml" Type="http://schemas.openxmlformats.org/officeDocument/2006/relationships/slide"/><Relationship Id="rId36" Target="slides/slide24.xml" Type="http://schemas.openxmlformats.org/officeDocument/2006/relationships/slide"/><Relationship Id="rId37" Target="slides/slide25.xml" Type="http://schemas.openxmlformats.org/officeDocument/2006/relationships/slide"/><Relationship Id="rId38" Target="slides/slide26.xml" Type="http://schemas.openxmlformats.org/officeDocument/2006/relationships/slide"/><Relationship Id="rId39" Target="slides/slide27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28.xml" Type="http://schemas.openxmlformats.org/officeDocument/2006/relationships/slide"/><Relationship Id="rId41" Target="slides/slide29.xml" Type="http://schemas.openxmlformats.org/officeDocument/2006/relationships/slide"/><Relationship Id="rId42" Target="slides/slide30.xml" Type="http://schemas.openxmlformats.org/officeDocument/2006/relationships/slide"/><Relationship Id="rId43" Target="slides/slide31.xml" Type="http://schemas.openxmlformats.org/officeDocument/2006/relationships/slide"/><Relationship Id="rId44" Target="slides/slide32.xml" Type="http://schemas.openxmlformats.org/officeDocument/2006/relationships/slide"/><Relationship Id="rId45" Target="notesSlides/notesSlide1.xml" Type="http://schemas.openxmlformats.org/officeDocument/2006/relationships/notesSlide"/><Relationship Id="rId46" Target="notesSlides/notesSlide2.xml" Type="http://schemas.openxmlformats.org/officeDocument/2006/relationships/notesSlide"/><Relationship Id="rId47" Target="notesSlides/notesSlide3.xml" Type="http://schemas.openxmlformats.org/officeDocument/2006/relationships/notesSlide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notesSlides/notesSlide31.xml" Type="http://schemas.openxmlformats.org/officeDocument/2006/relationships/notesSlide"/><Relationship Id="rId76" Target="notesSlides/notesSlide32.xml" Type="http://schemas.openxmlformats.org/officeDocument/2006/relationships/notesSlid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1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2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3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4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5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6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7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8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9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0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1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2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2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2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2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2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2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2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3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3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3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3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3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3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3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5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6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6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6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6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6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6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7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7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7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7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7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7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8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8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8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8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8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8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8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8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9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9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9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9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9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9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9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1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2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2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2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2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2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2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3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3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3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3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3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3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4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4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24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24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24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24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4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4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5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5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5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5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5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25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5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5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5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6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7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7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7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7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7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7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8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8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8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8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8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8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8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8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9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9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9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9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9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9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9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9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9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0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30.xml" Type="http://schemas.openxmlformats.org/officeDocument/2006/relationships/slideLayout"/><Relationship Id="rId11" Target="../slideLayouts/slideLayout31.xml" Type="http://schemas.openxmlformats.org/officeDocument/2006/relationships/slideLayout"/><Relationship Id="rId2" Target="../slideLayouts/slideLayout22.xml" Type="http://schemas.openxmlformats.org/officeDocument/2006/relationships/slideLayout"/><Relationship Id="rId3" Target="../slideLayouts/slideLayout23.xml" Type="http://schemas.openxmlformats.org/officeDocument/2006/relationships/slideLayout"/><Relationship Id="rId4" Target="../slideLayouts/slideLayout24.xml" Type="http://schemas.openxmlformats.org/officeDocument/2006/relationships/slideLayout"/><Relationship Id="rId5" Target="../slideLayouts/slideLayout25.xml" Type="http://schemas.openxmlformats.org/officeDocument/2006/relationships/slideLayout"/><Relationship Id="rId6" Target="../slideLayouts/slideLayout26.xml" Type="http://schemas.openxmlformats.org/officeDocument/2006/relationships/slideLayout"/><Relationship Id="rId7" Target="../slideLayouts/slideLayout27.xml" Type="http://schemas.openxmlformats.org/officeDocument/2006/relationships/slideLayout"/><Relationship Id="rId8" Target="../slideLayouts/slideLayout28.xml" Type="http://schemas.openxmlformats.org/officeDocument/2006/relationships/slideLayout"/><Relationship Id="rId9" Target="../slideLayouts/slideLayout29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10" Target="../slideLayouts/slideLayout40.xml" Type="http://schemas.openxmlformats.org/officeDocument/2006/relationships/slideLayout"/><Relationship Id="rId11" Target="../slideLayouts/slideLayout41.xml" Type="http://schemas.openxmlformats.org/officeDocument/2006/relationships/slideLayout"/><Relationship Id="rId2" Target="../slideLayouts/slideLayout32.xml" Type="http://schemas.openxmlformats.org/officeDocument/2006/relationships/slideLayout"/><Relationship Id="rId3" Target="../slideLayouts/slideLayout33.xml" Type="http://schemas.openxmlformats.org/officeDocument/2006/relationships/slideLayout"/><Relationship Id="rId4" Target="../slideLayouts/slideLayout34.xml" Type="http://schemas.openxmlformats.org/officeDocument/2006/relationships/slideLayout"/><Relationship Id="rId5" Target="../slideLayouts/slideLayout35.xml" Type="http://schemas.openxmlformats.org/officeDocument/2006/relationships/slideLayout"/><Relationship Id="rId6" Target="../slideLayouts/slideLayout36.xml" Type="http://schemas.openxmlformats.org/officeDocument/2006/relationships/slideLayout"/><Relationship Id="rId7" Target="../slideLayouts/slideLayout37.xml" Type="http://schemas.openxmlformats.org/officeDocument/2006/relationships/slideLayout"/><Relationship Id="rId8" Target="../slideLayouts/slideLayout38.xml" Type="http://schemas.openxmlformats.org/officeDocument/2006/relationships/slideLayout"/><Relationship Id="rId9" Target="../slideLayouts/slideLayout39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10" Target="../slideLayouts/slideLayout50.xml" Type="http://schemas.openxmlformats.org/officeDocument/2006/relationships/slideLayout"/><Relationship Id="rId11" Target="../slideLayouts/slideLayout51.xml" Type="http://schemas.openxmlformats.org/officeDocument/2006/relationships/slideLayout"/><Relationship Id="rId2" Target="../slideLayouts/slideLayout42.xml" Type="http://schemas.openxmlformats.org/officeDocument/2006/relationships/slideLayout"/><Relationship Id="rId3" Target="../slideLayouts/slideLayout43.xml" Type="http://schemas.openxmlformats.org/officeDocument/2006/relationships/slideLayout"/><Relationship Id="rId4" Target="../slideLayouts/slideLayout44.xml" Type="http://schemas.openxmlformats.org/officeDocument/2006/relationships/slideLayout"/><Relationship Id="rId5" Target="../slideLayouts/slideLayout45.xml" Type="http://schemas.openxmlformats.org/officeDocument/2006/relationships/slideLayout"/><Relationship Id="rId6" Target="../slideLayouts/slideLayout46.xml" Type="http://schemas.openxmlformats.org/officeDocument/2006/relationships/slideLayout"/><Relationship Id="rId7" Target="../slideLayouts/slideLayout47.xml" Type="http://schemas.openxmlformats.org/officeDocument/2006/relationships/slideLayout"/><Relationship Id="rId8" Target="../slideLayouts/slideLayout48.xml" Type="http://schemas.openxmlformats.org/officeDocument/2006/relationships/slideLayout"/><Relationship Id="rId9" Target="../slideLayouts/slideLayout49.xml" Type="http://schemas.openxmlformats.org/officeDocument/2006/relationships/slideLayout"/></Relationships>
</file>

<file path=ppt/slideMasters/_rels/slideMaster6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Relationship Id="rId10" Target="../slideLayouts/slideLayout60.xml" Type="http://schemas.openxmlformats.org/officeDocument/2006/relationships/slideLayout"/><Relationship Id="rId11" Target="../slideLayouts/slideLayout61.xml" Type="http://schemas.openxmlformats.org/officeDocument/2006/relationships/slideLayout"/><Relationship Id="rId2" Target="../slideLayouts/slideLayout52.xml" Type="http://schemas.openxmlformats.org/officeDocument/2006/relationships/slideLayout"/><Relationship Id="rId3" Target="../slideLayouts/slideLayout53.xml" Type="http://schemas.openxmlformats.org/officeDocument/2006/relationships/slideLayout"/><Relationship Id="rId4" Target="../slideLayouts/slideLayout54.xml" Type="http://schemas.openxmlformats.org/officeDocument/2006/relationships/slideLayout"/><Relationship Id="rId5" Target="../slideLayouts/slideLayout55.xml" Type="http://schemas.openxmlformats.org/officeDocument/2006/relationships/slideLayout"/><Relationship Id="rId6" Target="../slideLayouts/slideLayout56.xml" Type="http://schemas.openxmlformats.org/officeDocument/2006/relationships/slideLayout"/><Relationship Id="rId7" Target="../slideLayouts/slideLayout57.xml" Type="http://schemas.openxmlformats.org/officeDocument/2006/relationships/slideLayout"/><Relationship Id="rId8" Target="../slideLayouts/slideLayout58.xml" Type="http://schemas.openxmlformats.org/officeDocument/2006/relationships/slideLayout"/><Relationship Id="rId9" Target="../slideLayouts/slideLayout5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9" r:id="rId2"/>
    <p:sldLayoutId id="2157483710" r:id="rId3"/>
    <p:sldLayoutId id="2157483711" r:id="rId4"/>
    <p:sldLayoutId id="2157483712" r:id="rId5"/>
    <p:sldLayoutId id="2157483713" r:id="rId6"/>
    <p:sldLayoutId id="2157483714" r:id="rId7"/>
    <p:sldLayoutId id="2157483715" r:id="rId8"/>
    <p:sldLayoutId id="2157483716" r:id="rId9"/>
    <p:sldLayoutId id="2157483717" r:id="rId10"/>
    <p:sldLayoutId id="215748371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9" r:id="rId2"/>
    <p:sldLayoutId id="2157483720" r:id="rId3"/>
    <p:sldLayoutId id="2157483721" r:id="rId4"/>
    <p:sldLayoutId id="2157483722" r:id="rId5"/>
    <p:sldLayoutId id="2157483723" r:id="rId6"/>
    <p:sldLayoutId id="2157483724" r:id="rId7"/>
    <p:sldLayoutId id="2157483725" r:id="rId8"/>
    <p:sldLayoutId id="2157483726" r:id="rId9"/>
    <p:sldLayoutId id="2157483727" r:id="rId10"/>
    <p:sldLayoutId id="215748372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29" r:id="rId2"/>
    <p:sldLayoutId id="2157483730" r:id="rId3"/>
    <p:sldLayoutId id="2157483731" r:id="rId4"/>
    <p:sldLayoutId id="2157483732" r:id="rId5"/>
    <p:sldLayoutId id="2157483733" r:id="rId6"/>
    <p:sldLayoutId id="2157483734" r:id="rId7"/>
    <p:sldLayoutId id="2157483735" r:id="rId8"/>
    <p:sldLayoutId id="2157483736" r:id="rId9"/>
    <p:sldLayoutId id="2157483737" r:id="rId10"/>
    <p:sldLayoutId id="215748373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39" r:id="rId2"/>
    <p:sldLayoutId id="2157483740" r:id="rId3"/>
    <p:sldLayoutId id="2157483741" r:id="rId4"/>
    <p:sldLayoutId id="2157483742" r:id="rId5"/>
    <p:sldLayoutId id="2157483743" r:id="rId6"/>
    <p:sldLayoutId id="2157483744" r:id="rId7"/>
    <p:sldLayoutId id="2157483745" r:id="rId8"/>
    <p:sldLayoutId id="2157483746" r:id="rId9"/>
    <p:sldLayoutId id="2157483747" r:id="rId10"/>
    <p:sldLayoutId id="215748374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https%3A%2F%2Ftaosdata.feishu.cn%2Fwiki%2FNYlQwxdDxiBwoBkHqzRcWz7SnEb" TargetMode="External" Type="http://schemas.openxmlformats.org/officeDocument/2006/relationships/hyperlink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https://rhai.rs/book/" TargetMode="External" Type="http://schemas.openxmlformats.org/officeDocument/2006/relationships/hyperlink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https://taosdata.feishu.cn/wiki/UMyUwaN5yiz82gk4Dj5cij01n2f" TargetMode="External" Type="http://schemas.openxmlformats.org/officeDocument/2006/relationships/hyperlink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5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10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5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1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Relationship Id="rId6" Target="../notesSlides/notesSlide3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543933" y="6627707"/>
            <a:ext cx="9753600" cy="23029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0" y="0"/>
            <a:ext cx="12192000" cy="3371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9057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.0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新特性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274398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关胜亮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2024-06-30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5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1693001" y="2324100"/>
            <a:ext cx="5207000" cy="2819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21636" y="5553709"/>
            <a:ext cx="1905000" cy="40034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061302" y="3213100"/>
            <a:ext cx="2057400" cy="40894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0" y="2493315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719532" y="2540940"/>
            <a:ext cx="2603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行业版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3540042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19532" y="3589005"/>
            <a:ext cx="3754327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数据接入：Oracle、SQL Server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3016679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19532" y="3064973"/>
            <a:ext cx="2815044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数据接入：支持 UDT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4047185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19532" y="4094810"/>
            <a:ext cx="2603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引擎：新特性、改进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4535278"/>
            <a:ext cx="8509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719532" y="4582903"/>
            <a:ext cx="2603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应用：新特性、改进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行业版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行业版介绍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9781222" cy="304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为了覆盖更多客户群，以较低价格、大量出货、快速占据市场，公司决定裁剪出若干行业版本。TDengine 行业版面向的是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有共性需求的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可承受不同价格敏感度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的市场，例如电厂、风厂的集控软件，储能站的 EMS 软件等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行业版数目不做限制，例如水电版、火电版、光伏版，命名、价格、销售范围由中国业务部决定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行业版的版本号与对应企业版的版本号相同，发版周期也与企业版相同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行业版功能裁剪自完整的企业版，按需定制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行业版与企业版的界面稍有不同，体现在安装包命名、taos-explorer、taos shell 中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202401"/>
            <a:ext cx="102489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行业版申请方法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中国业务部提出申请，提供功能列表、版本名称等信息，见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%3A%2F%2Ftaosdata.feishu.cn%2Fwiki%2FNYlQwxdDxiBwoBkHqzRcWz7SnE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TDengine 行业版用户手册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试部在一个工作日内提供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安装包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行业版界面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301799"/>
            <a:ext cx="3148658" cy="225599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4164658" y="1301799"/>
            <a:ext cx="6967438" cy="333002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61042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数据接入：支持 UDT（用户自定义数据转换）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需求来源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在河北电力分布式光伏项目中，营销部门用电采集系统的消息格式非常特殊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21950"/>
            <a:ext cx="3962400" cy="4389266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"DATA_ITEM_ID": "监测数据项代码",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"MONITOR_OBJ_TYPE": "被监测对象类型",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"MONITOR_OBJ_CODE": "被监测对象代码",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"PRO_MGT_ORG_CODE": "省编码",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"MGT_ORG_CODE": "管理单位编码",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"PUSH_DATE": "推送时间",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"U0000": "0点0分电压",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"U0001": "0点1分电压",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"U0002": "0点2分电压",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...,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"U2359": "23点59分电压",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"PHASE_FLAG": "相位标识",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"DATA_POINT_FLAG": "数据点标志",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"DATA_DATE": "数据日期",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"CMD_TYPE": "业务对象操作类型",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"PRODUCT_CODE": "采样方式",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"DEV_ID":"设备标识",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"TERMINAL_ID":"终端标识"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36800" y="1721950"/>
            <a:ext cx="56261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采用类似列转行的方式，将 U0000 字段的名称解析为采集时间，将字段的值解析为采集值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36800" y="3002184"/>
            <a:ext cx="56261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DEV_ID 列过滤要接入的设备，且过滤方法要能够动态更新生效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taosX 中支持 UDT（用户自定义数据转换），使用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rhai.rs/book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rhai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语言解析收到的消息，并进行过滤。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21950"/>
            <a:ext cx="10502900" cy="443135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(!data["</a:t>
            </a:r>
            <a:r>
              <a:rPr lang="en-US" b="tru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DEV_ID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"].starts_with("xxx")) { 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// 过滤设备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return []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let result = [];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let share_data = #{};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 (k, i) in data.keys() {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if (k.len == 5 &amp;&amp; (k.starts_with("U0") || k.starts_with("U1") || k.starts_with("U2"))) {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let ymd = data["DATA_DATE"].split('-');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if ymd[1].len == 1 { ymd[1] = "0" + ymd[1] } 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if ymd[2].len == 1 { ymd[2] = "0" + ymd[2] } 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let item = #{"_ts": `${ymd[0]}-${ymd[1]}-${ymd[2]} ${k.sub_string(1,2)}:${k.sub_string(3,2)}:00`, "_value": data[k]};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result.push(item);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} else if (k != "DATA_DATE") {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share_data.set(k, data[k]);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  }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 (item, i) in result {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result[i] += share_data;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521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配置界面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165780" y="1072972"/>
            <a:ext cx="943960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1628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功能亮点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支持通过脚本语言 rhai 解析消息体，极大的增强了解析能力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轻量级部署，无其他新增组件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在河北电力项目中，与 Apache nifi 相比，预期节省大量机器资源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953494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功能尚未在客户现场完整验证，参见 </a:t>
            </a:r>
            <a:r>
              <a:rPr lang="en-US" b="false" i="false" strike="noStrike" u="none" sz="16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taosdata.feishu.cn/wiki/UMyUwaN5yiz82gk4Dj5cij01n2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taosX 1.7.0 的新功能介绍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数据接入：Oracle、SQL Server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功能介绍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96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在工业、电力领域，大多采用实时数据库解决传统的流程工业的实时监测问题。实时数据库的历史数据通常存储在关系数据库中，TDengine 支持的关系数据库如下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D83931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Oracle （本次新增）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D83931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SQL Server （本次新增）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使用关系数据库存储时序数据有很多缺点，例如：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海量时序数据读写性能低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分布式支持差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数据量越大，查询越慢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时序数据特有分析需要应用来开发</a:t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86028" y="5324637"/>
            <a:ext cx="4890777" cy="1075495"/>
          </a:xfrm>
          <a:prstGeom prst="roundRect">
            <a:avLst>
              <a:gd name="adj" fmla="val 18893"/>
            </a:avLst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7094" y="5794917"/>
            <a:ext cx="1524000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关系型数据库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785403" y="5794917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DataIn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0" flipH="false" flipV="false">
            <a:off x="2628900" y="5998774"/>
            <a:ext cx="7366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name="Connector 9" id="9"/>
          <p:cNvCxnSpPr/>
          <p:nvPr/>
        </p:nvCxnSpPr>
        <p:spPr>
          <a:xfrm rot="0" flipH="false" flipV="false">
            <a:off x="5569723" y="5998774"/>
            <a:ext cx="75380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451167" y="5794744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Transformer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02157" y="5794917"/>
            <a:ext cx="1656681" cy="407714"/>
          </a:xfrm>
          <a:prstGeom prst="roundRect">
            <a:avLst>
              <a:gd name="adj" fmla="val 49838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wrap="square" lIns="63500" rIns="63500" tIns="25400" bIns="63500">
            <a:no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8604444" y="5998774"/>
            <a:ext cx="737537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2B2F36">
                <a:alpha val="100000"/>
              </a:srgbClr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785403" y="5404950"/>
            <a:ext cx="1422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521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以 Oracle 为例，在企业版 Taos Explorer 中配置数据源，仅需三步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35809"/>
            <a:ext cx="45212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2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 SQL 信息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03529" y="1577243"/>
            <a:ext cx="1524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3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进行数据映射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4646959"/>
            <a:ext cx="4521200" cy="1612864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16000" y="1805843"/>
            <a:ext cx="4521200" cy="2479166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1016000" y="1577243"/>
            <a:ext cx="1524000" cy="20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-139700" marL="1397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配置连接信息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6003529" y="1805843"/>
            <a:ext cx="5173524" cy="445398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按日期分表场景的数据接入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050152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假设有按照日期格式 20240708 （2024 年 07 月 08 日）这样的日期分表的数据库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17736"/>
            <a:ext cx="10207092" cy="683713"/>
          </a:xfrm>
          <a:prstGeom prst="rect">
            <a:avLst/>
          </a:prstGeom>
          <a:solidFill>
            <a:srgbClr val="F2F3F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table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meters_part_20240708(id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ts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time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current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float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voltage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phase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float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insert into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meters_part_20240708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values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"08:00:00"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2.1, 10, 0.1)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99399"/>
            <a:ext cx="10050152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可以使用日期占位符构建如下 SQL 模板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97935"/>
            <a:ext cx="10207092" cy="520700"/>
          </a:xfrm>
          <a:prstGeom prst="rect">
            <a:avLst/>
          </a:prstGeom>
          <a:solidFill>
            <a:srgbClr val="F2F3F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id, concat(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'${Y}-${m}-${d}'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ts,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'+08:00'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ts, current, voltage, phase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meters_part_${Ymd};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16585"/>
            <a:ext cx="10050152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其对应到 20240708 日期的表 SQL 如下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015121"/>
            <a:ext cx="10207092" cy="520700"/>
          </a:xfrm>
          <a:prstGeom prst="rect">
            <a:avLst/>
          </a:prstGeom>
          <a:solidFill>
            <a:srgbClr val="F2F3F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id, concat(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'2024-07-08'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ts,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'+08:00'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ts, current, voltage, phase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meters_part_20240708;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733772"/>
            <a:ext cx="10050152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查询结果如下表</a:t>
            </a:r>
            <a:endParaRPr lang="en-US" sz="1100"/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016000" y="5132307"/>
          <a:ext cx="11889162" cy="711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725957"/>
                <a:gridCol w="1704881"/>
                <a:gridCol w="1610884"/>
                <a:gridCol w="1592085"/>
                <a:gridCol w="1573285"/>
              </a:tblGrid>
              <a:tr h="355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id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current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voltage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phase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2024-07-08T08:00:00+08:00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marL="101600" marR="101600" marT="0" marB="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</a:t>
                      </a:r>
                      <a:endParaRPr lang="en-US" sz="1100"/>
                    </a:p>
                  </a:txBody>
                  <a:tcPr anchor="ctr" marL="101600" marR="101600" marT="0" marB="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902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宽表列转行场景的数据接入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假设有表 mytable，每分钟数据均为单独列，共 m00...m59 总计 60 列时序值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17736"/>
            <a:ext cx="10666910" cy="683713"/>
          </a:xfrm>
          <a:prstGeom prst="rect">
            <a:avLst/>
          </a:prstGeom>
          <a:solidFill>
            <a:srgbClr val="F2F3F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table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mytable(id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dt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date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hour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smallint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m00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m01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m02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……, m59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insert into 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mytable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values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'2024-04-04'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1, 0, 1, 2, 3, 4, 5, ……);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99399"/>
            <a:ext cx="10502900" cy="62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Transformer 支持 pivot （转置，行转列，或列转行）前，可以使用关系型数据库 union all 进行预处理以达到列转行的目的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68650"/>
            <a:ext cx="10666910" cy="2895427"/>
          </a:xfrm>
          <a:prstGeom prst="rect">
            <a:avLst/>
          </a:prstGeom>
          <a:solidFill>
            <a:srgbClr val="F2F3F5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concat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(dt,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LPAD(hour, 2, '0'),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':00:00+0800'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m, m00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value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mytable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UNION ALL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concat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(dt,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LPAD(hour, 2, '0'),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':01:00+0800'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m, m01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value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mytable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UNION ALL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concat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(dt,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LPAD(hour, 2, '0'),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':02:00+0800'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m, m02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value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mytable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UNION ALL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UNION ALL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concat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(dt,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'T'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LPAD(hour, 2, '0'),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':05:00+0800'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m, m05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AS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value </a:t>
            </a:r>
            <a:r>
              <a:rPr lang="en-US" b="false" i="false" strike="noStrike" u="none" sz="1200">
                <a:solidFill>
                  <a:srgbClr val="1258FF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mytable;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7162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功能亮点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SQL 语句将关系数据的时序数据查询出来，按用户配置的 transformer 规则进行转换，写入到 TDengine 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支持历史数据迁移和实时数据同步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支持迁移过程的断点续传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transformer 功能，在迁移之前配置数据模型，迁移过程中按照新的数据模型组织数据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支持通过可视化界面管理以上功能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实时数据延迟在秒级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数据同步：TDengine 3.0 -&gt; 3.0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以三峡项目为例介绍数据同步场景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3372950"/>
            <a:ext cx="9753600" cy="289162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16000" y="1416812"/>
            <a:ext cx="9753600" cy="156057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配置方法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1412177"/>
            <a:ext cx="9602080" cy="245368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16566" r="23465" t="15010" b="20394"/>
          <a:stretch>
            <a:fillRect/>
          </a:stretch>
        </p:blipFill>
        <p:spPr>
          <a:xfrm rot="0" flipH="false" flipV="false">
            <a:off x="1016000" y="4411777"/>
            <a:ext cx="5718672" cy="1844233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cxnSp>
        <p:nvCxnSpPr>
          <p:cNvPr name="Connector 6" id="6"/>
          <p:cNvCxnSpPr/>
          <p:nvPr/>
        </p:nvCxnSpPr>
        <p:spPr>
          <a:xfrm rot="8100000" flipH="false" flipV="true">
            <a:off x="3535960" y="3928452"/>
            <a:ext cx="302219" cy="30221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新增优化项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支持数据压缩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支持操作系统时间频繁变更的数据同步场景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细化数据同步失败的错误信息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提升元数据的同步速度（约提升 200 倍）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支持同步时修改表名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624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同步帐号、密码和权限数据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在两个不同集群之间迁移数据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21950"/>
            <a:ext cx="6912689" cy="3048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privileges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-f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"taos://root:taosdata@hosta:6030"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"taos+ws://root:abcdef@hostb:16041"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372475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2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备份到数据文件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824425"/>
            <a:ext cx="6912689" cy="3048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privileges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-f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"taos://root:taosdata@hosta:6030"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-o</a:t>
            </a:r>
            <a:r>
              <a:rPr lang="en-US" b="false" i="false" strike="noStrike" u="none" sz="11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/data/20240531.security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276375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3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从数据文件恢复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5728326"/>
            <a:ext cx="6912689" cy="3048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privileges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-i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/data/20240531.security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-t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"taos://root:taosdata@hosta:6030"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2300901"/>
            <a:ext cx="5752282" cy="176201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7494123" y="2299717"/>
            <a:ext cx="4287751" cy="1798607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name="Connector 12" id="12"/>
          <p:cNvCxnSpPr/>
          <p:nvPr/>
        </p:nvCxnSpPr>
        <p:spPr>
          <a:xfrm rot="0" flipH="false" flipV="false">
            <a:off x="6768282" y="3077801"/>
            <a:ext cx="588417" cy="91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D83931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引擎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1656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单副本支持不写 WAL 文件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2122938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478032"/>
            <a:ext cx="6912689" cy="3048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database db </a:t>
            </a:r>
            <a:r>
              <a:rPr lang="en-US" b="false" i="false" strike="noStrike" u="none" sz="11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wal_level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1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fals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412243"/>
            <a:ext cx="10287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对写入性能有要求的 POC 测试，相比写 WAL 性能提升 2~2.8 倍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883926"/>
            <a:ext cx="102870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使用限制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单副本情况下使用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不支持流计算、数据订阅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修改副本数目时需将 wal_level 设置为 1，且设置为 1 后立刻修改副本数目，否则可能出现启动失败的故障</a:t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344426"/>
            <a:ext cx="42291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最佳实践（简单）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1、创建wal_level=0的库 
2、写入数据
3、alter database db wal_level 1;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4、alter database db replica 3;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8659" y="4344426"/>
            <a:ext cx="42291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最佳实践（复杂）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1、创建wal_level=0的库 
2、写入数据
3、flush database db;
4、重启成功
5、alter database db wal_level 1;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6、alter database db replica 3;    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243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数据整理</a:t>
            </a:r>
            <a:endParaRPr lang="en-US" sz="1100"/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降低 stt_trigger = 1 时数据整理对读写性能的影响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每级挂载点上限调整至 128，三级挂载点最多 128 * 3 个磁盘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多级存储跨级挪数据不影响数据库读写（限制移动时的磁盘写入速度，配置参数）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其他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调整了 audit 和 log 库的默认参数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大幅提升 stmt interlace 模式的写入性能，taosBenchmark 性能提高 10 倍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大单表投影查询性能提升（传输压缩）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系统解决查询过程中的死锁问题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运维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白名单：启动参数支持热更新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用户权限：增加创建数据库的权限，普通用户默认没有创建数据库的权限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负载均衡：支持按 VGroup、Database 重新选主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953494"/>
            <a:ext cx="10287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交付人员需仔细查看用户手册，培训过程不详细介绍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243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企业版</a:t>
            </a:r>
            <a:endParaRPr lang="en-US" sz="1100"/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麒麟 v10 + x86 服务器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麒麟 v10 Arm64 国防版 + 鲲鹏处理器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Euler + Hygon CPU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Anolis OS + Hygon 7280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社区版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centos stream 操作系统</a:t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数据接入-改进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CSV 导入</a:t>
            </a:r>
            <a:endParaRPr lang="en-US" sz="1100"/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提升数据在同一个 CSV 文件的导入性能（一读多写，按 vnode 拆分写线程）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PI 连接器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经过 Cargill 的 POC 验证，可用性大大提升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MQTT 接入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JSON Array 格式的消息体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支持从服务器获取示例数据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Kafka 接入</a:t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支持从服务端获取示例数据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taos-explorer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geometry 类型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varbinary 类型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优化数据列和标签列的显示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taosX 写入端原生连接配置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67200" cy="52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70000"/>
            <a:ext cx="102870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WebSocket 性能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数据订阅性能提升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写入性能提升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读取性能提升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Flink 连接器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Flink Sink Connector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096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下个版本正式发布，当前版本可单独提供用户使用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85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6278" y="0"/>
            <a:ext cx="17373" cy="283172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805958"/>
            <a:ext cx="12192000" cy="711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876278" y="4966564"/>
            <a:ext cx="635000" cy="25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9799481" y="371488"/>
            <a:ext cx="1902925" cy="39991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-5400000" flipH="false" flipV="false">
            <a:off x="3289552" y="7327221"/>
            <a:ext cx="9745980" cy="54864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