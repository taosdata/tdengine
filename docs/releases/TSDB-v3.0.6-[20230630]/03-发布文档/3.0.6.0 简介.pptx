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80" r:id="rId3"/>
    <p:sldId id="283" r:id="rId4"/>
    <p:sldId id="28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2" r:id="rId16"/>
    <p:sldId id="267" r:id="rId17"/>
    <p:sldId id="268" r:id="rId18"/>
    <p:sldId id="269" r:id="rId20"/>
    <p:sldId id="270" r:id="rId21"/>
    <p:sldId id="271" r:id="rId22"/>
    <p:sldId id="273" r:id="rId23"/>
    <p:sldId id="275" r:id="rId24"/>
    <p:sldId id="277" r:id="rId25"/>
    <p:sldId id="279" r:id="rId26"/>
    <p:sldId id="284" r:id="rId27"/>
    <p:sldId id="286" r:id="rId28"/>
    <p:sldId id="288" r:id="rId29"/>
    <p:sldId id="290" r:id="rId30"/>
    <p:sldId id="292" r:id="rId31"/>
    <p:sldId id="294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87be4df7800f0bc4/&#25991;&#26723;/order%20by%20limit%20performance%20tes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87be4df7800f0bc4/&#25991;&#26723;/order%20by%20limit%20performance%20test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d.docs.live.net/87be4df7800f0bc4/&#25991;&#26723;/order%20by%20limit%20performance%20te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order by limit</a:t>
            </a:r>
            <a:r>
              <a:rPr lang="zh-CN" altLang="en-US"/>
              <a:t>性能对比</a:t>
            </a:r>
            <a:endParaRPr lang="zh-C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7931820990878"/>
          <c:y val="0.0911038935672236"/>
          <c:w val="0.770657275603501"/>
          <c:h val="0.7279354191648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'[order by limit performance test.xlsx]Sheet1'!$C$1</c:f>
              <c:strCache>
                <c:ptCount val="1"/>
                <c:pt idx="0">
                  <c:v>time_before_opt(s)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test.xlsx]Sheet1'!$B$22:$B$35,'[order by limit performance test.xlsx]Sheet1'!$B$37:$B$38</c:f>
              <c:numCache>
                <c:formatCode>General</c:formatCode>
                <c:ptCount val="16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3000000</c:v>
                </c:pt>
                <c:pt idx="15">
                  <c:v>5000000</c:v>
                </c:pt>
              </c:numCache>
            </c:numRef>
          </c:xVal>
          <c:yVal>
            <c:numRef>
              <c:f>'[order by limit performance test.xlsx]Sheet1'!$C$22:$C$35,'[order by limit performance test.xlsx]Sheet1'!$C$37:$C$38</c:f>
              <c:numCache>
                <c:formatCode>General</c:formatCode>
                <c:ptCount val="16"/>
                <c:pt idx="0">
                  <c:v>104.616448</c:v>
                </c:pt>
                <c:pt idx="1">
                  <c:v>106.635969</c:v>
                </c:pt>
                <c:pt idx="2">
                  <c:v>111.929803</c:v>
                </c:pt>
                <c:pt idx="3">
                  <c:v>107.466765</c:v>
                </c:pt>
                <c:pt idx="4">
                  <c:v>113.299528</c:v>
                </c:pt>
                <c:pt idx="5">
                  <c:v>117.641689</c:v>
                </c:pt>
                <c:pt idx="6">
                  <c:v>107.699964</c:v>
                </c:pt>
                <c:pt idx="7">
                  <c:v>113.941761</c:v>
                </c:pt>
                <c:pt idx="8">
                  <c:v>109.954767</c:v>
                </c:pt>
                <c:pt idx="9">
                  <c:v>114.495613</c:v>
                </c:pt>
                <c:pt idx="10">
                  <c:v>109.469924</c:v>
                </c:pt>
                <c:pt idx="11">
                  <c:v>122.659218</c:v>
                </c:pt>
                <c:pt idx="12">
                  <c:v>125.205381</c:v>
                </c:pt>
                <c:pt idx="13">
                  <c:v>127.009652</c:v>
                </c:pt>
                <c:pt idx="14">
                  <c:v>149.610179</c:v>
                </c:pt>
                <c:pt idx="15">
                  <c:v>167.81569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'[order by limit performance test.xlsx]Sheet1'!$D$1</c:f>
              <c:strCache>
                <c:ptCount val="1"/>
                <c:pt idx="0">
                  <c:v>time_after_opt(s) 960M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test.xlsx]Sheet1'!$D$22:$D$38</c:f>
              <c:numCache>
                <c:formatCode>General</c:formatCode>
                <c:ptCount val="17"/>
                <c:pt idx="0">
                  <c:v>11.761332</c:v>
                </c:pt>
                <c:pt idx="1">
                  <c:v>12.02009</c:v>
                </c:pt>
                <c:pt idx="2">
                  <c:v>12.515173</c:v>
                </c:pt>
                <c:pt idx="3">
                  <c:v>12.317956</c:v>
                </c:pt>
                <c:pt idx="4">
                  <c:v>11.948023</c:v>
                </c:pt>
                <c:pt idx="5">
                  <c:v>12.122255</c:v>
                </c:pt>
                <c:pt idx="6">
                  <c:v>12.021452</c:v>
                </c:pt>
                <c:pt idx="7">
                  <c:v>12.439066</c:v>
                </c:pt>
                <c:pt idx="8">
                  <c:v>12.573248</c:v>
                </c:pt>
                <c:pt idx="9">
                  <c:v>13.084094</c:v>
                </c:pt>
                <c:pt idx="10">
                  <c:v>14.404893</c:v>
                </c:pt>
                <c:pt idx="11">
                  <c:v>23.370205</c:v>
                </c:pt>
                <c:pt idx="12">
                  <c:v>34.713259</c:v>
                </c:pt>
                <c:pt idx="13">
                  <c:v>44.481694</c:v>
                </c:pt>
                <c:pt idx="14">
                  <c:v>55.546793</c:v>
                </c:pt>
                <c:pt idx="15">
                  <c:v>131.641018</c:v>
                </c:pt>
                <c:pt idx="16">
                  <c:v>163.667912</c:v>
                </c:pt>
              </c:numCache>
            </c:numRef>
          </c:yVal>
          <c:smooth val="1"/>
        </c:ser>
        <c:ser>
          <c:idx val="3"/>
          <c:order val="2"/>
          <c:tx>
            <c:strRef>
              <c:f>'[order by limit performance test.xlsx]Sheet1'!$T$1</c:f>
              <c:strCache>
                <c:ptCount val="1"/>
                <c:pt idx="0">
                  <c:v>time_after_opt(s) 640M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test.xlsx]Sheet1'!$T$22:$T$38</c:f>
              <c:numCache>
                <c:formatCode>General</c:formatCode>
                <c:ptCount val="17"/>
                <c:pt idx="0">
                  <c:v>11.990938</c:v>
                </c:pt>
                <c:pt idx="1">
                  <c:v>12.188147</c:v>
                </c:pt>
                <c:pt idx="2">
                  <c:v>12.004852</c:v>
                </c:pt>
                <c:pt idx="3">
                  <c:v>12.093553</c:v>
                </c:pt>
                <c:pt idx="4">
                  <c:v>12.277155</c:v>
                </c:pt>
                <c:pt idx="5">
                  <c:v>12.29794</c:v>
                </c:pt>
                <c:pt idx="6">
                  <c:v>12.285161</c:v>
                </c:pt>
                <c:pt idx="7">
                  <c:v>12.445676</c:v>
                </c:pt>
                <c:pt idx="8">
                  <c:v>12.715783</c:v>
                </c:pt>
                <c:pt idx="9">
                  <c:v>13.469309</c:v>
                </c:pt>
                <c:pt idx="10">
                  <c:v>14.557647</c:v>
                </c:pt>
                <c:pt idx="11">
                  <c:v>23.974823</c:v>
                </c:pt>
                <c:pt idx="12">
                  <c:v>34.527765</c:v>
                </c:pt>
                <c:pt idx="13">
                  <c:v>43.5732</c:v>
                </c:pt>
                <c:pt idx="14">
                  <c:v>125.682088</c:v>
                </c:pt>
                <c:pt idx="15">
                  <c:v>157.451357</c:v>
                </c:pt>
              </c:numCache>
            </c:numRef>
          </c:yVal>
          <c:smooth val="1"/>
        </c:ser>
        <c:ser>
          <c:idx val="4"/>
          <c:order val="3"/>
          <c:tx>
            <c:strRef>
              <c:f>'[order by limit performance test.xlsx]Sheet1'!$D$58</c:f>
              <c:strCache>
                <c:ptCount val="1"/>
                <c:pt idx="0">
                  <c:v>time_after_opt(s) 16M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test.xlsx]Sheet1'!$D$59:$D$75</c:f>
              <c:numCache>
                <c:formatCode>General</c:formatCode>
                <c:ptCount val="17"/>
                <c:pt idx="0">
                  <c:v>11.872151</c:v>
                </c:pt>
                <c:pt idx="1">
                  <c:v>12.418094</c:v>
                </c:pt>
                <c:pt idx="2">
                  <c:v>12.573262</c:v>
                </c:pt>
                <c:pt idx="3">
                  <c:v>12.398154</c:v>
                </c:pt>
                <c:pt idx="4">
                  <c:v>12.501305</c:v>
                </c:pt>
                <c:pt idx="5">
                  <c:v>12.271343</c:v>
                </c:pt>
                <c:pt idx="7">
                  <c:v>12.33686</c:v>
                </c:pt>
                <c:pt idx="8">
                  <c:v>12.928417</c:v>
                </c:pt>
                <c:pt idx="9">
                  <c:v>103.359759</c:v>
                </c:pt>
              </c:numCache>
            </c:numRef>
          </c:yVal>
          <c:smooth val="1"/>
        </c:ser>
        <c:ser>
          <c:idx val="2"/>
          <c:order val="4"/>
          <c:tx>
            <c:strRef>
              <c:f>'[order by limit performance test.xlsx]Sheet1'!$F$1</c:f>
              <c:strCache>
                <c:ptCount val="1"/>
                <c:pt idx="0">
                  <c:v>table_scan(s)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test.xlsx]Sheet1'!$F$22:$F$38</c:f>
              <c:numCache>
                <c:formatCode>General</c:formatCode>
                <c:ptCount val="17"/>
                <c:pt idx="0">
                  <c:v>11.017504</c:v>
                </c:pt>
                <c:pt idx="1">
                  <c:v>11.017504</c:v>
                </c:pt>
                <c:pt idx="2">
                  <c:v>11.017504</c:v>
                </c:pt>
                <c:pt idx="3">
                  <c:v>11.017504</c:v>
                </c:pt>
                <c:pt idx="4">
                  <c:v>11.017504</c:v>
                </c:pt>
                <c:pt idx="5">
                  <c:v>11.017504</c:v>
                </c:pt>
                <c:pt idx="6">
                  <c:v>11.017504</c:v>
                </c:pt>
                <c:pt idx="7">
                  <c:v>11.017504</c:v>
                </c:pt>
                <c:pt idx="8">
                  <c:v>11.017504</c:v>
                </c:pt>
                <c:pt idx="9">
                  <c:v>11.017504</c:v>
                </c:pt>
                <c:pt idx="10">
                  <c:v>11.017504</c:v>
                </c:pt>
                <c:pt idx="11">
                  <c:v>11.017504</c:v>
                </c:pt>
                <c:pt idx="12">
                  <c:v>11.017504</c:v>
                </c:pt>
                <c:pt idx="13">
                  <c:v>11.017504</c:v>
                </c:pt>
                <c:pt idx="14">
                  <c:v>11.017504</c:v>
                </c:pt>
                <c:pt idx="15">
                  <c:v>11.017504</c:v>
                </c:pt>
                <c:pt idx="16">
                  <c:v>11.017504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787056"/>
        <c:axId val="180787536"/>
      </c:scatterChart>
      <c:valAx>
        <c:axId val="180787056"/>
        <c:scaling>
          <c:logBase val="10"/>
          <c:orientation val="minMax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log(limit)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787536"/>
        <c:crosses val="autoZero"/>
        <c:crossBetween val="midCat"/>
      </c:valAx>
      <c:valAx>
        <c:axId val="18078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time(s)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7870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389911477653552"/>
          <c:y val="0.124230594157951"/>
          <c:w val="0.553691241105596"/>
          <c:h val="0.2492698712221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order by limit</a:t>
            </a:r>
            <a:r>
              <a:rPr lang="zh-CN" altLang="en-US"/>
              <a:t>内存对比</a:t>
            </a:r>
            <a:endParaRPr lang="zh-C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86192038495188"/>
          <c:y val="0.120603127055787"/>
          <c:w val="0.739891197488713"/>
          <c:h val="0.66759935570699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'[order by limit performance test.xlsx]Sheet1'!$N$21</c:f>
              <c:strCache>
                <c:ptCount val="1"/>
                <c:pt idx="0">
                  <c:v>mem_peak_before(MB)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test.xlsx]Sheet1'!$B$22:$B$35,'[order by limit performance test.xlsx]Sheet1'!$B$37:$B$38</c:f>
              <c:numCache>
                <c:formatCode>General</c:formatCode>
                <c:ptCount val="16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3000000</c:v>
                </c:pt>
                <c:pt idx="15">
                  <c:v>5000000</c:v>
                </c:pt>
              </c:numCache>
            </c:numRef>
          </c:xVal>
          <c:yVal>
            <c:numRef>
              <c:f>'[order by limit performance test.xlsx]Sheet1'!$N$22:$N$35,'[order by limit performance test.xlsx]Sheet1'!$N$37:$N$38</c:f>
              <c:numCache>
                <c:formatCode>0.00</c:formatCode>
                <c:ptCount val="16"/>
                <c:pt idx="0">
                  <c:v>889.06640625</c:v>
                </c:pt>
                <c:pt idx="1">
                  <c:v>850.91796875</c:v>
                </c:pt>
                <c:pt idx="2">
                  <c:v>885.59375</c:v>
                </c:pt>
                <c:pt idx="3">
                  <c:v>886.5</c:v>
                </c:pt>
                <c:pt idx="4">
                  <c:v>863.97265625</c:v>
                </c:pt>
                <c:pt idx="5">
                  <c:v>860.64453125</c:v>
                </c:pt>
                <c:pt idx="6">
                  <c:v>846.00390625</c:v>
                </c:pt>
                <c:pt idx="7">
                  <c:v>897.72265625</c:v>
                </c:pt>
                <c:pt idx="8">
                  <c:v>845.66015625</c:v>
                </c:pt>
                <c:pt idx="9">
                  <c:v>851.87109375</c:v>
                </c:pt>
                <c:pt idx="10">
                  <c:v>939.390625</c:v>
                </c:pt>
                <c:pt idx="11">
                  <c:v>968.4140625</c:v>
                </c:pt>
                <c:pt idx="12">
                  <c:v>963.66796875</c:v>
                </c:pt>
                <c:pt idx="13">
                  <c:v>986.6</c:v>
                </c:pt>
                <c:pt idx="14">
                  <c:v>983.6</c:v>
                </c:pt>
                <c:pt idx="15">
                  <c:v>943.6171875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'[order by limit performance test.xlsx]Sheet1'!$H$21</c:f>
              <c:strCache>
                <c:ptCount val="1"/>
                <c:pt idx="0">
                  <c:v>mem_peak_after(MB) 960M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test.xlsx]Sheet1'!$H$22:$H$38</c:f>
              <c:numCache>
                <c:formatCode>0.00</c:formatCode>
                <c:ptCount val="17"/>
                <c:pt idx="0">
                  <c:v>222.61328125</c:v>
                </c:pt>
                <c:pt idx="1">
                  <c:v>222.29296875</c:v>
                </c:pt>
                <c:pt idx="2">
                  <c:v>222.29296875</c:v>
                </c:pt>
                <c:pt idx="3">
                  <c:v>217.8359375</c:v>
                </c:pt>
                <c:pt idx="4">
                  <c:v>207.46484375</c:v>
                </c:pt>
                <c:pt idx="5">
                  <c:v>205.76953125</c:v>
                </c:pt>
                <c:pt idx="6">
                  <c:v>205.2421875</c:v>
                </c:pt>
                <c:pt idx="7">
                  <c:v>228.89453125</c:v>
                </c:pt>
                <c:pt idx="8">
                  <c:v>254.16015625</c:v>
                </c:pt>
                <c:pt idx="9">
                  <c:v>273.453125</c:v>
                </c:pt>
                <c:pt idx="10">
                  <c:v>300.65625</c:v>
                </c:pt>
                <c:pt idx="11">
                  <c:v>579.4921875</c:v>
                </c:pt>
                <c:pt idx="12">
                  <c:v>893.60546875</c:v>
                </c:pt>
                <c:pt idx="13">
                  <c:v>1126.4</c:v>
                </c:pt>
                <c:pt idx="14">
                  <c:v>1536</c:v>
                </c:pt>
                <c:pt idx="15" c:formatCode="General">
                  <c:v>963.66796875</c:v>
                </c:pt>
                <c:pt idx="16">
                  <c:v>943.6171875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'[order by limit performance test.xlsx]Sheet1'!$U$1</c:f>
              <c:strCache>
                <c:ptCount val="1"/>
                <c:pt idx="0">
                  <c:v>mem_peak_after(MB) 640M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test.xlsx]Sheet1'!$U$22:$U$38</c:f>
              <c:numCache>
                <c:formatCode>General</c:formatCode>
                <c:ptCount val="17"/>
                <c:pt idx="0">
                  <c:v>229.87109375</c:v>
                </c:pt>
                <c:pt idx="1">
                  <c:v>233.6640625</c:v>
                </c:pt>
                <c:pt idx="2">
                  <c:v>237.828125</c:v>
                </c:pt>
                <c:pt idx="3">
                  <c:v>228.7890625</c:v>
                </c:pt>
                <c:pt idx="4">
                  <c:v>217.2578125</c:v>
                </c:pt>
                <c:pt idx="5">
                  <c:v>200.0625</c:v>
                </c:pt>
                <c:pt idx="6">
                  <c:v>219.71484375</c:v>
                </c:pt>
                <c:pt idx="7">
                  <c:v>231.56640625</c:v>
                </c:pt>
                <c:pt idx="8">
                  <c:v>243.1328125</c:v>
                </c:pt>
                <c:pt idx="9">
                  <c:v>341.234375</c:v>
                </c:pt>
                <c:pt idx="10">
                  <c:v>260.21875</c:v>
                </c:pt>
                <c:pt idx="11">
                  <c:v>589.79296875</c:v>
                </c:pt>
                <c:pt idx="12">
                  <c:v>857.3515625</c:v>
                </c:pt>
                <c:pt idx="13">
                  <c:v>1126.4</c:v>
                </c:pt>
                <c:pt idx="14">
                  <c:v>982.4</c:v>
                </c:pt>
                <c:pt idx="15">
                  <c:v>959.23828125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'[order by limit performance test.xlsx]Sheet1'!$E$58</c:f>
              <c:strCache>
                <c:ptCount val="1"/>
                <c:pt idx="0">
                  <c:v>mem_peak_after(MB) 16M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elete val="1"/>
          </c:dLbls>
          <c:xVal>
            <c:numRef>
              <c:f>'[order by limit performance test.xlsx]Sheet1'!$B$22:$B$38</c:f>
              <c:numCache>
                <c:formatCode>General</c:formatCode>
                <c:ptCount val="17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2000</c:v>
                </c:pt>
                <c:pt idx="6">
                  <c:v>4000</c:v>
                </c:pt>
                <c:pt idx="7">
                  <c:v>10000</c:v>
                </c:pt>
                <c:pt idx="8">
                  <c:v>20000</c:v>
                </c:pt>
                <c:pt idx="9">
                  <c:v>50000</c:v>
                </c:pt>
                <c:pt idx="10">
                  <c:v>100000</c:v>
                </c:pt>
                <c:pt idx="11">
                  <c:v>500000</c:v>
                </c:pt>
                <c:pt idx="12">
                  <c:v>1000000</c:v>
                </c:pt>
                <c:pt idx="13">
                  <c:v>1400000</c:v>
                </c:pt>
                <c:pt idx="14">
                  <c:v>2000000</c:v>
                </c:pt>
                <c:pt idx="15">
                  <c:v>3000000</c:v>
                </c:pt>
                <c:pt idx="16">
                  <c:v>5000000</c:v>
                </c:pt>
              </c:numCache>
            </c:numRef>
          </c:xVal>
          <c:yVal>
            <c:numRef>
              <c:f>'[order by limit performance test.xlsx]Sheet1'!$E$59:$E$75</c:f>
              <c:numCache>
                <c:formatCode>General</c:formatCode>
                <c:ptCount val="17"/>
                <c:pt idx="0">
                  <c:v>231.828125</c:v>
                </c:pt>
                <c:pt idx="1">
                  <c:v>243.46875</c:v>
                </c:pt>
                <c:pt idx="2">
                  <c:v>247.51171875</c:v>
                </c:pt>
                <c:pt idx="3">
                  <c:v>209.3984375</c:v>
                </c:pt>
                <c:pt idx="4">
                  <c:v>199.6484375</c:v>
                </c:pt>
                <c:pt idx="5">
                  <c:v>205.98828125</c:v>
                </c:pt>
                <c:pt idx="7">
                  <c:v>228.55859375</c:v>
                </c:pt>
                <c:pt idx="8">
                  <c:v>300.34375</c:v>
                </c:pt>
                <c:pt idx="9">
                  <c:v>908.0546875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079600"/>
        <c:axId val="65570976"/>
      </c:scatterChart>
      <c:valAx>
        <c:axId val="106079600"/>
        <c:scaling>
          <c:logBase val="10"/>
          <c:orientation val="minMax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log(limit)</a:t>
                </a:r>
                <a:endParaRPr lang="zh-CN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570976"/>
        <c:crosses val="autoZero"/>
        <c:crossBetween val="midCat"/>
      </c:valAx>
      <c:valAx>
        <c:axId val="655709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mem</a:t>
                </a:r>
                <a:r>
                  <a:rPr lang="en-US" altLang="zh-CN" baseline="0"/>
                  <a:t> usage(MB)</a:t>
                </a:r>
                <a:endParaRPr lang="zh-CN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in"/>
        <c:minorTickMark val="in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60796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12143908281035"/>
          <c:y val="0.127084348149227"/>
          <c:w val="0.367762262995925"/>
          <c:h val="0.2690588702023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order</a:t>
            </a:r>
            <a:r>
              <a:rPr lang="en-US" altLang="zh-CN" baseline="0"/>
              <a:t> by limit </a:t>
            </a:r>
            <a:r>
              <a:rPr lang="zh-CN" altLang="en-US" baseline="0"/>
              <a:t>磁盘 </a:t>
            </a:r>
            <a:r>
              <a:rPr lang="en-US" altLang="zh-CN" baseline="0"/>
              <a:t>I/O</a:t>
            </a:r>
            <a:r>
              <a:rPr lang="zh-CN" altLang="en-US" baseline="0"/>
              <a:t>对比</a:t>
            </a:r>
            <a:endParaRPr lang="zh-CN" altLang="en-US"/>
          </a:p>
        </c:rich>
      </c:tx>
      <c:layout>
        <c:manualLayout>
          <c:xMode val="edge"/>
          <c:yMode val="edge"/>
          <c:x val="0.273990642922283"/>
          <c:y val="0.0080623403005919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5483814523185"/>
          <c:y val="0.180393700787402"/>
          <c:w val="0.815692038495188"/>
          <c:h val="0.706651356080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'[order by limit performance test.xlsx]Sheet1'!$P$41</c:f>
              <c:strCache>
                <c:ptCount val="1"/>
                <c:pt idx="0">
                  <c:v>before_opt(GB)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'[order by limit performance test.xlsx]Sheet1'!$O$42:$O$43</c:f>
              <c:strCache>
                <c:ptCount val="2"/>
                <c:pt idx="0">
                  <c:v>read I/O</c:v>
                </c:pt>
                <c:pt idx="1">
                  <c:v>write I/O</c:v>
                </c:pt>
              </c:strCache>
            </c:strRef>
          </c:cat>
          <c:val>
            <c:numRef>
              <c:f>'[order by limit performance test.xlsx]Sheet1'!$P$42:$P$43</c:f>
              <c:numCache>
                <c:formatCode>General</c:formatCode>
                <c:ptCount val="2"/>
                <c:pt idx="0">
                  <c:v>15.48</c:v>
                </c:pt>
                <c:pt idx="1">
                  <c:v>21.83</c:v>
                </c:pt>
              </c:numCache>
            </c:numRef>
          </c:val>
        </c:ser>
        <c:ser>
          <c:idx val="1"/>
          <c:order val="1"/>
          <c:tx>
            <c:strRef>
              <c:f>'[order by limit performance test.xlsx]Sheet1'!$Q$41</c:f>
              <c:strCache>
                <c:ptCount val="1"/>
                <c:pt idx="0">
                  <c:v>after_opt(GB)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'[order by limit performance test.xlsx]Sheet1'!$Q$42:$Q$43</c:f>
              <c:numCache>
                <c:formatCode>General</c:formatCode>
                <c:ptCount val="2"/>
                <c:pt idx="0">
                  <c:v>5.3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38353632"/>
        <c:axId val="338351712"/>
      </c:barChart>
      <c:catAx>
        <c:axId val="33835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8351712"/>
        <c:crosses val="autoZero"/>
        <c:auto val="1"/>
        <c:lblAlgn val="ctr"/>
        <c:lblOffset val="100"/>
        <c:noMultiLvlLbl val="0"/>
      </c:catAx>
      <c:valAx>
        <c:axId val="33835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disk I/O(GB)</a:t>
                </a:r>
                <a:endParaRPr lang="zh-CN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835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78092957130359"/>
          <c:y val="0.181052785068533"/>
          <c:w val="0.278260164568914"/>
          <c:h val="0.1360529448174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TDengine 3.0.6.0 </a:t>
            </a:r>
            <a:r>
              <a:rPr lang="zh-CN" altLang="en-US"/>
              <a:t>功能简介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24070"/>
            <a:ext cx="9144000" cy="633730"/>
          </a:xfrm>
        </p:spPr>
        <p:txBody>
          <a:bodyPr/>
          <a:p>
            <a:r>
              <a:rPr lang="zh-CN" altLang="en-US"/>
              <a:t>研发部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主要功能与优化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Interp()</a:t>
            </a:r>
            <a:endParaRPr lang="en-US" altLang="zh-CN"/>
          </a:p>
          <a:p>
            <a:r>
              <a:rPr lang="en-US" altLang="zh-CN"/>
              <a:t>Order by + Limit</a:t>
            </a:r>
            <a:endParaRPr lang="en-US" altLang="zh-CN"/>
          </a:p>
          <a:p>
            <a:r>
              <a:rPr lang="en-US" altLang="zh-CN"/>
              <a:t>TMQ</a:t>
            </a:r>
            <a:endParaRPr lang="en-US" altLang="zh-CN"/>
          </a:p>
          <a:p>
            <a:r>
              <a:rPr lang="en-US" altLang="zh-CN"/>
              <a:t>Split Vgroup</a:t>
            </a:r>
            <a:endParaRPr lang="en-US" altLang="zh-CN"/>
          </a:p>
          <a:p>
            <a:r>
              <a:rPr lang="en-US" altLang="zh-CN"/>
              <a:t>TTL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7430" y="1817370"/>
            <a:ext cx="10515600" cy="1325563"/>
          </a:xfrm>
        </p:spPr>
        <p:txBody>
          <a:bodyPr/>
          <a:p>
            <a:pPr algn="ctr"/>
            <a:r>
              <a:rPr lang="en-US" altLang="zh-CN"/>
              <a:t>Interp 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583305"/>
            <a:ext cx="10515600" cy="1179195"/>
          </a:xfrm>
        </p:spPr>
        <p:txBody>
          <a:bodyPr/>
          <a:p>
            <a:pPr marL="0" indent="0" algn="ctr">
              <a:buNone/>
            </a:pPr>
            <a:r>
              <a:rPr lang="zh-CN" altLang="en-US"/>
              <a:t>赵甘霖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INTERP</a:t>
            </a:r>
            <a:r>
              <a:rPr lang="zh-CN" altLang="en-US"/>
              <a:t> 查询功能优化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b="0" u="none"/>
              <a:t>此版本增加对INTERP以下三个方面的优化和改进：</a:t>
            </a:r>
            <a:endParaRPr b="0" u="none"/>
          </a:p>
          <a:p>
            <a:pPr>
              <a:buFont typeface="Wingdings" panose="05000000000000000000" charset="0"/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支持单点插值查询</a:t>
            </a:r>
            <a:endParaRPr lang="en-US" altLang="zh-CN"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FILL(value)</a:t>
            </a: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支持常量表达式</a:t>
            </a:r>
            <a:endParaRPr lang="zh-CN" altLang="en-US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内存可控优化</a:t>
            </a:r>
            <a:endParaRPr lang="zh-CN" altLang="en-US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endParaRPr lang="zh-CN" altLang="en-US" b="1" u="sng">
              <a:uFill>
                <a:solidFill>
                  <a:srgbClr val="000000"/>
                </a:solidFill>
              </a:u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INTERP</a:t>
            </a:r>
            <a:r>
              <a:rPr lang="zh-CN" altLang="en-US">
                <a:sym typeface="+mn-ea"/>
              </a:rPr>
              <a:t> 支持单点插值</a:t>
            </a:r>
            <a:endParaRPr lang="zh-CN" altLang="en-US" sz="2800" b="1" u="sng"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sz="2400" b="0" u="none"/>
              <a:t>INTERP支持对单个时间点的插值</a:t>
            </a:r>
            <a:r>
              <a:rPr b="0" u="none"/>
              <a:t>，</a:t>
            </a:r>
            <a:r>
              <a:rPr sz="2400" b="0" u="none"/>
              <a:t>在保持原有interp语法基础上，RANGE子句填入两个相同的时间戳可以实现单点插值的功能。此外，新增加RANGE子句只填写单个时间戳的语法实现此功能，在这种情况下，EVERY子句可以省略不写。</a:t>
            </a:r>
            <a:endParaRPr sz="2400" b="0" u="none"/>
          </a:p>
          <a:p>
            <a:pPr marL="0" indent="0">
              <a:buNone/>
            </a:pPr>
            <a:endParaRPr b="0" u="none"/>
          </a:p>
          <a:p>
            <a:pPr marL="0" indent="0">
              <a:buNone/>
            </a:pPr>
            <a:endParaRPr b="0" u="none"/>
          </a:p>
          <a:p>
            <a:pPr marL="0" indent="0">
              <a:buNone/>
            </a:pPr>
            <a:endParaRPr sz="2400" b="0" u="none"/>
          </a:p>
          <a:p>
            <a:pPr marL="0" indent="0">
              <a:buNone/>
            </a:pPr>
            <a:r>
              <a:rPr sz="2400" b="0" u="none"/>
              <a:t>对于fill(null), fill(value)一定会产生插值，对于fill(prev), fill(next), fill(linear)是否产生插值点依赖于改点前后是否有数据点。该行为与插值时间段为窗口时保持一致。</a:t>
            </a:r>
            <a:endParaRPr sz="2400" b="0" u="none"/>
          </a:p>
          <a:p>
            <a:pPr marL="0" indent="0">
              <a:buNone/>
            </a:pPr>
            <a:endParaRPr lang="zh-CN" altLang="en-US" b="1" u="sng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 marL="0" indent="0">
              <a:buFont typeface="Wingdings" panose="05000000000000000000" charset="0"/>
              <a:buChar char="•"/>
            </a:pPr>
            <a:endParaRPr lang="zh-CN" altLang="en-US" b="1" u="sng">
              <a:uFill>
                <a:solidFill>
                  <a:srgbClr val="000000"/>
                </a:solidFill>
              </a:uFill>
            </a:endParaRPr>
          </a:p>
        </p:txBody>
      </p:sp>
      <p:pic>
        <p:nvPicPr>
          <p:cNvPr id="6" name="Picture 5" descr="upload_post_object_v2_9331664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60" y="3318183"/>
            <a:ext cx="8996510" cy="1240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FILL(value)</a:t>
            </a:r>
            <a:r>
              <a:rPr lang="zh-CN" altLang="en-US">
                <a:sym typeface="+mn-ea"/>
              </a:rPr>
              <a:t>支持常量表达式</a:t>
            </a:r>
            <a:endParaRPr lang="zh-CN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60" y="1792387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sz="2000" b="0" u="none"/>
              <a:t>INTERP支持FILL(VALUE, fill_val) value子句时，支持对于fill_val写入常量表达式，例如，FILL(value, 1+2), FILL(value, 1.5 + 2.5), FILL(value, 1+'123'), 对于数值与字符串类型的标量运算符合数据类型隐式转换(能够转换为数字的则转换，不能转换的当作0来处理)。</a:t>
            </a:r>
            <a:endParaRPr sz="2000" b="0" u="none"/>
          </a:p>
          <a:p>
            <a:pPr marL="0" indent="0">
              <a:buNone/>
            </a:pPr>
            <a:r>
              <a:rPr sz="2000" b="0" u="none"/>
              <a:t>此外，对于多个INTERP进行FILL(value, val_1, val_2, ...）时，参数val_n的个数需要与之前INTERP函数个数保持一致，例如：</a:t>
            </a:r>
            <a:endParaRPr sz="2000" b="0" u="none"/>
          </a:p>
          <a:p>
            <a:pPr marL="0" indent="0">
              <a:buNone/>
            </a:pPr>
            <a:endParaRPr sz="2000" b="0" u="none"/>
          </a:p>
          <a:p>
            <a:pPr marL="0" indent="0">
              <a:buNone/>
            </a:pPr>
            <a:endParaRPr sz="2000" b="0" u="none"/>
          </a:p>
          <a:p>
            <a:pPr marL="0" indent="0">
              <a:buNone/>
            </a:pPr>
            <a:r>
              <a:rPr sz="2000" b="0" u="none"/>
              <a:t>如果INTERP函数与参数个数不匹配，则会报"fill value number missmatch"的错误，比如以下语句都会被判定为非法:</a:t>
            </a:r>
            <a:endParaRPr sz="2000" b="0" u="none"/>
          </a:p>
          <a:p>
            <a:pPr marL="0" indent="0">
              <a:buNone/>
            </a:pPr>
            <a:endParaRPr sz="2000" b="0" u="none"/>
          </a:p>
          <a:p>
            <a:pPr marL="0" indent="0">
              <a:buNone/>
            </a:pPr>
            <a:endParaRPr sz="2000" b="0" u="none"/>
          </a:p>
          <a:p>
            <a:pPr marL="0" indent="0">
              <a:buNone/>
            </a:pPr>
            <a:r>
              <a:rPr sz="2000" b="0" u="none"/>
              <a:t>该行为与timewindow插值时的FILL行为保持一致(value 参数个数需要与聚合函数个数匹配), 注意，_ISROWTS, _ISFILLED等伪列不需要与参数个数进行匹配。</a:t>
            </a:r>
            <a:endParaRPr sz="2000" b="0" u="none"/>
          </a:p>
          <a:p>
            <a:pPr marL="0" indent="0">
              <a:buNone/>
            </a:pPr>
            <a:endParaRPr lang="zh-CN" altLang="en-US" sz="2400" b="0" u="none"/>
          </a:p>
        </p:txBody>
      </p:sp>
      <p:pic>
        <p:nvPicPr>
          <p:cNvPr id="4" name="Picture 3" descr="upload_post_object_v2_701557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60" y="3403052"/>
            <a:ext cx="8597650" cy="864197"/>
          </a:xfrm>
          <a:prstGeom prst="rect">
            <a:avLst/>
          </a:prstGeom>
        </p:spPr>
      </p:pic>
      <p:pic>
        <p:nvPicPr>
          <p:cNvPr id="5" name="Picture 4" descr="upload_post_object_v2_8093729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60" y="4819471"/>
            <a:ext cx="8597650" cy="91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INTERP</a:t>
            </a:r>
            <a:r>
              <a:rPr lang="zh-CN" altLang="en-US">
                <a:sym typeface="+mn-ea"/>
              </a:rPr>
              <a:t>内存可控优化</a:t>
            </a:r>
            <a:endParaRPr lang="zh-CN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 sz="2400" b="0" u="none"/>
              <a:t>重构</a:t>
            </a:r>
            <a:r>
              <a:rPr lang="en-US" altLang="zh-CN" sz="2400" b="0" u="none"/>
              <a:t>INTERP</a:t>
            </a:r>
            <a:r>
              <a:rPr lang="zh-CN" altLang="en-US" sz="2400" b="0" u="none"/>
              <a:t>算子支持可重入，与其他输出多行的查询类似，当</a:t>
            </a:r>
            <a:r>
              <a:rPr lang="en-US" altLang="zh-CN" sz="2400" b="0" u="none"/>
              <a:t>INTERP</a:t>
            </a:r>
            <a:r>
              <a:rPr lang="zh-CN" altLang="en-US" sz="2400" b="0" u="none"/>
              <a:t>插值计算到一定阈值会先将结果返回给客户端，而不是等所有插值结果计算完毕才返回，可减少</a:t>
            </a:r>
            <a:r>
              <a:rPr lang="en-US" altLang="zh-CN" sz="2400" b="0" u="none"/>
              <a:t>INTERP</a:t>
            </a:r>
            <a:r>
              <a:rPr lang="zh-CN" altLang="en-US" sz="2400" b="0" u="none"/>
              <a:t>查询的内存占用。</a:t>
            </a:r>
            <a:endParaRPr lang="zh-CN" altLang="en-US" sz="2400" b="0" u="none"/>
          </a:p>
          <a:p>
            <a:pPr marL="0" indent="0">
              <a:buNone/>
            </a:pPr>
            <a:endParaRPr lang="zh-CN" altLang="en-US" b="1" u="sng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INTERP</a:t>
            </a:r>
            <a:r>
              <a:rPr lang="zh-CN" altLang="en-US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最多支持产生插值点为</a:t>
            </a:r>
            <a:r>
              <a:rPr lang="en-US" altLang="zh-CN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1</a:t>
            </a:r>
            <a:r>
              <a:rPr lang="zh-CN" altLang="en-US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千万条，因此单独针对子表或超级表查询内存占用并不明显，但是针对超级表子表较多时查询时</a:t>
            </a:r>
            <a:r>
              <a:rPr lang="en-US" altLang="zh-CN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partition by tbname</a:t>
            </a:r>
            <a:r>
              <a:rPr lang="zh-CN" altLang="en-US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会有所提升。实际测试</a:t>
            </a:r>
            <a:r>
              <a:rPr lang="en-US" altLang="zh-CN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1000</a:t>
            </a:r>
            <a:r>
              <a:rPr lang="zh-CN" altLang="en-US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子表，单表</a:t>
            </a:r>
            <a:r>
              <a:rPr lang="en-US" altLang="zh-CN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1kw</a:t>
            </a:r>
            <a:r>
              <a:rPr lang="zh-CN" altLang="en-US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数据内存增长不到</a:t>
            </a:r>
            <a:r>
              <a:rPr lang="en-US" altLang="zh-CN" sz="24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100MB.</a:t>
            </a:r>
            <a:endParaRPr lang="zh-CN" altLang="en-US" b="1" u="sng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 marL="0" indent="0">
              <a:buFont typeface="Wingdings" panose="05000000000000000000" charset="0"/>
              <a:buChar char="•"/>
            </a:pPr>
            <a:endParaRPr lang="zh-CN" altLang="en-US" b="1" u="sng">
              <a:uFill>
                <a:solidFill>
                  <a:srgbClr val="000000"/>
                </a:solidFill>
              </a:u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Order by Limit </a:t>
            </a:r>
            <a:r>
              <a:rPr lang="zh-CN" altLang="en-US" dirty="0"/>
              <a:t>性能优化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398010"/>
            <a:ext cx="9144000" cy="859790"/>
          </a:xfrm>
        </p:spPr>
        <p:txBody>
          <a:bodyPr/>
          <a:lstStyle/>
          <a:p>
            <a:r>
              <a:rPr lang="zh-CN" altLang="en-US" dirty="0"/>
              <a:t>王加明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957" y="1590253"/>
            <a:ext cx="9353550" cy="31146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31205" y="1502330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表结构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31204" y="488150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SQL: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929957" y="6075168"/>
            <a:ext cx="6458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Order by </a:t>
            </a:r>
            <a:r>
              <a:rPr lang="zh-CN" altLang="en-US" dirty="0"/>
              <a:t>中包含其他非时序列</a:t>
            </a:r>
            <a:r>
              <a:rPr lang="en-US" altLang="zh-CN" dirty="0"/>
              <a:t>, </a:t>
            </a:r>
            <a:r>
              <a:rPr lang="zh-CN" altLang="en-US" dirty="0"/>
              <a:t>需要</a:t>
            </a:r>
            <a:r>
              <a:rPr lang="zh-CN" altLang="en-US" sz="2000" b="1" dirty="0"/>
              <a:t>全表扫描</a:t>
            </a:r>
            <a:r>
              <a:rPr lang="en-US" altLang="zh-CN" sz="2000" b="1" dirty="0"/>
              <a:t>. </a:t>
            </a:r>
            <a:r>
              <a:rPr lang="zh-CN" altLang="en-US" sz="2000" b="1" dirty="0"/>
              <a:t>且</a:t>
            </a:r>
            <a:r>
              <a:rPr lang="en-US" altLang="zh-CN" sz="2000" b="1" dirty="0"/>
              <a:t>Limit</a:t>
            </a:r>
            <a:r>
              <a:rPr lang="zh-CN" altLang="en-US" sz="2000" b="1" dirty="0"/>
              <a:t>较小</a:t>
            </a:r>
            <a:r>
              <a:rPr lang="en-US" altLang="zh-CN" sz="2000" b="1" dirty="0"/>
              <a:t>.</a:t>
            </a:r>
            <a:endParaRPr lang="zh-CN" altLang="en-US" b="1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57" y="5066173"/>
            <a:ext cx="931545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优化前逻辑</a:t>
            </a:r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4574931" y="2192651"/>
            <a:ext cx="5685692" cy="2717853"/>
            <a:chOff x="776654" y="1418928"/>
            <a:chExt cx="5685692" cy="2717853"/>
          </a:xfrm>
        </p:grpSpPr>
        <p:sp>
          <p:nvSpPr>
            <p:cNvPr id="14" name="矩形 13"/>
            <p:cNvSpPr/>
            <p:nvPr/>
          </p:nvSpPr>
          <p:spPr>
            <a:xfrm>
              <a:off x="776654" y="1608966"/>
              <a:ext cx="1837592" cy="7034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SortNode</a:t>
              </a:r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76654" y="3618035"/>
              <a:ext cx="1837592" cy="51874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TableScan</a:t>
              </a:r>
              <a:endParaRPr lang="zh-CN" altLang="en-US" dirty="0"/>
            </a:p>
          </p:txBody>
        </p:sp>
        <p:sp>
          <p:nvSpPr>
            <p:cNvPr id="16" name="箭头: 下 15"/>
            <p:cNvSpPr/>
            <p:nvPr/>
          </p:nvSpPr>
          <p:spPr>
            <a:xfrm rot="10800000">
              <a:off x="1506412" y="2312376"/>
              <a:ext cx="369279" cy="1305657"/>
            </a:xfrm>
            <a:prstGeom prst="downArrow">
              <a:avLst>
                <a:gd name="adj1" fmla="val 30952"/>
                <a:gd name="adj2" fmla="val 690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749969" y="2893132"/>
              <a:ext cx="18341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1. read all blocks</a:t>
              </a:r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110710" y="1418928"/>
              <a:ext cx="1394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2. Sort/write</a:t>
              </a:r>
              <a:endParaRPr lang="zh-CN" altLang="en-US" dirty="0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785708" y="1603596"/>
              <a:ext cx="1676638" cy="2533185"/>
              <a:chOff x="3643574" y="1743966"/>
              <a:chExt cx="1676638" cy="2533185"/>
            </a:xfrm>
          </p:grpSpPr>
          <p:sp>
            <p:nvSpPr>
              <p:cNvPr id="20" name="矩形: 圆角 19"/>
              <p:cNvSpPr/>
              <p:nvPr/>
            </p:nvSpPr>
            <p:spPr>
              <a:xfrm>
                <a:off x="3643574" y="1743966"/>
                <a:ext cx="1676638" cy="70341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err="1"/>
                  <a:t>DiskBasedBuf</a:t>
                </a:r>
                <a:endParaRPr lang="zh-CN" altLang="en-US" dirty="0"/>
              </a:p>
            </p:txBody>
          </p:sp>
          <p:sp>
            <p:nvSpPr>
              <p:cNvPr id="22" name="圆柱体 21"/>
              <p:cNvSpPr/>
              <p:nvPr/>
            </p:nvSpPr>
            <p:spPr>
              <a:xfrm>
                <a:off x="3804885" y="3758404"/>
                <a:ext cx="1354016" cy="518747"/>
              </a:xfrm>
              <a:prstGeom prst="ca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disk</a:t>
                </a:r>
                <a:endParaRPr lang="zh-CN" altLang="en-US" dirty="0"/>
              </a:p>
            </p:txBody>
          </p:sp>
          <p:sp>
            <p:nvSpPr>
              <p:cNvPr id="25" name="箭头: 上下 24"/>
              <p:cNvSpPr/>
              <p:nvPr/>
            </p:nvSpPr>
            <p:spPr>
              <a:xfrm>
                <a:off x="4371588" y="2453391"/>
                <a:ext cx="247051" cy="1325563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2765626" y="2066068"/>
              <a:ext cx="2092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4. Read/merge sort</a:t>
              </a:r>
              <a:endParaRPr lang="zh-CN" altLang="en-US" dirty="0"/>
            </a:p>
          </p:txBody>
        </p:sp>
        <p:sp>
          <p:nvSpPr>
            <p:cNvPr id="30" name="箭头: 左右 29"/>
            <p:cNvSpPr/>
            <p:nvPr/>
          </p:nvSpPr>
          <p:spPr>
            <a:xfrm>
              <a:off x="2614246" y="1810168"/>
              <a:ext cx="2171462" cy="240053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770213" y="2377317"/>
            <a:ext cx="1837592" cy="703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ProjectNode</a:t>
            </a:r>
            <a:endParaRPr lang="zh-CN" altLang="en-US" dirty="0"/>
          </a:p>
        </p:txBody>
      </p:sp>
      <p:sp>
        <p:nvSpPr>
          <p:cNvPr id="33" name="箭头: 左 32"/>
          <p:cNvSpPr/>
          <p:nvPr/>
        </p:nvSpPr>
        <p:spPr>
          <a:xfrm>
            <a:off x="2607805" y="2561983"/>
            <a:ext cx="1967126" cy="3033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2914593" y="223812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5. Read blocks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9549144" y="3524228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3. write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39094" y="3148607"/>
            <a:ext cx="210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6.Limit and output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优化后逻辑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574931" y="2192651"/>
            <a:ext cx="5524381" cy="2717853"/>
            <a:chOff x="776654" y="1418928"/>
            <a:chExt cx="5524381" cy="2717853"/>
          </a:xfrm>
        </p:grpSpPr>
        <p:sp>
          <p:nvSpPr>
            <p:cNvPr id="5" name="矩形 4"/>
            <p:cNvSpPr/>
            <p:nvPr/>
          </p:nvSpPr>
          <p:spPr>
            <a:xfrm>
              <a:off x="776654" y="1608966"/>
              <a:ext cx="1837592" cy="7034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SortNode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776654" y="3618035"/>
              <a:ext cx="1837592" cy="51874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TableScan</a:t>
              </a:r>
              <a:endParaRPr lang="zh-CN" altLang="en-US" dirty="0"/>
            </a:p>
          </p:txBody>
        </p:sp>
        <p:sp>
          <p:nvSpPr>
            <p:cNvPr id="7" name="箭头: 下 6"/>
            <p:cNvSpPr/>
            <p:nvPr/>
          </p:nvSpPr>
          <p:spPr>
            <a:xfrm rot="10800000">
              <a:off x="1506412" y="2312376"/>
              <a:ext cx="369279" cy="1305657"/>
            </a:xfrm>
            <a:prstGeom prst="downArrow">
              <a:avLst>
                <a:gd name="adj1" fmla="val 30952"/>
                <a:gd name="adj2" fmla="val 690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749969" y="2893132"/>
              <a:ext cx="18341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1. read all blocks</a:t>
              </a:r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110710" y="1418928"/>
              <a:ext cx="1391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2. Sort/push</a:t>
              </a:r>
              <a:endParaRPr lang="zh-CN" altLang="en-US" dirty="0"/>
            </a:p>
          </p:txBody>
        </p:sp>
        <p:sp>
          <p:nvSpPr>
            <p:cNvPr id="14" name="圆柱体 13"/>
            <p:cNvSpPr/>
            <p:nvPr/>
          </p:nvSpPr>
          <p:spPr>
            <a:xfrm>
              <a:off x="4947019" y="3618034"/>
              <a:ext cx="1354016" cy="51874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disk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56293" y="2072129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3. pop</a:t>
              </a:r>
              <a:endParaRPr lang="zh-CN" altLang="en-US" dirty="0"/>
            </a:p>
          </p:txBody>
        </p:sp>
        <p:sp>
          <p:nvSpPr>
            <p:cNvPr id="12" name="箭头: 左右 11"/>
            <p:cNvSpPr/>
            <p:nvPr/>
          </p:nvSpPr>
          <p:spPr>
            <a:xfrm>
              <a:off x="2614246" y="1810168"/>
              <a:ext cx="2171462" cy="240053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770213" y="2377317"/>
            <a:ext cx="1837592" cy="703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ProjectNode</a:t>
            </a:r>
            <a:endParaRPr lang="zh-CN" altLang="en-US" dirty="0"/>
          </a:p>
        </p:txBody>
      </p:sp>
      <p:sp>
        <p:nvSpPr>
          <p:cNvPr id="17" name="箭头: 左 16"/>
          <p:cNvSpPr/>
          <p:nvPr/>
        </p:nvSpPr>
        <p:spPr>
          <a:xfrm>
            <a:off x="2607805" y="2561983"/>
            <a:ext cx="1967126" cy="3033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914593" y="223812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4. Read blocks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739094" y="3148607"/>
            <a:ext cx="210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5.Limit and output</a:t>
            </a:r>
            <a:endParaRPr lang="zh-CN" altLang="en-US" dirty="0"/>
          </a:p>
        </p:txBody>
      </p:sp>
      <p:sp>
        <p:nvSpPr>
          <p:cNvPr id="21" name="流程图: 摘录 20"/>
          <p:cNvSpPr/>
          <p:nvPr/>
        </p:nvSpPr>
        <p:spPr>
          <a:xfrm>
            <a:off x="8516072" y="1836306"/>
            <a:ext cx="2057405" cy="1528907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u="sng" dirty="0" err="1"/>
              <a:t>Limited</a:t>
            </a:r>
            <a:r>
              <a:rPr lang="en-US" altLang="zh-CN" dirty="0" err="1"/>
              <a:t>Priority</a:t>
            </a:r>
            <a:r>
              <a:rPr lang="en-US" altLang="zh-CN" dirty="0"/>
              <a:t> Queue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022350" y="5384800"/>
            <a:ext cx="565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Limited PQ:</a:t>
            </a:r>
            <a:r>
              <a:rPr lang="zh-CN" altLang="en-US" dirty="0"/>
              <a:t>限制</a:t>
            </a:r>
            <a:r>
              <a:rPr lang="en-US" altLang="zh-CN" dirty="0"/>
              <a:t>PQ</a:t>
            </a:r>
            <a:r>
              <a:rPr lang="zh-CN" altLang="en-US" dirty="0"/>
              <a:t>的最大容量</a:t>
            </a:r>
            <a:r>
              <a:rPr lang="en-US" altLang="zh-CN" dirty="0"/>
              <a:t>, </a:t>
            </a:r>
            <a:r>
              <a:rPr lang="zh-CN" altLang="en-US" dirty="0"/>
              <a:t>溢出时自动</a:t>
            </a:r>
            <a:r>
              <a:rPr lang="en-US" altLang="zh-CN" dirty="0"/>
              <a:t>pop</a:t>
            </a:r>
            <a:r>
              <a:rPr lang="zh-CN" altLang="en-US" dirty="0"/>
              <a:t>最小值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性能对比</a:t>
            </a:r>
            <a:endParaRPr lang="zh-CN" altLang="en-US" dirty="0"/>
          </a:p>
        </p:txBody>
      </p:sp>
      <p:graphicFrame>
        <p:nvGraphicFramePr>
          <p:cNvPr id="4" name="图表 3"/>
          <p:cNvGraphicFramePr/>
          <p:nvPr/>
        </p:nvGraphicFramePr>
        <p:xfrm>
          <a:off x="560246" y="1454452"/>
          <a:ext cx="5169994" cy="47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096000" y="1241092"/>
          <a:ext cx="5113045" cy="2949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6606540" y="4191000"/>
          <a:ext cx="4312920" cy="2435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3420" y="5818331"/>
            <a:ext cx="540258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effectLst/>
              </a:rPr>
              <a:t>Notes: </a:t>
            </a:r>
            <a:r>
              <a:rPr lang="en-US" altLang="zh-CN" sz="1000" dirty="0">
                <a:effectLst/>
              </a:rPr>
              <a:t>Table Scan</a:t>
            </a:r>
            <a:r>
              <a:rPr lang="zh-CN" altLang="en-US" sz="1000" dirty="0">
                <a:effectLst/>
              </a:rPr>
              <a:t>的用时获取方式是</a:t>
            </a:r>
            <a:r>
              <a:rPr lang="en-US" altLang="zh-CN" sz="1000" dirty="0">
                <a:effectLst/>
              </a:rPr>
              <a:t>select *from d1; </a:t>
            </a:r>
            <a:endParaRPr lang="en-US" altLang="zh-CN" sz="1000" dirty="0">
              <a:effectLst/>
            </a:endParaRPr>
          </a:p>
          <a:p>
            <a:r>
              <a:rPr lang="zh-CN" altLang="en-US" sz="1000" b="1" dirty="0">
                <a:effectLst/>
              </a:rPr>
              <a:t>严格意义上说</a:t>
            </a:r>
            <a:r>
              <a:rPr lang="en-US" altLang="zh-CN" sz="1000" b="1" dirty="0">
                <a:effectLst/>
              </a:rPr>
              <a:t>, select</a:t>
            </a:r>
            <a:r>
              <a:rPr lang="zh-CN" altLang="en-US" sz="1000" b="1" dirty="0">
                <a:effectLst/>
              </a:rPr>
              <a:t>全表不是</a:t>
            </a:r>
            <a:r>
              <a:rPr lang="en-US" altLang="zh-CN" sz="1000" b="1" dirty="0">
                <a:effectLst/>
              </a:rPr>
              <a:t>table scan</a:t>
            </a:r>
            <a:r>
              <a:rPr lang="zh-CN" altLang="en-US" sz="1000" b="1" dirty="0">
                <a:effectLst/>
              </a:rPr>
              <a:t>的时间</a:t>
            </a:r>
            <a:r>
              <a:rPr lang="en-US" altLang="zh-CN" sz="1000" b="1" dirty="0">
                <a:effectLst/>
              </a:rPr>
              <a:t>, </a:t>
            </a:r>
            <a:r>
              <a:rPr lang="zh-CN" altLang="en-US" sz="1000" b="1" dirty="0">
                <a:effectLst/>
              </a:rPr>
              <a:t>其中包括了客户端收包的时间</a:t>
            </a:r>
            <a:r>
              <a:rPr lang="en-US" altLang="zh-CN" sz="1000" b="1" dirty="0">
                <a:effectLst/>
              </a:rPr>
              <a:t>(select</a:t>
            </a:r>
            <a:r>
              <a:rPr lang="zh-CN" altLang="en-US" sz="1000" b="1" dirty="0">
                <a:effectLst/>
              </a:rPr>
              <a:t>全表数据量较大</a:t>
            </a:r>
            <a:r>
              <a:rPr lang="en-US" altLang="zh-CN" sz="1000" b="1" dirty="0">
                <a:effectLst/>
              </a:rPr>
              <a:t>), </a:t>
            </a:r>
            <a:r>
              <a:rPr lang="zh-CN" altLang="en-US" sz="1000" b="1" dirty="0">
                <a:effectLst/>
              </a:rPr>
              <a:t>只能算是用户使用客户端在执行对应</a:t>
            </a:r>
            <a:r>
              <a:rPr lang="en-US" altLang="zh-CN" sz="1000" b="1" dirty="0" err="1">
                <a:effectLst/>
              </a:rPr>
              <a:t>sql</a:t>
            </a:r>
            <a:r>
              <a:rPr lang="zh-CN" altLang="en-US" sz="1000" b="1" dirty="0">
                <a:effectLst/>
              </a:rPr>
              <a:t>时的感知时间</a:t>
            </a:r>
            <a:r>
              <a:rPr lang="en-US" altLang="zh-CN" sz="1000" b="1" dirty="0">
                <a:effectLst/>
              </a:rPr>
              <a:t>.</a:t>
            </a:r>
            <a:endParaRPr lang="zh-CN" altLang="en-US" sz="1000" dirty="0">
              <a:effectLst/>
            </a:endParaRPr>
          </a:p>
          <a:p>
            <a:endParaRPr lang="zh-CN" alt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进一步优化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目前</a:t>
            </a:r>
            <a:r>
              <a:rPr lang="en-US" altLang="zh-CN" sz="2000" dirty="0"/>
              <a:t>PQ Sort</a:t>
            </a:r>
            <a:r>
              <a:rPr lang="zh-CN" altLang="en-US" sz="2000" dirty="0"/>
              <a:t>代码逻辑是先拷贝行数据</a:t>
            </a:r>
            <a:r>
              <a:rPr lang="en-US" altLang="zh-CN" sz="2000" dirty="0"/>
              <a:t>, </a:t>
            </a:r>
            <a:r>
              <a:rPr lang="zh-CN" altLang="en-US" sz="2000" dirty="0"/>
              <a:t>然后</a:t>
            </a:r>
            <a:r>
              <a:rPr lang="en-US" altLang="zh-CN" sz="2000" dirty="0"/>
              <a:t>Push</a:t>
            </a:r>
            <a:r>
              <a:rPr lang="zh-CN" altLang="en-US" sz="2000" dirty="0"/>
              <a:t>进</a:t>
            </a:r>
            <a:r>
              <a:rPr lang="en-US" altLang="zh-CN" sz="2000" dirty="0"/>
              <a:t>PQ, </a:t>
            </a:r>
            <a:r>
              <a:rPr lang="zh-CN" altLang="en-US" sz="2000" dirty="0"/>
              <a:t>可以尝试先排序</a:t>
            </a:r>
            <a:r>
              <a:rPr lang="en-US" altLang="zh-CN" sz="2000" dirty="0"/>
              <a:t>, </a:t>
            </a:r>
            <a:r>
              <a:rPr lang="zh-CN" altLang="en-US" sz="2000" dirty="0"/>
              <a:t>再决定是否拷贝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在行长度较长优化逻辑退化之后</a:t>
            </a:r>
            <a:r>
              <a:rPr lang="en-US" altLang="zh-CN" sz="2000" dirty="0"/>
              <a:t>, </a:t>
            </a:r>
            <a:r>
              <a:rPr lang="zh-CN" altLang="en-US" sz="2000" dirty="0"/>
              <a:t>在写</a:t>
            </a:r>
            <a:r>
              <a:rPr lang="en-US" altLang="zh-CN" sz="2000" dirty="0" err="1"/>
              <a:t>DiskBasedBuf</a:t>
            </a:r>
            <a:r>
              <a:rPr lang="zh-CN" altLang="en-US" sz="2000" dirty="0"/>
              <a:t>时可以先进行</a:t>
            </a:r>
            <a:r>
              <a:rPr lang="en-US" altLang="zh-CN" sz="2000" dirty="0"/>
              <a:t>limit.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在</a:t>
            </a:r>
            <a:r>
              <a:rPr lang="en-US" altLang="zh-CN" sz="2000" dirty="0" err="1"/>
              <a:t>TableScan</a:t>
            </a:r>
            <a:r>
              <a:rPr lang="zh-CN" altLang="en-US" sz="2000" dirty="0"/>
              <a:t>时可以利用</a:t>
            </a:r>
            <a:r>
              <a:rPr lang="en-US" altLang="zh-CN" sz="2000" dirty="0"/>
              <a:t>SMA</a:t>
            </a:r>
            <a:r>
              <a:rPr lang="zh-CN" altLang="en-US" sz="2000" dirty="0"/>
              <a:t>信息过滤完全不需要的</a:t>
            </a:r>
            <a:r>
              <a:rPr lang="en-US" altLang="zh-CN" sz="2000" dirty="0"/>
              <a:t>Block.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9780" y="2268855"/>
            <a:ext cx="10515600" cy="1325563"/>
          </a:xfrm>
        </p:spPr>
        <p:txBody>
          <a:bodyPr/>
          <a:p>
            <a:pPr algn="ctr"/>
            <a:r>
              <a:rPr lang="zh-CN" altLang="en-US"/>
              <a:t>数据订阅优化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050665"/>
            <a:ext cx="10515600" cy="768985"/>
          </a:xfrm>
        </p:spPr>
        <p:txBody>
          <a:bodyPr/>
          <a:p>
            <a:pPr marL="0" indent="0" algn="ctr">
              <a:buNone/>
            </a:pPr>
            <a:r>
              <a:rPr lang="zh-CN" altLang="en-US"/>
              <a:t>王明明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数据订阅功能优化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b="0" u="none"/>
              <a:t>此版本增加对</a:t>
            </a:r>
            <a:r>
              <a:rPr lang="zh-CN" b="0" u="none"/>
              <a:t>数据订阅</a:t>
            </a:r>
            <a:r>
              <a:rPr b="0" u="none"/>
              <a:t>以下</a:t>
            </a:r>
            <a:r>
              <a:rPr lang="zh-CN" b="0" u="none"/>
              <a:t>几</a:t>
            </a:r>
            <a:r>
              <a:rPr b="0" u="none"/>
              <a:t>个方面的优化和改进：</a:t>
            </a:r>
            <a:endParaRPr b="0" u="none"/>
          </a:p>
          <a:p>
            <a:pPr>
              <a:buFont typeface="Wingdings" panose="05000000000000000000" charset="0"/>
              <a:buChar char="•"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 查看所有订阅的消费进度</a:t>
            </a:r>
            <a:endParaRPr lang="zh-CN" altLang="en-US"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r>
              <a:rPr lang="en-US" altLang="zh-CN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查看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 consumer 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列表</a:t>
            </a:r>
            <a:endParaRPr lang="en-US" altLang="zh-CN"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查看</a:t>
            </a: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consumer</a:t>
            </a: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的初始配置</a:t>
            </a:r>
            <a:endParaRPr lang="zh-CN" altLang="en-US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控制</a:t>
            </a: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topic </a:t>
            </a: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和</a:t>
            </a: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consumer group </a:t>
            </a:r>
            <a:r>
              <a:rPr lang="zh-CN" altLang="en-US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的上限，防止</a:t>
            </a:r>
            <a:r>
              <a:rPr lang="en-US" altLang="zh-CN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 OOM </a:t>
            </a:r>
            <a:endParaRPr lang="zh-CN" altLang="en-US">
              <a:solidFill>
                <a:schemeClr val="tx1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buFont typeface="Wingdings" panose="05000000000000000000" charset="0"/>
              <a:buChar char="•"/>
            </a:pPr>
            <a:endParaRPr lang="zh-CN" altLang="en-US" b="1" u="sng">
              <a:uFill>
                <a:solidFill>
                  <a:srgbClr val="000000"/>
                </a:solidFill>
              </a:u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800">
                <a:uFill>
                  <a:solidFill>
                    <a:srgbClr val="000000"/>
                  </a:solidFill>
                </a:uFill>
                <a:sym typeface="+mn-ea"/>
              </a:rPr>
              <a:t>查看所有订阅的消费进度</a:t>
            </a:r>
            <a:endParaRPr lang="zh-CN" altLang="en-US" sz="2800" b="1" u="sng"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>
                <a:uFill>
                  <a:solidFill>
                    <a:srgbClr val="000000"/>
                  </a:solidFill>
                </a:uFill>
              </a:rPr>
              <a:t>细节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：消费进度 ( 格式为 wal:版本号 或者 tsdb:uid/ts )，取决于当前消费进度所在位置位于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 TSDB 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中还是</a:t>
            </a:r>
            <a:r>
              <a:rPr lang="en-US" altLang="zh-CN">
                <a:uFill>
                  <a:solidFill>
                    <a:srgbClr val="000000"/>
                  </a:solidFill>
                </a:uFill>
              </a:rPr>
              <a:t> WAL </a:t>
            </a:r>
            <a:r>
              <a:rPr lang="zh-CN" altLang="en-US">
                <a:uFill>
                  <a:solidFill>
                    <a:srgbClr val="000000"/>
                  </a:solidFill>
                </a:uFill>
              </a:rPr>
              <a:t>中</a:t>
            </a:r>
            <a:endParaRPr lang="zh-CN" altLang="en-US">
              <a:uFill>
                <a:solidFill>
                  <a:srgbClr val="000000"/>
                </a:solidFill>
              </a:uFill>
            </a:endParaRPr>
          </a:p>
        </p:txBody>
      </p:sp>
      <p:pic>
        <p:nvPicPr>
          <p:cNvPr id="5" name="图片 4" descr="show subscrip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290570"/>
            <a:ext cx="10344150" cy="2713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uFill>
                  <a:solidFill>
                    <a:srgbClr val="000000"/>
                  </a:solidFill>
                </a:uFill>
                <a:sym typeface="+mn-ea"/>
              </a:rPr>
              <a:t>查看</a:t>
            </a:r>
            <a:r>
              <a:rPr lang="en-US" altLang="zh-CN">
                <a:uFill>
                  <a:solidFill>
                    <a:srgbClr val="000000"/>
                  </a:solidFill>
                </a:uFill>
                <a:sym typeface="+mn-ea"/>
              </a:rPr>
              <a:t> consumer </a:t>
            </a:r>
            <a:r>
              <a:rPr lang="zh-CN" altLang="en-US">
                <a:uFill>
                  <a:solidFill>
                    <a:srgbClr val="000000"/>
                  </a:solidFill>
                </a:uFill>
                <a:sym typeface="+mn-ea"/>
              </a:rPr>
              <a:t>列表</a:t>
            </a:r>
            <a:endParaRPr lang="zh-CN" altLang="en-US">
              <a:uFill>
                <a:solidFill>
                  <a:srgbClr val="000000"/>
                </a:solidFill>
              </a:u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60" y="1792387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 b="0" u="none"/>
              <a:t>细节</a:t>
            </a:r>
            <a:r>
              <a:rPr lang="en-US" altLang="zh-CN" sz="2400" b="0" u="none"/>
              <a:t> </a:t>
            </a:r>
            <a:r>
              <a:rPr lang="zh-CN" altLang="en-US" sz="2400" b="0" u="none"/>
              <a:t>：</a:t>
            </a:r>
            <a:endParaRPr lang="zh-CN" altLang="en-US" sz="2400" b="0" u="none"/>
          </a:p>
          <a:p>
            <a:pPr marL="0" indent="0">
              <a:buNone/>
            </a:pPr>
            <a:r>
              <a:rPr lang="en-US" altLang="zh-CN" sz="2400" b="0" u="none"/>
              <a:t>1. cosnumer ID </a:t>
            </a:r>
            <a:r>
              <a:rPr lang="zh-CN" altLang="en-US" sz="2400" b="0" u="none"/>
              <a:t>显示为</a:t>
            </a:r>
            <a:r>
              <a:rPr lang="en-US" altLang="zh-CN" sz="2400" b="0" u="none"/>
              <a:t>16</a:t>
            </a:r>
            <a:r>
              <a:rPr lang="zh-CN" altLang="en-US" sz="2400" b="0" u="none"/>
              <a:t>进制；</a:t>
            </a:r>
            <a:endParaRPr lang="zh-CN" altLang="en-US" sz="2400" b="0" u="none"/>
          </a:p>
          <a:p>
            <a:pPr marL="0" indent="0">
              <a:buNone/>
            </a:pPr>
            <a:r>
              <a:rPr lang="en-US" altLang="zh-CN" sz="2400" b="0" u="none"/>
              <a:t>2. </a:t>
            </a:r>
            <a:r>
              <a:rPr lang="zh-CN" altLang="en-US" sz="2400" b="0" u="none"/>
              <a:t>正常退出的</a:t>
            </a:r>
            <a:r>
              <a:rPr lang="en-US" altLang="zh-CN" sz="2400" b="0" u="none"/>
              <a:t> consumer </a:t>
            </a:r>
            <a:r>
              <a:rPr lang="zh-CN" altLang="en-US" sz="2400" b="0" u="none"/>
              <a:t>不再显示</a:t>
            </a:r>
            <a:r>
              <a:rPr lang="en-US" altLang="zh-CN" sz="2400" b="0" u="none"/>
              <a:t>; </a:t>
            </a:r>
            <a:endParaRPr lang="en-US" altLang="zh-CN" sz="2400" b="0" u="none"/>
          </a:p>
          <a:p>
            <a:pPr marL="0" indent="0">
              <a:buNone/>
            </a:pPr>
            <a:r>
              <a:rPr lang="en-US" altLang="zh-CN" sz="2400" b="0" u="none"/>
              <a:t>3. drop topic 和 drop consumer group 时 会删除相关的consumer，在show consumers里不再显示。</a:t>
            </a:r>
            <a:endParaRPr lang="en-US" altLang="zh-CN" sz="2400" b="0" u="none"/>
          </a:p>
          <a:p>
            <a:pPr marL="0" indent="0">
              <a:buNone/>
            </a:pPr>
            <a:endParaRPr lang="en-US" altLang="zh-CN" sz="2400" b="0" u="none"/>
          </a:p>
        </p:txBody>
      </p:sp>
      <p:pic>
        <p:nvPicPr>
          <p:cNvPr id="7" name="图片 6" descr="show consumers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870" y="4864735"/>
            <a:ext cx="8531225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uFill>
                  <a:solidFill>
                    <a:srgbClr val="000000"/>
                  </a:solidFill>
                </a:uFill>
                <a:sym typeface="+mn-ea"/>
              </a:rPr>
              <a:t>查看</a:t>
            </a:r>
            <a:r>
              <a:rPr lang="en-US" altLang="zh-CN">
                <a:uFill>
                  <a:solidFill>
                    <a:srgbClr val="000000"/>
                  </a:solidFill>
                </a:uFill>
                <a:sym typeface="+mn-ea"/>
              </a:rPr>
              <a:t> consumer </a:t>
            </a:r>
            <a:r>
              <a:rPr lang="zh-CN" altLang="en-US">
                <a:uFill>
                  <a:solidFill>
                    <a:srgbClr val="000000"/>
                  </a:solidFill>
                </a:uFill>
                <a:sym typeface="+mn-ea"/>
              </a:rPr>
              <a:t>初始配置</a:t>
            </a: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60" y="1792387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 b="0" u="none"/>
              <a:t>细节</a:t>
            </a:r>
            <a:r>
              <a:rPr lang="en-US" altLang="zh-CN" sz="2400" b="0" u="none"/>
              <a:t> </a:t>
            </a:r>
            <a:r>
              <a:rPr lang="zh-CN" altLang="en-US" sz="2400" b="0" u="none"/>
              <a:t>：</a:t>
            </a:r>
            <a:r>
              <a:rPr lang="en-US" altLang="zh-CN" sz="2400" b="0" u="none"/>
              <a:t>show consumers \G;</a:t>
            </a:r>
            <a:endParaRPr lang="en-US" altLang="zh-CN" sz="2400" b="0" u="none"/>
          </a:p>
        </p:txBody>
      </p:sp>
      <p:pic>
        <p:nvPicPr>
          <p:cNvPr id="6" name="图片 5" descr="show consum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320" y="2938145"/>
            <a:ext cx="8110220" cy="29470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Split Vgroup </a:t>
            </a:r>
            <a:r>
              <a:rPr kumimoji="1" lang="zh-CN" altLang="en-US"/>
              <a:t>功能介绍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513580"/>
            <a:ext cx="9144000" cy="744220"/>
          </a:xfrm>
        </p:spPr>
        <p:txBody>
          <a:bodyPr/>
          <a:lstStyle/>
          <a:p>
            <a:r>
              <a:rPr kumimoji="1" lang="zh-CN" altLang="en-US"/>
              <a:t>赵本光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适用场景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514350" indent="-514350">
              <a:buAutoNum type="arabicPeriod"/>
            </a:pPr>
            <a:r>
              <a:rPr lang="zh-CN" altLang="en-US"/>
              <a:t>通过增加</a:t>
            </a:r>
            <a:r>
              <a:rPr lang="en-US" altLang="zh-CN"/>
              <a:t>dnode</a:t>
            </a:r>
            <a:r>
              <a:rPr lang="zh-CN" altLang="en-US"/>
              <a:t>节点，降低</a:t>
            </a:r>
            <a:r>
              <a:rPr lang="en-US" altLang="zh-CN"/>
              <a:t>dnode</a:t>
            </a:r>
            <a:r>
              <a:rPr lang="zh-CN" altLang="en-US"/>
              <a:t>负载时，首先考虑通过</a:t>
            </a:r>
            <a:r>
              <a:rPr lang="en-US" altLang="zh-CN"/>
              <a:t>redistribute vgroup</a:t>
            </a:r>
            <a:r>
              <a:rPr lang="zh-CN" altLang="en-US"/>
              <a:t>命令，在不增加</a:t>
            </a:r>
            <a:r>
              <a:rPr lang="en-US" altLang="zh-CN"/>
              <a:t>vgroup</a:t>
            </a:r>
            <a:r>
              <a:rPr lang="zh-CN" altLang="en-US"/>
              <a:t>数目情况下，把虚拟组的副本，迁移到新增</a:t>
            </a:r>
            <a:r>
              <a:rPr lang="en-US" altLang="zh-CN"/>
              <a:t>dnode</a:t>
            </a:r>
            <a:r>
              <a:rPr lang="zh-CN" altLang="en-US"/>
              <a:t>节点上，从而实现写入、查询等业务在</a:t>
            </a:r>
            <a:r>
              <a:rPr lang="en-US" altLang="zh-CN"/>
              <a:t>CPU</a:t>
            </a:r>
            <a:r>
              <a:rPr lang="zh-CN" altLang="en-US"/>
              <a:t>和</a:t>
            </a:r>
            <a:r>
              <a:rPr lang="en-US" altLang="zh-CN"/>
              <a:t>Disk</a:t>
            </a:r>
            <a:r>
              <a:rPr lang="zh-CN" altLang="en-US"/>
              <a:t>资源使用的负载均衡。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>
                <a:solidFill>
                  <a:schemeClr val="tx1"/>
                </a:solidFill>
              </a:rPr>
              <a:t>如果单个</a:t>
            </a:r>
            <a:r>
              <a:rPr lang="en-US" altLang="zh-CN">
                <a:solidFill>
                  <a:schemeClr val="tx1"/>
                </a:solidFill>
              </a:rPr>
              <a:t>vgroup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Disk</a:t>
            </a:r>
            <a:r>
              <a:rPr lang="zh-CN" altLang="en-US">
                <a:solidFill>
                  <a:schemeClr val="tx1"/>
                </a:solidFill>
              </a:rPr>
              <a:t>资源使用负载过高，通过</a:t>
            </a:r>
            <a:r>
              <a:rPr lang="en-US" altLang="zh-CN">
                <a:solidFill>
                  <a:schemeClr val="tx1"/>
                </a:solidFill>
              </a:rPr>
              <a:t>split vgroup</a:t>
            </a:r>
            <a:r>
              <a:rPr lang="zh-CN" altLang="en-US">
                <a:solidFill>
                  <a:schemeClr val="tx1"/>
                </a:solidFill>
              </a:rPr>
              <a:t>把该</a:t>
            </a:r>
            <a:r>
              <a:rPr lang="en-US" altLang="zh-CN">
                <a:solidFill>
                  <a:schemeClr val="tx1"/>
                </a:solidFill>
              </a:rPr>
              <a:t>vgroup</a:t>
            </a:r>
            <a:r>
              <a:rPr lang="zh-CN" altLang="en-US">
                <a:solidFill>
                  <a:schemeClr val="tx1"/>
                </a:solidFill>
              </a:rPr>
              <a:t>分裂为两个</a:t>
            </a:r>
            <a:r>
              <a:rPr lang="en-US" altLang="zh-CN">
                <a:solidFill>
                  <a:schemeClr val="tx1"/>
                </a:solidFill>
              </a:rPr>
              <a:t>vgroup</a:t>
            </a:r>
            <a:r>
              <a:rPr lang="zh-CN" altLang="en-US">
                <a:solidFill>
                  <a:schemeClr val="tx1"/>
                </a:solidFill>
              </a:rPr>
              <a:t>，进行负载均衡。分裂过程中，会自动选择当前负载较低的</a:t>
            </a:r>
            <a:r>
              <a:rPr lang="en-US" altLang="zh-CN">
                <a:solidFill>
                  <a:schemeClr val="tx1"/>
                </a:solidFill>
              </a:rPr>
              <a:t>dnode</a:t>
            </a:r>
            <a:r>
              <a:rPr lang="zh-CN" altLang="en-US">
                <a:solidFill>
                  <a:schemeClr val="tx1"/>
                </a:solidFill>
              </a:rPr>
              <a:t>节点，生成新</a:t>
            </a:r>
            <a:r>
              <a:rPr lang="en-US" altLang="zh-CN">
                <a:solidFill>
                  <a:schemeClr val="tx1"/>
                </a:solidFill>
              </a:rPr>
              <a:t>vgroup</a:t>
            </a:r>
            <a:r>
              <a:rPr lang="zh-CN" altLang="en-US">
                <a:solidFill>
                  <a:schemeClr val="tx1"/>
                </a:solidFill>
              </a:rPr>
              <a:t>的副本。分裂过程中，可持续进行写入和查询业务；期间，可能会有可感知的短暂的读写业务中断。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使用方法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14389"/>
            <a:ext cx="10515600" cy="4351338"/>
          </a:xfrm>
        </p:spPr>
        <p:txBody>
          <a:bodyPr>
            <a:normAutofit fontScale="90000"/>
          </a:bodyPr>
          <a:p>
            <a:pPr marL="457200" indent="-457200">
              <a:buAutoNum type="arabicPeriod"/>
            </a:pPr>
            <a:r>
              <a:rPr lang="zh-CN" altLang="en-US"/>
              <a:t>通过</a:t>
            </a:r>
            <a:r>
              <a:rPr lang="en-US" altLang="zh-CN"/>
              <a:t>show vgroups</a:t>
            </a:r>
            <a:r>
              <a:rPr lang="zh-CN" altLang="en-US"/>
              <a:t>命令，查看每个</a:t>
            </a:r>
            <a:r>
              <a:rPr lang="en-US" altLang="zh-CN"/>
              <a:t>vgroup</a:t>
            </a:r>
            <a:r>
              <a:rPr lang="zh-CN" altLang="en-US"/>
              <a:t>子表数目，以及各个</a:t>
            </a:r>
            <a:r>
              <a:rPr lang="en-US" altLang="zh-CN"/>
              <a:t>vnode</a:t>
            </a:r>
            <a:r>
              <a:rPr lang="zh-CN" altLang="en-US"/>
              <a:t>时序数据的磁盘空间使用量，并结合其它系统监控工具，识别出需要分裂的虚拟组。然后</a:t>
            </a:r>
            <a:r>
              <a:rPr lang="en-US" altLang="zh-CN"/>
              <a:t>, </a:t>
            </a:r>
            <a:r>
              <a:rPr lang="zh-CN" altLang="en-US"/>
              <a:t>通过</a:t>
            </a:r>
            <a:r>
              <a:rPr lang="en-US" altLang="zh-CN"/>
              <a:t>split vgroup</a:t>
            </a:r>
            <a:r>
              <a:rPr lang="zh-CN" altLang="en-US"/>
              <a:t>命令，逐个</a:t>
            </a:r>
            <a:r>
              <a:rPr lang="en-US" altLang="zh-CN"/>
              <a:t>vgroup</a:t>
            </a:r>
            <a:r>
              <a:rPr lang="zh-CN" altLang="en-US"/>
              <a:t>，执行分裂任务。              命令用法为：</a:t>
            </a:r>
            <a:r>
              <a:rPr lang="en-US" altLang="zh-CN"/>
              <a:t>split vgroup &lt;vgId&gt;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zh-CN" altLang="en-US">
                <a:solidFill>
                  <a:schemeClr val="tx1"/>
                </a:solidFill>
              </a:rPr>
              <a:t>分裂后，新产生的</a:t>
            </a:r>
            <a:r>
              <a:rPr lang="en-US" altLang="zh-CN">
                <a:solidFill>
                  <a:schemeClr val="tx1"/>
                </a:solidFill>
              </a:rPr>
              <a:t>vgroup</a:t>
            </a:r>
            <a:r>
              <a:rPr lang="zh-CN" altLang="en-US">
                <a:solidFill>
                  <a:schemeClr val="tx1"/>
                </a:solidFill>
              </a:rPr>
              <a:t>中历史时序数据的总磁盘使用量，单副本库会翻倍。通过</a:t>
            </a:r>
            <a:r>
              <a:rPr lang="en-US" altLang="zh-CN">
                <a:solidFill>
                  <a:schemeClr val="tx1"/>
                </a:solidFill>
              </a:rPr>
              <a:t>compact</a:t>
            </a:r>
            <a:r>
              <a:rPr lang="zh-CN" altLang="en-US">
                <a:solidFill>
                  <a:schemeClr val="tx1"/>
                </a:solidFill>
              </a:rPr>
              <a:t>命令清理冗余数据后，历史时序数据的总磁盘使用量，可降低到原来水平。所以，进行</a:t>
            </a:r>
            <a:r>
              <a:rPr lang="en-US" altLang="zh-CN">
                <a:solidFill>
                  <a:schemeClr val="tx1"/>
                </a:solidFill>
              </a:rPr>
              <a:t>split vgroup</a:t>
            </a:r>
            <a:r>
              <a:rPr lang="zh-CN" altLang="en-US">
                <a:solidFill>
                  <a:schemeClr val="tx1"/>
                </a:solidFill>
              </a:rPr>
              <a:t>操作前，需要通过新增</a:t>
            </a:r>
            <a:r>
              <a:rPr lang="en-US" altLang="zh-CN">
                <a:solidFill>
                  <a:schemeClr val="tx1"/>
                </a:solidFill>
              </a:rPr>
              <a:t>dnode</a:t>
            </a:r>
            <a:r>
              <a:rPr lang="zh-CN" altLang="en-US">
                <a:solidFill>
                  <a:schemeClr val="tx1"/>
                </a:solidFill>
              </a:rPr>
              <a:t>节点，在集群中准备充足的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和磁盘资源，以避免资源不足问题出现。</a:t>
            </a:r>
            <a:r>
              <a:rPr lang="zh-CN" altLang="en-US">
                <a:sym typeface="+mn-ea"/>
              </a:rPr>
              <a:t>不论是否执行</a:t>
            </a:r>
            <a:r>
              <a:rPr lang="en-US" altLang="zh-CN">
                <a:sym typeface="+mn-ea"/>
              </a:rPr>
              <a:t>compact</a:t>
            </a:r>
            <a:r>
              <a:rPr lang="zh-CN" altLang="en-US">
                <a:sym typeface="+mn-ea"/>
              </a:rPr>
              <a:t>命令，写入和查询的正确性，不受影响。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实现原理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分裂过程，分为如下三个阶段；整个过程可对节点宕机重启容错。</a:t>
            </a:r>
            <a:endParaRPr lang="zh-CN" altLang="en-US"/>
          </a:p>
          <a:p>
            <a:r>
              <a:rPr lang="zh-CN" altLang="en-US"/>
              <a:t>准备阶段</a:t>
            </a:r>
            <a:endParaRPr lang="zh-CN" altLang="en-US"/>
          </a:p>
          <a:p>
            <a:pPr marL="0" indent="0">
              <a:buNone/>
            </a:pPr>
            <a:r>
              <a:rPr lang="zh-CN" altLang="en-US" sz="2200"/>
              <a:t>不论原来是单副本还是多副本，均通过副本变更机制，先变更为两副本。</a:t>
            </a:r>
            <a:endParaRPr lang="zh-CN" altLang="en-US" sz="2200"/>
          </a:p>
          <a:p>
            <a:r>
              <a:rPr lang="zh-CN" altLang="en-US">
                <a:solidFill>
                  <a:schemeClr val="tx1"/>
                </a:solidFill>
              </a:rPr>
              <a:t>分裂阶段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200">
                <a:solidFill>
                  <a:schemeClr val="tx1"/>
                </a:solidFill>
              </a:rPr>
              <a:t>两个副本，通过</a:t>
            </a:r>
            <a:r>
              <a:rPr lang="en-US" altLang="zh-CN" sz="2200">
                <a:solidFill>
                  <a:schemeClr val="tx1"/>
                </a:solidFill>
              </a:rPr>
              <a:t>alter</a:t>
            </a:r>
            <a:r>
              <a:rPr lang="zh-CN" altLang="en-US" sz="2200">
                <a:solidFill>
                  <a:schemeClr val="tx1"/>
                </a:solidFill>
              </a:rPr>
              <a:t>-</a:t>
            </a:r>
            <a:r>
              <a:rPr lang="en-US" altLang="zh-CN" sz="2200">
                <a:solidFill>
                  <a:schemeClr val="tx1"/>
                </a:solidFill>
              </a:rPr>
              <a:t>hashrange</a:t>
            </a:r>
            <a:r>
              <a:rPr lang="zh-CN" altLang="en-US" sz="2200">
                <a:solidFill>
                  <a:schemeClr val="tx1"/>
                </a:solidFill>
              </a:rPr>
              <a:t>和</a:t>
            </a:r>
            <a:r>
              <a:rPr lang="en-US" altLang="zh-CN" sz="2200">
                <a:solidFill>
                  <a:schemeClr val="tx1"/>
                </a:solidFill>
              </a:rPr>
              <a:t>alter</a:t>
            </a:r>
            <a:r>
              <a:rPr lang="zh-CN" altLang="en-US" sz="2200">
                <a:solidFill>
                  <a:schemeClr val="tx1"/>
                </a:solidFill>
              </a:rPr>
              <a:t>-</a:t>
            </a:r>
            <a:r>
              <a:rPr lang="en-US" altLang="zh-CN" sz="2200">
                <a:solidFill>
                  <a:schemeClr val="tx1"/>
                </a:solidFill>
              </a:rPr>
              <a:t>confirm</a:t>
            </a:r>
            <a:r>
              <a:rPr lang="zh-CN" altLang="en-US" sz="2200">
                <a:solidFill>
                  <a:schemeClr val="tx1"/>
                </a:solidFill>
              </a:rPr>
              <a:t>等操作，分别变更为两个新的单副本</a:t>
            </a:r>
            <a:r>
              <a:rPr lang="en-US" altLang="zh-CN" sz="2200">
                <a:solidFill>
                  <a:schemeClr val="tx1"/>
                </a:solidFill>
              </a:rPr>
              <a:t>vgroup</a:t>
            </a:r>
            <a:r>
              <a:rPr lang="zh-CN" altLang="en-US" sz="2200">
                <a:solidFill>
                  <a:schemeClr val="tx1"/>
                </a:solidFill>
              </a:rPr>
              <a:t>。从</a:t>
            </a:r>
            <a:r>
              <a:rPr lang="en-US" altLang="zh-CN" sz="2200">
                <a:solidFill>
                  <a:schemeClr val="tx1"/>
                </a:solidFill>
              </a:rPr>
              <a:t>alter</a:t>
            </a:r>
            <a:r>
              <a:rPr lang="zh-CN" altLang="en-US" sz="2200">
                <a:solidFill>
                  <a:schemeClr val="tx1"/>
                </a:solidFill>
              </a:rPr>
              <a:t>-</a:t>
            </a:r>
            <a:r>
              <a:rPr lang="en-US" altLang="zh-CN" sz="2200">
                <a:solidFill>
                  <a:schemeClr val="tx1"/>
                </a:solidFill>
              </a:rPr>
              <a:t>hashrange</a:t>
            </a:r>
            <a:r>
              <a:rPr lang="zh-CN" altLang="en-US" sz="2200">
                <a:solidFill>
                  <a:schemeClr val="tx1"/>
                </a:solidFill>
              </a:rPr>
              <a:t>开始到</a:t>
            </a:r>
            <a:r>
              <a:rPr lang="en-US" altLang="zh-CN" sz="2200">
                <a:solidFill>
                  <a:schemeClr val="tx1"/>
                </a:solidFill>
              </a:rPr>
              <a:t>alter</a:t>
            </a:r>
            <a:r>
              <a:rPr lang="zh-CN" altLang="en-US" sz="2200">
                <a:solidFill>
                  <a:schemeClr val="tx1"/>
                </a:solidFill>
              </a:rPr>
              <a:t>-</a:t>
            </a:r>
            <a:r>
              <a:rPr lang="en-US" altLang="zh-CN" sz="2200">
                <a:solidFill>
                  <a:schemeClr val="tx1"/>
                </a:solidFill>
              </a:rPr>
              <a:t>confirm</a:t>
            </a:r>
            <a:r>
              <a:rPr lang="zh-CN" altLang="en-US" sz="2200">
                <a:solidFill>
                  <a:schemeClr val="tx1"/>
                </a:solidFill>
              </a:rPr>
              <a:t>结束，读写阻塞。</a:t>
            </a:r>
            <a:endParaRPr lang="zh-CN" altLang="en-US" sz="2200">
              <a:solidFill>
                <a:schemeClr val="tx1"/>
              </a:solidFill>
            </a:endParaRPr>
          </a:p>
          <a:p>
            <a:r>
              <a:rPr lang="zh-CN" altLang="en-US"/>
              <a:t>结束阶段</a:t>
            </a:r>
            <a:endParaRPr lang="zh-CN" altLang="en-US"/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两个新产生的单副本</a:t>
            </a:r>
            <a:r>
              <a:rPr lang="en-US" altLang="zh-CN" sz="2000">
                <a:solidFill>
                  <a:schemeClr val="tx1"/>
                </a:solidFill>
              </a:rPr>
              <a:t>vgroup</a:t>
            </a:r>
            <a:r>
              <a:rPr lang="zh-CN" altLang="en-US" sz="2000">
                <a:solidFill>
                  <a:schemeClr val="tx1"/>
                </a:solidFill>
              </a:rPr>
              <a:t>，若需要则通过副本变更</a:t>
            </a:r>
            <a:r>
              <a:rPr lang="en-US" altLang="zh-CN" sz="2000">
                <a:solidFill>
                  <a:schemeClr val="tx1"/>
                </a:solidFill>
              </a:rPr>
              <a:t>,  </a:t>
            </a:r>
            <a:r>
              <a:rPr lang="zh-CN" altLang="en-US" sz="2000">
                <a:solidFill>
                  <a:schemeClr val="tx1"/>
                </a:solidFill>
              </a:rPr>
              <a:t>各自恢复到原来的副本数。</a:t>
            </a:r>
            <a:endParaRPr lang="zh-CN" alt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注意事项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>
                <a:sym typeface="+mn-ea"/>
              </a:rPr>
              <a:t>命令</a:t>
            </a:r>
            <a:r>
              <a:rPr lang="en-US" altLang="zh-CN">
                <a:sym typeface="+mn-ea"/>
              </a:rPr>
              <a:t>split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vgroup, 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DB</a:t>
            </a:r>
            <a:r>
              <a:rPr lang="zh-CN" altLang="en-US">
                <a:sym typeface="+mn-ea"/>
              </a:rPr>
              <a:t>级事务</a:t>
            </a:r>
            <a:r>
              <a:rPr lang="en-US" altLang="zh-CN">
                <a:sym typeface="+mn-ea"/>
              </a:rPr>
              <a:t>.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zh-CN" altLang="en-US" sz="2200">
                <a:sym typeface="+mn-ea"/>
              </a:rPr>
              <a:t>   在执行过程中，当前</a:t>
            </a:r>
            <a:r>
              <a:rPr lang="en-US" altLang="zh-CN" sz="2200">
                <a:sym typeface="+mn-ea"/>
              </a:rPr>
              <a:t>DB</a:t>
            </a:r>
            <a:r>
              <a:rPr lang="zh-CN" altLang="en-US" sz="2200">
                <a:sym typeface="+mn-ea"/>
              </a:rPr>
              <a:t>不能执行其它管理操作任务。其它</a:t>
            </a:r>
            <a:r>
              <a:rPr lang="en-US" altLang="zh-CN" sz="2200">
                <a:sym typeface="+mn-ea"/>
              </a:rPr>
              <a:t>Db</a:t>
            </a:r>
            <a:r>
              <a:rPr lang="zh-CN" altLang="en-US" sz="2200">
                <a:sym typeface="+mn-ea"/>
              </a:rPr>
              <a:t>不受影响。</a:t>
            </a:r>
            <a:r>
              <a:rPr lang="zh-CN" altLang="en-US" sz="2200"/>
              <a:t> </a:t>
            </a:r>
            <a:endParaRPr lang="zh-CN" altLang="en-US" sz="2200"/>
          </a:p>
          <a:p>
            <a:r>
              <a:rPr lang="zh-CN" altLang="en-US"/>
              <a:t>单节点集群，不支持</a:t>
            </a:r>
            <a:r>
              <a:rPr lang="en-US" altLang="zh-CN"/>
              <a:t>split vgroup.</a:t>
            </a:r>
            <a:endParaRPr lang="zh-CN" altLang="en-US"/>
          </a:p>
          <a:p>
            <a:pPr marL="0" indent="0">
              <a:buNone/>
            </a:pPr>
            <a:r>
              <a:rPr lang="zh-CN" altLang="en-US" sz="2200">
                <a:sym typeface="+mn-ea"/>
              </a:rPr>
              <a:t>   需要多个</a:t>
            </a:r>
            <a:r>
              <a:rPr lang="en-US" altLang="zh-CN" sz="2200">
                <a:sym typeface="+mn-ea"/>
              </a:rPr>
              <a:t>dnode</a:t>
            </a:r>
            <a:r>
              <a:rPr lang="zh-CN" altLang="en-US" sz="2200">
                <a:sym typeface="+mn-ea"/>
              </a:rPr>
              <a:t>节点</a:t>
            </a:r>
            <a:r>
              <a:rPr lang="en-US" altLang="zh-CN" sz="2200">
                <a:sym typeface="+mn-ea"/>
              </a:rPr>
              <a:t>.</a:t>
            </a:r>
            <a:endParaRPr lang="zh-CN" altLang="en-US" sz="2200"/>
          </a:p>
          <a:p>
            <a:r>
              <a:rPr lang="zh-CN" altLang="en-US">
                <a:solidFill>
                  <a:schemeClr val="tx1"/>
                </a:solidFill>
              </a:rPr>
              <a:t>在订阅或流存在的情况下，不支持</a:t>
            </a:r>
            <a:r>
              <a:rPr lang="en-US" altLang="zh-CN">
                <a:solidFill>
                  <a:schemeClr val="tx1"/>
                </a:solidFill>
              </a:rPr>
              <a:t>split vgroup.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200">
                <a:solidFill>
                  <a:schemeClr val="tx1"/>
                </a:solidFill>
              </a:rPr>
              <a:t>   如果要</a:t>
            </a:r>
            <a:r>
              <a:rPr lang="en-US" altLang="zh-CN" sz="2200">
                <a:solidFill>
                  <a:schemeClr val="tx1"/>
                </a:solidFill>
              </a:rPr>
              <a:t>split vgroup, </a:t>
            </a:r>
            <a:r>
              <a:rPr lang="zh-CN" altLang="en-US" sz="2200">
                <a:solidFill>
                  <a:schemeClr val="tx1"/>
                </a:solidFill>
              </a:rPr>
              <a:t>需要通过</a:t>
            </a:r>
            <a:r>
              <a:rPr lang="en-US" altLang="zh-CN" sz="2200">
                <a:solidFill>
                  <a:schemeClr val="tx1"/>
                </a:solidFill>
              </a:rPr>
              <a:t>drop stream</a:t>
            </a:r>
            <a:r>
              <a:rPr lang="zh-CN" altLang="en-US" sz="2200">
                <a:solidFill>
                  <a:schemeClr val="tx1"/>
                </a:solidFill>
              </a:rPr>
              <a:t>或</a:t>
            </a:r>
            <a:r>
              <a:rPr lang="en-US" altLang="zh-CN" sz="2200">
                <a:solidFill>
                  <a:schemeClr val="tx1"/>
                </a:solidFill>
              </a:rPr>
              <a:t>drop topic, </a:t>
            </a:r>
            <a:r>
              <a:rPr lang="zh-CN" altLang="en-US" sz="2200">
                <a:solidFill>
                  <a:schemeClr val="tx1"/>
                </a:solidFill>
              </a:rPr>
              <a:t>删除该</a:t>
            </a:r>
            <a:r>
              <a:rPr lang="en-US" altLang="zh-CN" sz="2200">
                <a:solidFill>
                  <a:schemeClr val="tx1"/>
                </a:solidFill>
              </a:rPr>
              <a:t>DB</a:t>
            </a:r>
            <a:r>
              <a:rPr lang="zh-CN" altLang="en-US" sz="2200">
                <a:solidFill>
                  <a:schemeClr val="tx1"/>
                </a:solidFill>
              </a:rPr>
              <a:t>相关的全部流和订阅。</a:t>
            </a:r>
            <a:endParaRPr lang="zh-CN" altLang="en-US" sz="2200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在</a:t>
            </a:r>
            <a:r>
              <a:rPr lang="en-US" altLang="zh-CN">
                <a:solidFill>
                  <a:schemeClr val="tx1"/>
                </a:solidFill>
              </a:rPr>
              <a:t>split vgroup</a:t>
            </a:r>
            <a:r>
              <a:rPr lang="zh-CN" altLang="en-US">
                <a:solidFill>
                  <a:schemeClr val="tx1"/>
                </a:solidFill>
              </a:rPr>
              <a:t>执行过程中，不支持新建订阅或流</a:t>
            </a:r>
            <a:r>
              <a:rPr lang="en-US" altLang="zh-CN">
                <a:solidFill>
                  <a:schemeClr val="tx1"/>
                </a:solidFill>
              </a:rPr>
              <a:t>.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700">
                <a:solidFill>
                  <a:schemeClr val="tx1"/>
                </a:solidFill>
              </a:rPr>
              <a:t>  </a:t>
            </a:r>
            <a:r>
              <a:rPr lang="zh-CN" altLang="en-US" sz="2200">
                <a:solidFill>
                  <a:schemeClr val="tx1"/>
                </a:solidFill>
              </a:rPr>
              <a:t>当</a:t>
            </a:r>
            <a:r>
              <a:rPr lang="en-US" altLang="zh-CN" sz="2200">
                <a:solidFill>
                  <a:schemeClr val="tx1"/>
                </a:solidFill>
              </a:rPr>
              <a:t>split vgroup</a:t>
            </a:r>
            <a:r>
              <a:rPr lang="zh-CN" altLang="en-US" sz="2200">
                <a:solidFill>
                  <a:schemeClr val="tx1"/>
                </a:solidFill>
              </a:rPr>
              <a:t>结束后，可新建。</a:t>
            </a:r>
            <a:endParaRPr lang="zh-CN" altLang="en-US" sz="22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分裂过程中，支持节点宕机重启容错，但不支持节点磁盘故障容错。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200">
                <a:solidFill>
                  <a:schemeClr val="tx1"/>
                </a:solidFill>
              </a:rPr>
              <a:t>   因为其中会经历单副本阶段，此时若发生节点磁盘故障，可发生永久性数据丢失。</a:t>
            </a:r>
            <a:endParaRPr lang="zh-CN" altLang="en-US" sz="22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•"/>
            </a:pPr>
            <a:r>
              <a:rPr lang="zh-CN" altLang="en-US">
                <a:sym typeface="+mn-ea"/>
              </a:rPr>
              <a:t>分裂结束后，历史</a:t>
            </a:r>
            <a:r>
              <a:rPr lang="en-US" altLang="zh-CN">
                <a:sym typeface="+mn-ea"/>
              </a:rPr>
              <a:t>WAL</a:t>
            </a:r>
            <a:r>
              <a:rPr lang="zh-CN" altLang="en-US">
                <a:sym typeface="+mn-ea"/>
              </a:rPr>
              <a:t>将会被清空。</a:t>
            </a:r>
            <a:endParaRPr lang="zh-CN" altLang="en-US" sz="2200"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TTL 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  <a:p>
            <a:r>
              <a:rPr kumimoji="1" lang="zh-CN" altLang="en-US"/>
              <a:t>李顺纲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功能简介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TTL (Time to Live)</a:t>
            </a:r>
            <a:r>
              <a:rPr lang="zh-CN" altLang="en-US" dirty="0"/>
              <a:t>是用户用来指定</a:t>
            </a:r>
            <a:r>
              <a:rPr lang="zh-CN" altLang="en-US" b="1" dirty="0"/>
              <a:t>表</a:t>
            </a:r>
            <a:r>
              <a:rPr lang="zh-CN" altLang="en-US" dirty="0"/>
              <a:t>的生命周期的参数。当表指定该参数后，超过</a:t>
            </a:r>
            <a:r>
              <a:rPr lang="zh-CN" altLang="en-US" b="1" dirty="0"/>
              <a:t>到期时间</a:t>
            </a:r>
            <a:r>
              <a:rPr lang="zh-CN" altLang="en-US" dirty="0"/>
              <a:t>，则 </a:t>
            </a:r>
            <a:r>
              <a:rPr lang="en-US" altLang="zh-CN" dirty="0" err="1"/>
              <a:t>TDengine</a:t>
            </a:r>
            <a:r>
              <a:rPr lang="en-US" altLang="zh-CN" dirty="0"/>
              <a:t> </a:t>
            </a:r>
            <a:r>
              <a:rPr lang="zh-CN" altLang="en-US" dirty="0"/>
              <a:t>会自动删除该表。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到期时间可配置为：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仅与表</a:t>
            </a:r>
            <a:r>
              <a:rPr lang="zh-CN" altLang="en-US" b="1" dirty="0"/>
              <a:t>创建时间</a:t>
            </a:r>
            <a:r>
              <a:rPr lang="zh-CN" altLang="en-US" dirty="0"/>
              <a:t>相关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或随表</a:t>
            </a:r>
            <a:r>
              <a:rPr lang="zh-CN" altLang="en-US" b="1" dirty="0"/>
              <a:t>最后修改时间</a:t>
            </a:r>
            <a:r>
              <a:rPr lang="zh-CN" altLang="en-US" dirty="0"/>
              <a:t>而改变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创建与变更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14389"/>
            <a:ext cx="10515600" cy="4351338"/>
          </a:xfrm>
        </p:spPr>
        <p:txBody>
          <a:bodyPr>
            <a:normAutofit fontScale="97500"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创建子表并指定 </a:t>
            </a:r>
            <a:r>
              <a:rPr lang="en-US" altLang="zh-CN" dirty="0"/>
              <a:t>TTL</a:t>
            </a:r>
            <a:br>
              <a:rPr lang="en-US" altLang="zh-CN" dirty="0"/>
            </a:br>
            <a:r>
              <a:rPr lang="en-US" altLang="zh-CN" dirty="0"/>
              <a:t>CREATE TABLE t using </a:t>
            </a:r>
            <a:r>
              <a:rPr lang="en-US" altLang="zh-CN" dirty="0" err="1"/>
              <a:t>st</a:t>
            </a:r>
            <a:r>
              <a:rPr lang="en-US" altLang="zh-CN" dirty="0"/>
              <a:t> tags("</a:t>
            </a:r>
            <a:r>
              <a:rPr lang="en-US" altLang="zh-CN" dirty="0" err="1"/>
              <a:t>ggg</a:t>
            </a:r>
            <a:r>
              <a:rPr lang="en-US" altLang="zh-CN" dirty="0"/>
              <a:t>") TTL 1;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创建普通表并指定 </a:t>
            </a:r>
            <a:r>
              <a:rPr lang="en-US" altLang="zh-CN" dirty="0"/>
              <a:t>TTL</a:t>
            </a:r>
            <a:br>
              <a:rPr lang="en-US" altLang="zh-CN" dirty="0"/>
            </a:br>
            <a:r>
              <a:rPr lang="en-US" altLang="zh-CN" dirty="0"/>
              <a:t>CREATE TABLE t (</a:t>
            </a:r>
            <a:r>
              <a:rPr lang="en-US" altLang="zh-CN" dirty="0" err="1"/>
              <a:t>ts</a:t>
            </a:r>
            <a:r>
              <a:rPr lang="en-US" altLang="zh-CN" dirty="0"/>
              <a:t> TIMESTAMP, a INT) TTL 10;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变更 </a:t>
            </a:r>
            <a:r>
              <a:rPr lang="en-US" altLang="zh-CN" dirty="0"/>
              <a:t>TTL</a:t>
            </a:r>
            <a:br>
              <a:rPr lang="en-US" altLang="zh-CN" dirty="0"/>
            </a:br>
            <a:r>
              <a:rPr lang="fr-FR" altLang="zh-CN" dirty="0"/>
              <a:t>ALTER TABLE t TTL 10;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配置与修改操作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14389"/>
            <a:ext cx="10515600" cy="4351338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dirty="0"/>
              <a:t>若 </a:t>
            </a:r>
            <a:r>
              <a:rPr lang="en-US" altLang="zh-CN" b="1" dirty="0" err="1"/>
              <a:t>ttlChangeOnWrite</a:t>
            </a:r>
            <a:r>
              <a:rPr lang="en-US" altLang="zh-CN" b="1" dirty="0"/>
              <a:t> </a:t>
            </a:r>
            <a:r>
              <a:rPr lang="zh-CN" altLang="en-US" dirty="0"/>
              <a:t>为 </a:t>
            </a:r>
            <a:r>
              <a:rPr lang="en-US" altLang="zh-CN" dirty="0"/>
              <a:t>true</a:t>
            </a:r>
            <a:r>
              <a:rPr lang="zh-CN" altLang="en-US" dirty="0"/>
              <a:t>，以下操作将改变表删除时间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插入操作</a:t>
            </a:r>
            <a:br>
              <a:rPr lang="en-US" altLang="zh-CN" dirty="0"/>
            </a:br>
            <a:r>
              <a:rPr lang="en-US" altLang="zh-CN" dirty="0"/>
              <a:t>INSERT INTO t VALUES (NOW, 1);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删除操作</a:t>
            </a:r>
            <a:br>
              <a:rPr lang="en-US" altLang="zh-CN" dirty="0"/>
            </a:br>
            <a:r>
              <a:rPr lang="en-US" altLang="zh-CN" dirty="0"/>
              <a:t>DELETE FROM t WHERE </a:t>
            </a:r>
            <a:r>
              <a:rPr lang="en-US" altLang="zh-CN" dirty="0" err="1"/>
              <a:t>ts</a:t>
            </a:r>
            <a:r>
              <a:rPr lang="en-US" altLang="zh-CN" dirty="0"/>
              <a:t> = '2023-04-21 08:11:11.121’;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变更操作</a:t>
            </a:r>
            <a:br>
              <a:rPr lang="en-US" altLang="zh-CN" dirty="0"/>
            </a:br>
            <a:r>
              <a:rPr lang="fr-FR" altLang="zh-CN" dirty="0"/>
              <a:t>ALTER TABLE t ADD COLUMN b INT;</a:t>
            </a:r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实现原理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写入阶段</a:t>
            </a:r>
            <a:br>
              <a:rPr lang="en-US" altLang="zh-CN" dirty="0"/>
            </a:br>
            <a:r>
              <a:rPr lang="en-US" altLang="zh-CN" dirty="0" err="1"/>
              <a:t>vnode</a:t>
            </a:r>
            <a:r>
              <a:rPr lang="en-US" altLang="zh-CN" dirty="0"/>
              <a:t> </a:t>
            </a:r>
            <a:r>
              <a:rPr lang="zh-CN" altLang="en-US" dirty="0"/>
              <a:t>将需要更新的 </a:t>
            </a:r>
            <a:r>
              <a:rPr lang="en-US" altLang="zh-CN" dirty="0"/>
              <a:t>TTL </a:t>
            </a:r>
            <a:r>
              <a:rPr lang="zh-CN" altLang="en-US" dirty="0"/>
              <a:t>写入内存缓存。</a:t>
            </a:r>
            <a:endParaRPr lang="en-US" altLang="zh-CN" dirty="0"/>
          </a:p>
          <a:p>
            <a:r>
              <a:rPr lang="zh-CN" altLang="en-US" dirty="0"/>
              <a:t>下刷阶段</a:t>
            </a:r>
            <a:br>
              <a:rPr lang="en-US" altLang="zh-CN" dirty="0"/>
            </a:br>
            <a:r>
              <a:rPr lang="en-US" altLang="zh-CN" dirty="0"/>
              <a:t>TTL</a:t>
            </a:r>
            <a:r>
              <a:rPr lang="zh-CN" altLang="en-US" dirty="0"/>
              <a:t> 脏项随 </a:t>
            </a:r>
            <a:r>
              <a:rPr lang="en-US" altLang="zh-CN" dirty="0" err="1"/>
              <a:t>vnode</a:t>
            </a:r>
            <a:r>
              <a:rPr lang="en-US" altLang="zh-CN" dirty="0"/>
              <a:t> commit </a:t>
            </a:r>
            <a:r>
              <a:rPr lang="zh-CN" altLang="en-US" dirty="0"/>
              <a:t>下刷。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清理阶段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err="1"/>
              <a:t>mnode</a:t>
            </a:r>
            <a:r>
              <a:rPr lang="en-US" altLang="zh-CN" dirty="0"/>
              <a:t> </a:t>
            </a:r>
            <a:r>
              <a:rPr lang="zh-CN" altLang="en-US" dirty="0"/>
              <a:t>定期向 </a:t>
            </a:r>
            <a:r>
              <a:rPr lang="en-US" altLang="zh-CN" dirty="0" err="1"/>
              <a:t>vnode</a:t>
            </a:r>
            <a:r>
              <a:rPr lang="en-US" altLang="zh-CN" dirty="0"/>
              <a:t> </a:t>
            </a:r>
            <a:r>
              <a:rPr lang="zh-CN" altLang="en-US" dirty="0"/>
              <a:t>发送 </a:t>
            </a:r>
            <a:r>
              <a:rPr lang="en-US" altLang="zh-CN" dirty="0" err="1"/>
              <a:t>dropTableByTTL</a:t>
            </a:r>
            <a:r>
              <a:rPr lang="en-US" altLang="zh-CN" dirty="0"/>
              <a:t> </a:t>
            </a:r>
            <a:r>
              <a:rPr lang="zh-CN" altLang="en-US" dirty="0"/>
              <a:t>消息</a:t>
            </a:r>
            <a:endParaRPr lang="zh-CN" altLang="en-US" dirty="0"/>
          </a:p>
          <a:p>
            <a:r>
              <a:rPr lang="zh-CN" altLang="en-US" dirty="0">
                <a:solidFill>
                  <a:schemeClr val="tx1"/>
                </a:solidFill>
              </a:rPr>
              <a:t>删除阶段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chemeClr val="tx1"/>
                </a:solidFill>
              </a:rPr>
              <a:t>vnode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从 </a:t>
            </a:r>
            <a:r>
              <a:rPr lang="en-US" altLang="zh-CN" dirty="0" err="1">
                <a:solidFill>
                  <a:schemeClr val="tx1"/>
                </a:solidFill>
              </a:rPr>
              <a:t>btree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查找到期的表 </a:t>
            </a:r>
            <a:r>
              <a:rPr lang="en-US" altLang="zh-CN" dirty="0" err="1">
                <a:solidFill>
                  <a:schemeClr val="tx1"/>
                </a:solidFill>
              </a:rPr>
              <a:t>uid</a:t>
            </a:r>
            <a:r>
              <a:rPr lang="zh-CN" altLang="en-US" dirty="0">
                <a:solidFill>
                  <a:schemeClr val="tx1"/>
                </a:solidFill>
              </a:rPr>
              <a:t>，并进行删除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注意事项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457200" indent="-457200">
              <a:buAutoNum type="arabicPeriod"/>
            </a:pPr>
            <a:r>
              <a:rPr lang="en-US" altLang="zh-CN" dirty="0">
                <a:sym typeface="+mn-ea"/>
              </a:rPr>
              <a:t>TTL </a:t>
            </a:r>
            <a:r>
              <a:rPr lang="zh-CN" altLang="en-US" dirty="0">
                <a:sym typeface="+mn-ea"/>
              </a:rPr>
              <a:t>参数为表级别参数，只有子表与普通表可设置</a:t>
            </a:r>
            <a:r>
              <a:rPr lang="en-US" altLang="zh-CN" dirty="0">
                <a:sym typeface="+mn-ea"/>
              </a:rPr>
              <a:t>TTL</a:t>
            </a:r>
            <a:endParaRPr lang="en-US" altLang="zh-CN" dirty="0">
              <a:sym typeface="+mn-ea"/>
            </a:endParaRPr>
          </a:p>
          <a:p>
            <a:pPr marL="457200" indent="-457200">
              <a:buAutoNum type="arabicPeriod"/>
            </a:pPr>
            <a:r>
              <a:rPr lang="en-US" altLang="zh-CN" dirty="0">
                <a:sym typeface="+mn-ea"/>
              </a:rPr>
              <a:t>TTL </a:t>
            </a:r>
            <a:r>
              <a:rPr lang="zh-CN" altLang="en-US" dirty="0">
                <a:sym typeface="+mn-ea"/>
              </a:rPr>
              <a:t>参数单位为“天”</a:t>
            </a:r>
            <a:endParaRPr lang="en-US" altLang="zh-CN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dirty="0"/>
              <a:t>TTL </a:t>
            </a:r>
            <a:r>
              <a:rPr lang="zh-CN" altLang="en-US" dirty="0"/>
              <a:t>可修改，没有设置 </a:t>
            </a:r>
            <a:r>
              <a:rPr lang="en-US" altLang="zh-CN" dirty="0"/>
              <a:t>TTL </a:t>
            </a:r>
            <a:r>
              <a:rPr lang="zh-CN" altLang="en-US" dirty="0"/>
              <a:t>参数的采用默认 </a:t>
            </a:r>
            <a:r>
              <a:rPr lang="en-US" altLang="zh-CN" dirty="0"/>
              <a:t>TTL </a:t>
            </a:r>
            <a:r>
              <a:rPr lang="zh-CN" altLang="en-US" dirty="0"/>
              <a:t>参数</a:t>
            </a:r>
            <a:r>
              <a:rPr lang="en-US" altLang="zh-CN" dirty="0"/>
              <a:t>0 (</a:t>
            </a:r>
            <a:r>
              <a:rPr lang="zh-CN" altLang="en-US" dirty="0"/>
              <a:t>不删除</a:t>
            </a:r>
            <a:r>
              <a:rPr lang="en-US" altLang="zh-CN" dirty="0"/>
              <a:t>)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dirty="0"/>
              <a:t>功能修改了 </a:t>
            </a:r>
            <a:r>
              <a:rPr lang="en-US" altLang="zh-CN" dirty="0"/>
              <a:t>meta </a:t>
            </a:r>
            <a:r>
              <a:rPr lang="zh-CN" altLang="en-US" dirty="0"/>
              <a:t>相关磁盘数据结构，兼容老版本数据，但不支持降级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dirty="0" err="1"/>
              <a:t>ttlChangeOnWrite</a:t>
            </a:r>
            <a:r>
              <a:rPr lang="en-US" altLang="zh-CN" dirty="0"/>
              <a:t> </a:t>
            </a:r>
            <a:r>
              <a:rPr lang="zh-CN" altLang="en-US" dirty="0"/>
              <a:t>配置参数需集群内设置统一值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c9f109ae-acd0-4618-bf55-b834e1dd8914"/>
  <p:tag name="COMMONDATA" val="eyJoZGlkIjoiMmVhYjIwYTFkMDUyN2RmOGI2OTNiMWRjYmY5MjBlYT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3943</Words>
  <Application>WPS 演示</Application>
  <PresentationFormat>宽屏</PresentationFormat>
  <Paragraphs>238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微软雅黑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INTERP 查询功能优化</vt:lpstr>
      <vt:lpstr>INTERP 支持单点插值</vt:lpstr>
      <vt:lpstr>FILL(value)支持常量表达式</vt:lpstr>
      <vt:lpstr>INTERP内存可控优化</vt:lpstr>
      <vt:lpstr>Order by Limit性能优化</vt:lpstr>
      <vt:lpstr>场景</vt:lpstr>
      <vt:lpstr>优化前逻辑</vt:lpstr>
      <vt:lpstr>优化后逻辑</vt:lpstr>
      <vt:lpstr>性能对比</vt:lpstr>
      <vt:lpstr>进一步优化</vt:lpstr>
      <vt:lpstr>PowerPoint 演示文稿</vt:lpstr>
      <vt:lpstr>数据订阅功能优化</vt:lpstr>
      <vt:lpstr>查看所有订阅的消费进度</vt:lpstr>
      <vt:lpstr>查看 consumer 列表</vt:lpstr>
      <vt:lpstr>查看 consumer 初始配置</vt:lpstr>
      <vt:lpstr>Split Vgroup功能介绍</vt:lpstr>
      <vt:lpstr>适用场景</vt:lpstr>
      <vt:lpstr>使用方法</vt:lpstr>
      <vt:lpstr>实现原理</vt:lpstr>
      <vt:lpstr>注意事项</vt:lpstr>
      <vt:lpstr>TTL Enhance功能介绍</vt:lpstr>
      <vt:lpstr>功能简介</vt:lpstr>
      <vt:lpstr>创建与变更</vt:lpstr>
      <vt:lpstr>配置与修改操作</vt:lpstr>
      <vt:lpstr>实现原理</vt:lpstr>
      <vt:lpstr>注意事项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wade zhang</dc:creator>
  <cp:lastModifiedBy>gccgdb</cp:lastModifiedBy>
  <cp:revision>7</cp:revision>
  <dcterms:created xsi:type="dcterms:W3CDTF">2023-06-30T10:46:00Z</dcterms:created>
  <dcterms:modified xsi:type="dcterms:W3CDTF">2023-07-03T00:04:42Z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3A503934589F468E8FE509E3E1BAC814_12</vt:lpwstr>
  </property>
  <property fmtid="{D5CDD505-2E9C-101B-9397-08002B2CF9AE}" pid="3" name="KSOProductBuildVer">
    <vt:lpwstr>2052-11.1.0.14309</vt:lpwstr>
  </property>
</Properties>
</file>