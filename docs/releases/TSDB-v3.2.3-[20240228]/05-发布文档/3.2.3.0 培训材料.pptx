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notesSlides/notesSlide1.xml" Type="http://schemas.openxmlformats.org/officeDocument/2006/relationships/notesSlide"/><Relationship Id="rId43" Target="notesSlides/notesSlide2.xml" Type="http://schemas.openxmlformats.org/officeDocument/2006/relationships/notesSlide"/><Relationship Id="rId44" Target="notesSlides/notesSlide3.xml" Type="http://schemas.openxmlformats.org/officeDocument/2006/relationships/notesSlide"/><Relationship Id="rId45" Target="notesSlides/notesSlide4.xml" Type="http://schemas.openxmlformats.org/officeDocument/2006/relationships/notesSlide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58" Target="notesSlides/notesSlide17.xml" Type="http://schemas.openxmlformats.org/officeDocument/2006/relationships/notesSlide"/><Relationship Id="rId59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9.xml" Type="http://schemas.openxmlformats.org/officeDocument/2006/relationships/notesSlide"/><Relationship Id="rId61" Target="notesSlides/notesSlide20.xml" Type="http://schemas.openxmlformats.org/officeDocument/2006/relationships/notesSlide"/><Relationship Id="rId62" Target="notesSlides/notesSlide21.xml" Type="http://schemas.openxmlformats.org/officeDocument/2006/relationships/notesSlide"/><Relationship Id="rId63" Target="notesSlides/notesSlide22.xml" Type="http://schemas.openxmlformats.org/officeDocument/2006/relationships/notesSlide"/><Relationship Id="rId64" Target="notesSlides/notesSlide23.xml" Type="http://schemas.openxmlformats.org/officeDocument/2006/relationships/notesSlide"/><Relationship Id="rId65" Target="notesSlides/notesSlide24.xml" Type="http://schemas.openxmlformats.org/officeDocument/2006/relationships/notesSlide"/><Relationship Id="rId66" Target="notesSlides/notesSlide25.xml" Type="http://schemas.openxmlformats.org/officeDocument/2006/relationships/notesSlide"/><Relationship Id="rId67" Target="notesSlides/notesSlide26.xml" Type="http://schemas.openxmlformats.org/officeDocument/2006/relationships/notesSlide"/><Relationship Id="rId68" Target="notesSlides/notesSlide27.xml" Type="http://schemas.openxmlformats.org/officeDocument/2006/relationships/notesSlide"/><Relationship Id="rId69" Target="notesSlides/notesSlide28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9.xml" Type="http://schemas.openxmlformats.org/officeDocument/2006/relationships/notesSlide"/><Relationship Id="rId71" Target="notesSlides/notesSlide30.xml" Type="http://schemas.openxmlformats.org/officeDocument/2006/relationships/notesSlide"/><Relationship Id="rId72" Target="notesSlides/notesSlide31.xml" Type="http://schemas.openxmlformats.org/officeDocument/2006/relationships/notesSlide"/><Relationship Id="rId73" Target="notesSlides/notesSlide32.xml" Type="http://schemas.openxmlformats.org/officeDocument/2006/relationships/notesSlide"/><Relationship Id="rId74" Target="notesSlides/notesSlide33.xml" Type="http://schemas.openxmlformats.org/officeDocument/2006/relationships/notesSlid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https://taosdata.feishu.cn/wiki/F4OcwlHzPiMzoukJsRHcEVZMn8e" TargetMode="External" Type="http://schemas.openxmlformats.org/officeDocument/2006/relationships/hyperlink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0.pn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https://taosdata.feishu.cn/wiki/ITd7wnqwCicAMukJcSucma8Rn2e" TargetMode="External" Type="http://schemas.openxmlformats.org/officeDocument/2006/relationships/hyperlink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4.png" Type="http://schemas.openxmlformats.org/officeDocument/2006/relationships/image"/><Relationship Id="rId4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7.png" Type="http://schemas.openxmlformats.org/officeDocument/2006/relationships/image"/><Relationship Id="rId4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33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543933" y="6627707"/>
            <a:ext cx="9753600" cy="23029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0" y="0"/>
            <a:ext cx="12192000" cy="337185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0" y="2419057"/>
            <a:ext cx="12192000" cy="787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3.2.3.0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新特性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274398"/>
            <a:ext cx="121920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关胜亮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2024-03-04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58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-1693001" y="2324100"/>
            <a:ext cx="5207000" cy="2819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21636" y="5553709"/>
            <a:ext cx="1905000" cy="40034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061302" y="3213100"/>
            <a:ext cx="2057400" cy="40894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817876" y="1333500"/>
            <a:ext cx="8509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579876" y="1428750"/>
            <a:ext cx="3683000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按功能授权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17876" y="2222500"/>
            <a:ext cx="8509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17876" y="3111500"/>
            <a:ext cx="8509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579876" y="2324100"/>
            <a:ext cx="3721100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传输压缩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79876" y="3213100"/>
            <a:ext cx="4495800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计数窗口（流计算）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17876" y="4000500"/>
            <a:ext cx="8509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79876" y="4095750"/>
            <a:ext cx="5207000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数据接入：Wonderware Historian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817876" y="4889500"/>
            <a:ext cx="8509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79876" y="4991100"/>
            <a:ext cx="5207000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优化：功能、性能、运维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429000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按功能授权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97000"/>
            <a:ext cx="444500" cy="444500"/>
          </a:xfrm>
          <a:prstGeom prst="ellipse">
            <a:avLst/>
          </a:prstGeom>
          <a:solidFill>
            <a:srgbClr val="1258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19250" y="1447800"/>
            <a:ext cx="85598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可以按照功能进行授权，进而支持多种产品定价策略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6233"/>
            <a:ext cx="444500" cy="444500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2767"/>
            <a:ext cx="444500" cy="444500"/>
          </a:xfrm>
          <a:prstGeom prst="ellipse">
            <a:avLst/>
          </a:prstGeom>
          <a:solidFill>
            <a:srgbClr val="1258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19250" y="2087033"/>
            <a:ext cx="85598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企业版所有功能通过单一授权码控制，包括 taosd、taosX 等各个组件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19250" y="2713567"/>
            <a:ext cx="89281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自动识别集群复制、硬件扩容导致的机器码变更，减少免费使用授权的可能性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302000"/>
            <a:ext cx="444500" cy="444500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19250" y="3352800"/>
            <a:ext cx="85598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为可能的特性扩展提供底层支撑，例如授权管理、兑换码等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661281" y="3859413"/>
            <a:ext cx="2708780" cy="2587340"/>
          </a:xfrm>
          <a:prstGeom prst="roundRect">
            <a:avLst>
              <a:gd name="adj" fmla="val 7853"/>
            </a:avLst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661281" y="2344250"/>
            <a:ext cx="2708780" cy="1229027"/>
          </a:xfrm>
          <a:prstGeom prst="roundRect">
            <a:avLst>
              <a:gd name="adj" fmla="val 16533"/>
            </a:avLst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470219" y="3944182"/>
            <a:ext cx="5690493" cy="2502570"/>
          </a:xfrm>
          <a:prstGeom prst="roundRect">
            <a:avLst>
              <a:gd name="adj" fmla="val 8119"/>
            </a:avLst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支持多种定价策略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219200"/>
            <a:ext cx="10502900" cy="927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产品行为通过授权项来描述，授权项分为必须授权项、可选授权项。维保服务时间成为一个独立的授权项，当到期时会在 Shell 和 Explorer  中提示（待开发）。根据客户预算，在报价时除打折策略外，还可通过增删授权项实现价格调节。授权项随着新功能开发会不断扩充，并更新到报价系统中。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09942"/>
            <a:ext cx="1022364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508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必选授权项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110998"/>
            <a:ext cx="1022364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508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可选授权项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80729" y="4149869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维保服务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680729" y="4597751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多级存储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80729" y="5040327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数据订阅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053695" y="5040327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流计算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48392" y="5488210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数据备份恢复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0" flipH="false" flipV="false">
            <a:off x="2069870" y="2805087"/>
            <a:ext cx="32414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2470219" y="2344250"/>
            <a:ext cx="5690493" cy="1229027"/>
          </a:xfrm>
          <a:prstGeom prst="roundRect">
            <a:avLst>
              <a:gd name="adj" fmla="val 16533"/>
            </a:avLst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670123" y="5488210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数据实时复制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057165" y="4149869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数据审计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433601" y="4149869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PI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80988" y="4149869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OPC-UA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80988" y="4597751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OPC-DA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433601" y="4597751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Wonderware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80988" y="5040327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MQTT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426662" y="5040327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InfluxDB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426662" y="5488210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OpenTSDB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780988" y="5488210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Kafka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80988" y="5936092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自定义授权项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057165" y="4597751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视图功能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0" flipH="false" flipV="false">
            <a:off x="2069870" y="4306143"/>
            <a:ext cx="32414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2680729" y="2534224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数据写入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680729" y="2982107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运行监控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057165" y="2534224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数据查询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433601" y="2534224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数据缓存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780988" y="2534224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780988" y="2982107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运维工具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433601" y="2982107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权限管理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057165" y="2982107"/>
            <a:ext cx="1153207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图形化管理</a:t>
            </a:r>
            <a:endParaRPr lang="en-US" sz="1100"/>
          </a:p>
        </p:txBody>
      </p:sp>
      <p:cxnSp>
        <p:nvCxnSpPr>
          <p:cNvPr name="Connector 38" id="38"/>
          <p:cNvCxnSpPr/>
          <p:nvPr/>
        </p:nvCxnSpPr>
        <p:spPr>
          <a:xfrm rot="0" flipH="false" flipV="false">
            <a:off x="8246600" y="2719109"/>
            <a:ext cx="325781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39" id="39"/>
          <p:cNvCxnSpPr/>
          <p:nvPr/>
        </p:nvCxnSpPr>
        <p:spPr>
          <a:xfrm rot="0" flipH="false" flipV="false">
            <a:off x="8246600" y="4279986"/>
            <a:ext cx="325781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40" id="40"/>
          <p:cNvSpPr/>
          <p:nvPr/>
        </p:nvSpPr>
        <p:spPr>
          <a:xfrm rot="0" flipH="false" flipV="false">
            <a:off x="8891752" y="2495168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到期时间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0080383" y="2495168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服务器数量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080383" y="2943051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计算机核数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891752" y="2943051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测点数量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5433601" y="5936092"/>
            <a:ext cx="1149253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CSV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8891752" y="4149869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到期时间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10080383" y="4149869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E1EA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视图数量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10080383" y="4597751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E1EA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订阅数量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10080383" y="5493517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E1EA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连接数量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10080383" y="5040327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E1EA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流数量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10080383" y="5936092"/>
            <a:ext cx="1013842" cy="369771"/>
          </a:xfrm>
          <a:prstGeom prst="roundRect">
            <a:avLst>
              <a:gd name="adj" fmla="val 54952"/>
            </a:avLst>
          </a:prstGeom>
          <a:solidFill>
            <a:srgbClr val="E1EA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最大速度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6990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简化授权过程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07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早期版本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需要为 taosX 和 taosd 分别发放授权码，用户和交付人员感到困扰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需要用户提供集群中所有物理机的机器码，并为每台物理机分别提供授权码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集群物理机扩容时，需要用户提供新增物理机的机器码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集群测点、功能等扩容时，需要找到之前的授权项重新授权，容易错误，授权码冗长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当前版本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采用单一授权码，覆盖所有现存组件，提供自定义授权项以便支持新增组件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首次授权通过 cluster ID 完成，仅当物理机硬件发生变更时才需要提供机器码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支持完整授权和叠加授权，显著降低授权码的长度，不在授权码中使用“，=”等非常见字符</a:t>
            </a:r>
          </a:p>
        </p:txBody>
      </p:sp>
      <p:cxnSp>
        <p:nvCxnSpPr>
          <p:cNvPr name="Connector 5" id="5"/>
          <p:cNvCxnSpPr/>
          <p:nvPr/>
        </p:nvCxnSpPr>
        <p:spPr>
          <a:xfrm rot="0" flipH="false" flipV="false">
            <a:off x="7560259" y="4951048"/>
            <a:ext cx="170240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4797543" y="4825398"/>
            <a:ext cx="2566290" cy="1183783"/>
          </a:xfrm>
          <a:prstGeom prst="roundRect">
            <a:avLst>
              <a:gd name="adj" fmla="val 17165"/>
            </a:avLst>
          </a:prstGeom>
          <a:noFill/>
          <a:ln w="254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9899" y="5251022"/>
            <a:ext cx="1533052" cy="412067"/>
          </a:xfrm>
          <a:prstGeom prst="roundRect">
            <a:avLst>
              <a:gd name="adj" fmla="val 4931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381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授权服务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26674" y="4889277"/>
            <a:ext cx="8255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MNODE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52409" y="4753572"/>
            <a:ext cx="1533052" cy="412067"/>
          </a:xfrm>
          <a:prstGeom prst="roundRect">
            <a:avLst>
              <a:gd name="adj" fmla="val 4931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381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taosd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52409" y="5235882"/>
            <a:ext cx="1533052" cy="412067"/>
          </a:xfrm>
          <a:prstGeom prst="roundRect">
            <a:avLst>
              <a:gd name="adj" fmla="val 4931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381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52409" y="5702827"/>
            <a:ext cx="1533052" cy="412067"/>
          </a:xfrm>
          <a:prstGeom prst="roundRect">
            <a:avLst>
              <a:gd name="adj" fmla="val 4931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381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7560259" y="5422716"/>
            <a:ext cx="170240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3" id="13"/>
          <p:cNvCxnSpPr/>
          <p:nvPr/>
        </p:nvCxnSpPr>
        <p:spPr>
          <a:xfrm rot="0" flipH="false" flipV="false">
            <a:off x="7551678" y="5908861"/>
            <a:ext cx="170240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023010" y="4632922"/>
            <a:ext cx="823289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授权信息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23010" y="5135146"/>
            <a:ext cx="823289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授权信息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3010" y="5621290"/>
            <a:ext cx="823289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授权信息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06538" y="5044989"/>
            <a:ext cx="2023934" cy="766137"/>
          </a:xfrm>
          <a:prstGeom prst="roundRect">
            <a:avLst>
              <a:gd name="adj" fmla="val 2652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762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Shell /Explorer</a:t>
            </a:r>
          </a:p>
        </p:txBody>
      </p:sp>
      <p:cxnSp>
        <p:nvCxnSpPr>
          <p:cNvPr name="Connector 18" id="18"/>
          <p:cNvCxnSpPr/>
          <p:nvPr/>
        </p:nvCxnSpPr>
        <p:spPr>
          <a:xfrm rot="0" flipH="false" flipV="false">
            <a:off x="3323847" y="5417290"/>
            <a:ext cx="128461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563741" y="5136991"/>
            <a:ext cx="823289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授权码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6990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减少免费授权的可能性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337800" cy="269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早期版本：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免费使用授权有很多场景，例如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用户购买一个两节点集群，获得两个授权码，可使用这两个授权码分别授权两个集群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用户完成集群授权后，复制数据文件，宣称硬件升级并要求提供新授权码，但老集群授权无法回收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当前版本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任何物理机的变更，都会触发集群进入回收状态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授权码的变更历史会记录在集群中，不会被重复使用，交付人员有更多手段避免支持免费授权的集群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如何识别硬件变更？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在启动后会获取当前节点机器码，并发送给管理节点，管理节点与之前存储的机器码比较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698060"/>
            <a:ext cx="1215386" cy="486459"/>
          </a:xfrm>
          <a:prstGeom prst="roundRect">
            <a:avLst>
              <a:gd name="adj" fmla="val 41771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集群创建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21603" y="4683001"/>
            <a:ext cx="1215386" cy="486459"/>
          </a:xfrm>
          <a:prstGeom prst="roundRect">
            <a:avLst>
              <a:gd name="adj" fmla="val 41771"/>
            </a:avLst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未授权状态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565795" y="4683001"/>
            <a:ext cx="1215386" cy="486459"/>
          </a:xfrm>
          <a:prstGeom prst="roundRect">
            <a:avLst>
              <a:gd name="adj" fmla="val 41771"/>
            </a:avLst>
          </a:prstGeom>
          <a:solidFill>
            <a:srgbClr val="8EE08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已授权状态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209987" y="4683001"/>
            <a:ext cx="1215386" cy="486459"/>
          </a:xfrm>
          <a:prstGeom prst="roundRect">
            <a:avLst>
              <a:gd name="adj" fmla="val 41771"/>
            </a:avLst>
          </a:prstGeom>
          <a:solidFill>
            <a:srgbClr val="FAD35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授权过期状态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565795" y="6157449"/>
            <a:ext cx="1215386" cy="486459"/>
          </a:xfrm>
          <a:prstGeom prst="roundRect">
            <a:avLst>
              <a:gd name="adj" fmla="val 41771"/>
            </a:avLst>
          </a:prstGeom>
          <a:solidFill>
            <a:srgbClr val="F98E8B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授权回收状态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74877" flipH="false" flipV="false">
            <a:off x="2231468" y="4943783"/>
            <a:ext cx="690054" cy="1503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1" id="11"/>
          <p:cNvCxnSpPr/>
          <p:nvPr/>
        </p:nvCxnSpPr>
        <p:spPr>
          <a:xfrm rot="-74877" flipH="false" flipV="false">
            <a:off x="4137277" y="4914841"/>
            <a:ext cx="2428230" cy="5289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2" id="12"/>
          <p:cNvCxnSpPr/>
          <p:nvPr/>
        </p:nvCxnSpPr>
        <p:spPr>
          <a:xfrm rot="-74877" flipH="false" flipV="false">
            <a:off x="7781469" y="4828632"/>
            <a:ext cx="2428230" cy="5289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3" id="13"/>
          <p:cNvCxnSpPr/>
          <p:nvPr/>
        </p:nvCxnSpPr>
        <p:spPr>
          <a:xfrm rot="-74877" flipH="false" flipV="false">
            <a:off x="7781469" y="5010694"/>
            <a:ext cx="2428230" cy="5289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arrow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-74877" flipH="false" flipV="false">
            <a:off x="3529656" y="6367612"/>
            <a:ext cx="3035779" cy="6613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5" id="15"/>
          <p:cNvCxnSpPr/>
          <p:nvPr/>
        </p:nvCxnSpPr>
        <p:spPr>
          <a:xfrm rot="10725122" flipH="false" flipV="true">
            <a:off x="3516170" y="5195433"/>
            <a:ext cx="26252" cy="120510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-74877" flipH="false" flipV="true">
            <a:off x="7014653" y="5184635"/>
            <a:ext cx="21190" cy="9726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arrow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10725122" flipH="false" flipV="true">
            <a:off x="7335014" y="5184635"/>
            <a:ext cx="21190" cy="97269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arrow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10725122" flipH="false" flipV="false">
            <a:off x="7781541" y="6367612"/>
            <a:ext cx="3035779" cy="6613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9" id="19"/>
          <p:cNvCxnSpPr/>
          <p:nvPr/>
        </p:nvCxnSpPr>
        <p:spPr>
          <a:xfrm rot="10725122" flipH="false" flipV="true">
            <a:off x="6765123" y="4393512"/>
            <a:ext cx="6464" cy="29674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20" id="20"/>
          <p:cNvCxnSpPr/>
          <p:nvPr/>
        </p:nvCxnSpPr>
        <p:spPr>
          <a:xfrm rot="-74877" flipH="false" flipV="false">
            <a:off x="6768451" y="4384653"/>
            <a:ext cx="810074" cy="1764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21" id="21"/>
          <p:cNvCxnSpPr/>
          <p:nvPr/>
        </p:nvCxnSpPr>
        <p:spPr>
          <a:xfrm rot="10725122" flipH="false" flipV="true">
            <a:off x="7575389" y="4393512"/>
            <a:ext cx="6464" cy="29674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4136989" y="4566750"/>
            <a:ext cx="20447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手动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设置授权码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612944" y="6133979"/>
            <a:ext cx="14351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识别硬件变更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767242" y="5081035"/>
            <a:ext cx="24384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基础功能授权时间过期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595448" y="5336920"/>
            <a:ext cx="14859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识别硬件变更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784415" y="5601134"/>
            <a:ext cx="12954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手动回收授权码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408121" y="5620184"/>
            <a:ext cx="17018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手动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设置授权码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46602" y="4541886"/>
            <a:ext cx="17018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手动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设置授权码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863858" y="6133979"/>
            <a:ext cx="18669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识别硬件变更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52341" y="4101785"/>
            <a:ext cx="20447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手动叠加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授权码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10725122" flipH="false" flipV="true">
            <a:off x="10804437" y="5195004"/>
            <a:ext cx="26487" cy="121587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未来扩展：授权管理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390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背景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授权码由交付 Leader 手动生成，审批流和授权码生成未打通，生成程序易泄漏，受人员离职影响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不知生成过多少授权码，信息分散记录在 JIRA/销售易中且难以汇总，不能提炼出有价值的统计结果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提供 Web 服务，通过 API  方式生成授权码，和审批流打通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收益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安全性：授权码生成程序从编码角度仅支持在特定物理机上使用，物理机访问方式可加密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可统计：用户名称、测点、节点等授权信息都存储到数据库中，易统计，利于对外公布业绩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未来扩展：兑换码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430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背景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授权码生成需要提供 cluster ID，也就是必须在集群部署之后才能生成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类似 Office 365 这样的软件是在购买、使用阶段就提供激活码，激活码使用后即刻作废（通过网络）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 cluster ID 和兑换码到涛思官网上生成授权码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兑换码的授权信息与授权码的信息相同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兑换码事先生成，兑换为授权码后，兑换码自动作废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收益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开展市场活动时，可以当场发放兑换码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售前、销售在与客户交流后，除发送安装包之外，现场提供兑换码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在未来合同框架中，如要支持发货（合同签订）后即具备收款的权益，可在发货阶段提供兑换码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通过对兑换码行为的统计，更好的评估市场活动、交付活动、售前活动的效果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传输压缩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在受限的网络环境下，上下行带宽是客户关注的重点，有时会影响到系统选型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34650"/>
            <a:ext cx="444500" cy="444500"/>
          </a:xfrm>
          <a:prstGeom prst="ellipse">
            <a:avLst/>
          </a:prstGeom>
          <a:solidFill>
            <a:srgbClr val="1258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12900" y="1785450"/>
            <a:ext cx="85598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数据接入：边缘侧部署 taosX Agent，集中侧部署 taosX + TDengine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374900"/>
            <a:ext cx="444500" cy="444500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009900"/>
            <a:ext cx="444500" cy="444500"/>
          </a:xfrm>
          <a:prstGeom prst="ellipse">
            <a:avLst/>
          </a:prstGeom>
          <a:solidFill>
            <a:srgbClr val="1258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12900" y="2425700"/>
            <a:ext cx="85598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边云协同：边缘侧部署 TDengine，集中侧部署 TDengine，taosX 负责同步数据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12900" y="3060700"/>
            <a:ext cx="89281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云端部署：用户程序通过 Restful / Websocket 协议与云端 TDengine 交互并读写数据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4069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数据接入：Agent -&gt; taosX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622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 Agent 部署在边缘侧，而 taosX 部署在集中侧时，边云之间网络带宽有限。为了尽可能地节省网络带宽，需要由 Agent 将接收到的数据在压缩后传输给 taosX，由 taosX 解压后再进行后面的处理流程。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468" y="2174305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OPC-UA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262818" y="2174305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Agent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2921937" y="2386930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262818" y="2797869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Agent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797869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OPC-DA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421433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62818" y="3421433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Agent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2921937" y="2998895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name="Connector 13" id="13"/>
          <p:cNvCxnSpPr/>
          <p:nvPr/>
        </p:nvCxnSpPr>
        <p:spPr>
          <a:xfrm rot="0" flipH="false" flipV="false">
            <a:off x="2921937" y="3634240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877765" y="2808071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944100" y="2808071"/>
            <a:ext cx="1524000" cy="425614"/>
          </a:xfrm>
          <a:prstGeom prst="roundRect">
            <a:avLst>
              <a:gd name="adj" fmla="val 47742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0" flipH="false" flipV="false">
            <a:off x="8682102" y="3020878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124055"/>
            <a:ext cx="5448300" cy="2463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Windows、Linux 端部署 taosX Agent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 gzip 算法，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参见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F4OcwlHzPiMzoukJsRHcEVZMn8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具体测试报告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带宽节省显著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OPC：86.5%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InfluxDB：93.7%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Kafka：  75.0%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压缩过程的 CPU 消耗不大（见右图）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6796442" y="4124055"/>
            <a:ext cx="4671658" cy="262050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6044940" y="2184507"/>
            <a:ext cx="422246" cy="1672742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6267450" y="2658169"/>
            <a:ext cx="8255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公网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67450" y="3083783"/>
            <a:ext cx="8255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16000" y="1511300"/>
            <a:ext cx="5858653" cy="301787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500550"/>
            <a:ext cx="76708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边云协同：TDengine -&gt; taosX -&gt;TDengine（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3.2.4.0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发布）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219200"/>
            <a:ext cx="105029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下图描述了典型的边云协同场景，需把时序数据从厂站侧汇集到集团侧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592670"/>
            <a:ext cx="103505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方案优点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按照数据产生顺序同步数据，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处理乱序数据，避免定时轮询造成的数据丢失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支持数据的多级汇集，可以从多个电站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并行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同步数据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在带宽充足的情况下，可以做到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秒级延迟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传输过程中支持数据压缩，最小化带宽占用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4069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云端部署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云服务或者其他将 TDengine 部署在公网，并通过 Restful / Websocket  协议提供服务的场景，对于上下行带宽都非常敏感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早期版本中，通过 Restful 协议读数据时支持压缩，写数据时不支持压缩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当前版本中，支持 Websocket 协议的连接器，在写数据、读数据（包括数据订阅）时均支持压缩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直连 taosAdapter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Nginx 反向代理 （支持透传的反向代理都可以支持压缩）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云服务（正在开发）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参见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ITd7wnqwCicAMukJcSucma8Rn2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具体测试报告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写入压缩比：约 39.5%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查询压缩比：约 15.1%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774407" y="5527333"/>
            <a:ext cx="1524000" cy="520700"/>
          </a:xfrm>
          <a:prstGeom prst="roundRect">
            <a:avLst>
              <a:gd name="adj" fmla="val 39024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taosAdapter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2780" y="5527333"/>
            <a:ext cx="1524000" cy="520700"/>
          </a:xfrm>
          <a:prstGeom prst="roundRect">
            <a:avLst>
              <a:gd name="adj" fmla="val 39024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用户程序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5220" y="5527333"/>
            <a:ext cx="1524000" cy="520700"/>
          </a:xfrm>
          <a:prstGeom prst="roundRect">
            <a:avLst>
              <a:gd name="adj" fmla="val 39024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51480" y="5523660"/>
            <a:ext cx="8255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93593" y="5527333"/>
            <a:ext cx="1524000" cy="520700"/>
          </a:xfrm>
          <a:prstGeom prst="roundRect">
            <a:avLst>
              <a:gd name="adj" fmla="val 39024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0" bIns="6350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JDBC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</a:t>
            </a:r>
          </a:p>
        </p:txBody>
      </p:sp>
      <p:cxnSp>
        <p:nvCxnSpPr>
          <p:cNvPr name="Connector 10" id="10"/>
          <p:cNvCxnSpPr/>
          <p:nvPr/>
        </p:nvCxnSpPr>
        <p:spPr>
          <a:xfrm rot="0" flipH="false" flipV="false">
            <a:off x="2672027" y="5777660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5591157" y="5777660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2" id="12"/>
          <p:cNvCxnSpPr/>
          <p:nvPr/>
        </p:nvCxnSpPr>
        <p:spPr>
          <a:xfrm rot="0" flipH="false" flipV="false">
            <a:off x="8471970" y="5777660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计数窗口（流计算）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什么是流计算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4914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在讲解计数窗口前，需要先了解什么情况下会用到 TDengine 的流计算。通过 SQL 语句进行查询，当查询耗时过长（超过 5 秒）时，人机交互体验变差，需要预先生成中间结果加速查询。TDengine 提供了多种预计算方法，但这些预计算方法无法灵活的定义计算窗口，因此用户的某些查询需要通过流计算来加速。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大屏展示、即席查询、实时告警等需要快速响应的查询场景，将耗时较长的计算结果存储到额外的结果表中，并在数据写入时实时更新最近一个窗口的计算结果，用户通过查询数据量较小的结果表来快速获取计算结果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通过数据订阅同样可以达到类似流计算的效果，但数据订阅程序需用户自己编写，需要额外的机制保证该程序的高可用性，程序意外重启甚至迁移到其他节点时，需要复用之前的计算状态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流计算的主要特点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基于事件订阅方式进行，能够轻易的处理乱序数据，具有极低的延迟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支持时间窗口、状态窗口、会话窗口、计数窗口，支持滑动窗口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可按照设备维度计算，方便、快捷，CPU 消耗也较少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流式计算相比较 Flink 等框架的优势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支持历史数据计算，而其他框架都是从流计算创建时开始计算的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对于窗口关闭后的过期数据 ，能够从 TSDB 中查找窗口的历史数据并重新计算得到正确结果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什么是窗口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622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理解流计算，必须先理解窗口。窗口将时序数据拆分成有限大小的“存储桶”，每个桶包含若干条记录，对这些记录进行聚合计算后，结果写入到其他数据表中。计数、时间窗口支持滑动窗口。流计算不设置窗口时，只可使用标量函数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48533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815867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83201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950535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17870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5204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52538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19872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787206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54541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1875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89209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056543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23877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91212" y="5331154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366348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933682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068351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35685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203019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770353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05022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472356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39690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174359" y="5429983"/>
            <a:ext cx="331704" cy="314157"/>
          </a:xfrm>
          <a:prstGeom prst="ellipse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366348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933682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068351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635685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203019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770353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905022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472356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039690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174359" y="4720217"/>
            <a:ext cx="331704" cy="314157"/>
          </a:xfrm>
          <a:prstGeom prst="ellipse">
            <a:avLst/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127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2248533" y="4621388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3950535" y="4621388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5652538" y="4621388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7354541" y="4621388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056543" y="4621388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2248533" y="3911623"/>
            <a:ext cx="2269337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4517870" y="3911623"/>
            <a:ext cx="3404005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7921875" y="3911623"/>
            <a:ext cx="2836671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2248533" y="3201857"/>
            <a:ext cx="1134668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3950535" y="3201857"/>
            <a:ext cx="2269337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6787206" y="3201857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9056543" y="3201857"/>
            <a:ext cx="567334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2248533" y="2492092"/>
            <a:ext cx="2269337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4517870" y="2492092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6787206" y="2492092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9056543" y="2492092"/>
            <a:ext cx="1702003" cy="511815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2366348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2933682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4068351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4635685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 rot="0" flipH="false" flipV="false">
            <a:off x="5203019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1" id="61"/>
          <p:cNvSpPr/>
          <p:nvPr/>
        </p:nvSpPr>
        <p:spPr>
          <a:xfrm rot="0" flipH="false" flipV="false">
            <a:off x="5770353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6905022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3" id="63"/>
          <p:cNvSpPr/>
          <p:nvPr/>
        </p:nvSpPr>
        <p:spPr>
          <a:xfrm rot="0" flipH="false" flipV="false">
            <a:off x="7472356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4" id="64"/>
          <p:cNvSpPr/>
          <p:nvPr/>
        </p:nvSpPr>
        <p:spPr>
          <a:xfrm rot="0" flipH="false" flipV="false">
            <a:off x="8039690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65" id="65"/>
          <p:cNvSpPr/>
          <p:nvPr/>
        </p:nvSpPr>
        <p:spPr>
          <a:xfrm rot="0" flipH="false" flipV="false">
            <a:off x="9174359" y="4010452"/>
            <a:ext cx="331704" cy="314157"/>
          </a:xfrm>
          <a:prstGeom prst="ellipse">
            <a:avLst/>
          </a:prstGeom>
          <a:solidFill>
            <a:srgbClr val="2EA121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66" id="66"/>
          <p:cNvSpPr/>
          <p:nvPr/>
        </p:nvSpPr>
        <p:spPr>
          <a:xfrm rot="0" flipH="false" flipV="false">
            <a:off x="2366348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 rot="0" flipH="false" flipV="false">
            <a:off x="2933682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68" id="68"/>
          <p:cNvSpPr/>
          <p:nvPr/>
        </p:nvSpPr>
        <p:spPr>
          <a:xfrm rot="0" flipH="false" flipV="false">
            <a:off x="4068351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69" id="69"/>
          <p:cNvSpPr/>
          <p:nvPr/>
        </p:nvSpPr>
        <p:spPr>
          <a:xfrm rot="0" flipH="false" flipV="false">
            <a:off x="4635685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0" id="70"/>
          <p:cNvSpPr/>
          <p:nvPr/>
        </p:nvSpPr>
        <p:spPr>
          <a:xfrm rot="0" flipH="false" flipV="false">
            <a:off x="5203019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1" id="71"/>
          <p:cNvSpPr/>
          <p:nvPr/>
        </p:nvSpPr>
        <p:spPr>
          <a:xfrm rot="0" flipH="false" flipV="false">
            <a:off x="5770353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2" id="72"/>
          <p:cNvSpPr/>
          <p:nvPr/>
        </p:nvSpPr>
        <p:spPr>
          <a:xfrm rot="0" flipH="false" flipV="false">
            <a:off x="6905022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3" id="73"/>
          <p:cNvSpPr/>
          <p:nvPr/>
        </p:nvSpPr>
        <p:spPr>
          <a:xfrm rot="0" flipH="false" flipV="false">
            <a:off x="7472356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4" id="74"/>
          <p:cNvSpPr/>
          <p:nvPr/>
        </p:nvSpPr>
        <p:spPr>
          <a:xfrm rot="0" flipH="false" flipV="false">
            <a:off x="8039690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75" id="75"/>
          <p:cNvSpPr/>
          <p:nvPr/>
        </p:nvSpPr>
        <p:spPr>
          <a:xfrm rot="0" flipH="false" flipV="false">
            <a:off x="9174359" y="3300686"/>
            <a:ext cx="331704" cy="314157"/>
          </a:xfrm>
          <a:prstGeom prst="ellipse">
            <a:avLst/>
          </a:prstGeom>
          <a:solidFill>
            <a:srgbClr val="AD82F7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76" id="76"/>
          <p:cNvSpPr/>
          <p:nvPr/>
        </p:nvSpPr>
        <p:spPr>
          <a:xfrm rot="0" flipH="false" flipV="false">
            <a:off x="2366348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77" id="77"/>
          <p:cNvSpPr/>
          <p:nvPr/>
        </p:nvSpPr>
        <p:spPr>
          <a:xfrm rot="0" flipH="false" flipV="false">
            <a:off x="2933682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78" id="78"/>
          <p:cNvSpPr/>
          <p:nvPr/>
        </p:nvSpPr>
        <p:spPr>
          <a:xfrm rot="0" flipH="false" flipV="false">
            <a:off x="4068351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79" id="79"/>
          <p:cNvSpPr/>
          <p:nvPr/>
        </p:nvSpPr>
        <p:spPr>
          <a:xfrm rot="0" flipH="false" flipV="false">
            <a:off x="4635685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0" id="80"/>
          <p:cNvSpPr/>
          <p:nvPr/>
        </p:nvSpPr>
        <p:spPr>
          <a:xfrm rot="0" flipH="false" flipV="false">
            <a:off x="5203019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1" id="81"/>
          <p:cNvSpPr/>
          <p:nvPr/>
        </p:nvSpPr>
        <p:spPr>
          <a:xfrm rot="0" flipH="false" flipV="false">
            <a:off x="5770353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2" id="82"/>
          <p:cNvSpPr/>
          <p:nvPr/>
        </p:nvSpPr>
        <p:spPr>
          <a:xfrm rot="0" flipH="false" flipV="false">
            <a:off x="6905022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3" id="83"/>
          <p:cNvSpPr/>
          <p:nvPr/>
        </p:nvSpPr>
        <p:spPr>
          <a:xfrm rot="0" flipH="false" flipV="false">
            <a:off x="7472356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4" id="84"/>
          <p:cNvSpPr/>
          <p:nvPr/>
        </p:nvSpPr>
        <p:spPr>
          <a:xfrm rot="0" flipH="false" flipV="false">
            <a:off x="8039690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85" id="85"/>
          <p:cNvSpPr/>
          <p:nvPr/>
        </p:nvSpPr>
        <p:spPr>
          <a:xfrm rot="0" flipH="false" flipV="false">
            <a:off x="9174359" y="2590921"/>
            <a:ext cx="331704" cy="314157"/>
          </a:xfrm>
          <a:prstGeom prst="ellipse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endParaRPr lang="en-US" sz="1100"/>
          </a:p>
        </p:txBody>
      </p:sp>
      <p:sp>
        <p:nvSpPr>
          <p:cNvPr name="AutoShape 86" id="86"/>
          <p:cNvSpPr/>
          <p:nvPr/>
        </p:nvSpPr>
        <p:spPr>
          <a:xfrm rot="0" flipH="false" flipV="false">
            <a:off x="1123902" y="2599534"/>
            <a:ext cx="889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计数窗口</a:t>
            </a:r>
            <a:endParaRPr lang="en-US" sz="1100"/>
          </a:p>
        </p:txBody>
      </p:sp>
      <p:sp>
        <p:nvSpPr>
          <p:cNvPr name="AutoShape 87" id="87"/>
          <p:cNvSpPr/>
          <p:nvPr/>
        </p:nvSpPr>
        <p:spPr>
          <a:xfrm rot="0" flipH="false" flipV="false">
            <a:off x="1123902" y="3316452"/>
            <a:ext cx="889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会话窗口</a:t>
            </a:r>
            <a:endParaRPr lang="en-US" sz="1100"/>
          </a:p>
        </p:txBody>
      </p:sp>
      <p:sp>
        <p:nvSpPr>
          <p:cNvPr name="AutoShape 88" id="88"/>
          <p:cNvSpPr/>
          <p:nvPr/>
        </p:nvSpPr>
        <p:spPr>
          <a:xfrm rot="0" flipH="false" flipV="false">
            <a:off x="1123902" y="4033370"/>
            <a:ext cx="889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状态窗口</a:t>
            </a:r>
            <a:endParaRPr lang="en-US" sz="1100"/>
          </a:p>
        </p:txBody>
      </p:sp>
      <p:sp>
        <p:nvSpPr>
          <p:cNvPr name="AutoShape 89" id="89"/>
          <p:cNvSpPr/>
          <p:nvPr/>
        </p:nvSpPr>
        <p:spPr>
          <a:xfrm rot="0" flipH="false" flipV="false">
            <a:off x="1123902" y="4750287"/>
            <a:ext cx="889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时间窗口</a:t>
            </a:r>
            <a:endParaRPr lang="en-US" sz="1100"/>
          </a:p>
        </p:txBody>
      </p:sp>
      <p:sp>
        <p:nvSpPr>
          <p:cNvPr name="AutoShape 90" id="90"/>
          <p:cNvSpPr/>
          <p:nvPr/>
        </p:nvSpPr>
        <p:spPr>
          <a:xfrm rot="0" flipH="false" flipV="false">
            <a:off x="1123902" y="5467205"/>
            <a:ext cx="889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原始数据流</a:t>
            </a:r>
            <a:endParaRPr lang="en-US" sz="1100"/>
          </a:p>
        </p:txBody>
      </p:sp>
      <p:cxnSp>
        <p:nvCxnSpPr>
          <p:cNvPr name="Connector 91" id="91"/>
          <p:cNvCxnSpPr/>
          <p:nvPr/>
        </p:nvCxnSpPr>
        <p:spPr>
          <a:xfrm rot="10800000" flipH="false" flipV="false">
            <a:off x="2012902" y="2175856"/>
            <a:ext cx="0" cy="395632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92" id="92"/>
          <p:cNvCxnSpPr/>
          <p:nvPr/>
        </p:nvCxnSpPr>
        <p:spPr>
          <a:xfrm rot="0" flipH="false" flipV="true">
            <a:off x="2012902" y="6132183"/>
            <a:ext cx="918604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93" id="93"/>
          <p:cNvSpPr/>
          <p:nvPr/>
        </p:nvSpPr>
        <p:spPr>
          <a:xfrm rot="0" flipH="false" flipV="false">
            <a:off x="10733146" y="2478338"/>
            <a:ext cx="313191" cy="558312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4" id="94"/>
          <p:cNvSpPr/>
          <p:nvPr/>
        </p:nvSpPr>
        <p:spPr>
          <a:xfrm rot="0" flipH="false" flipV="false">
            <a:off x="10745846" y="3875654"/>
            <a:ext cx="313191" cy="558312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5" id="95"/>
          <p:cNvSpPr/>
          <p:nvPr/>
        </p:nvSpPr>
        <p:spPr>
          <a:xfrm rot="0" flipH="false" flipV="false">
            <a:off x="11303000" y="6011213"/>
            <a:ext cx="889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时间轴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8895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计数窗口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计数窗口是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3.2.3.0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新增的功能，它按照固定的个数，来截取一段数据集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587500"/>
            <a:ext cx="10666910" cy="16764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-152400" lvl="1" marL="422400">
              <a:lnSpc>
                <a:spcPct val="125000"/>
              </a:lnSpc>
              <a:buChar char=" "/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window_clause: {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lvl="1" marL="42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SESSION(ts_col, tol_val)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1" marL="42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| STATE_WINDOW(col)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1" marL="42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| INTERVAL(interval_val [, interval_offset]) [SLIDING (sliding_val)] [FILL(fill_mod_and_val)]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1" marL="42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| EVENT_WINDOW START WITH start_trigger_condition END WITH end_trigger_condition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1" marL="42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|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COUNT_WINDOW(count_val[, sliding_val])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1" marL="42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441700"/>
            <a:ext cx="10502900" cy="622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典型的场景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在公路的收费站，每通过一辆车就产生一条记录，可通过计数窗口实时显示车辆密集程度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630250"/>
            <a:ext cx="10666910" cy="1982107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STREAM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streams_name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TRIGGER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at_once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IGNORE EXPIRED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1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IGNORE UPDATE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0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WATERMARK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100s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INTO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stream_stb_name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   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_wstart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ts, count(*) c1, sum(b), max(c)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   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st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   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PARTITION BY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tbname, ta, a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               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COUNT_WINWOW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(9);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249250"/>
            <a:ext cx="105029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台网中心项目如何使用流计算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287000" cy="1244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filterPick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算法对数据进行预计算，当判定有可能是地震时，再调用 GPD 算法精确计算，当确定是地震时，通过  MQTT 发布消息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流计算应用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：采用无窗口的流，每当 DB2 有数据写入时，调用自定义标量函数（UDF）触发 GPD 计算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661990"/>
            <a:ext cx="1524000" cy="562014"/>
          </a:xfrm>
          <a:prstGeom prst="roundRect">
            <a:avLst>
              <a:gd name="adj" fmla="val 36155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889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05900" y="2661990"/>
            <a:ext cx="1656681" cy="562014"/>
          </a:xfrm>
          <a:prstGeom prst="roundRect">
            <a:avLst>
              <a:gd name="adj" fmla="val 36155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DB1</a:t>
            </a:r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2684844" y="2942997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8" id="8"/>
          <p:cNvCxnSpPr/>
          <p:nvPr/>
        </p:nvCxnSpPr>
        <p:spPr>
          <a:xfrm rot="0" flipH="false" flipV="false">
            <a:off x="5591157" y="2942997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728482" y="2661750"/>
            <a:ext cx="1656681" cy="562014"/>
          </a:xfrm>
          <a:prstGeom prst="roundRect">
            <a:avLst>
              <a:gd name="adj" fmla="val 36155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数据订阅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filterPick 程序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1063" y="2661990"/>
            <a:ext cx="1656681" cy="562014"/>
          </a:xfrm>
          <a:prstGeom prst="roundRect">
            <a:avLst>
              <a:gd name="adj" fmla="val 36155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DB2</a:t>
            </a:r>
          </a:p>
        </p:txBody>
      </p:sp>
      <p:cxnSp>
        <p:nvCxnSpPr>
          <p:cNvPr name="Connector 11" id="11"/>
          <p:cNvCxnSpPr/>
          <p:nvPr/>
        </p:nvCxnSpPr>
        <p:spPr>
          <a:xfrm rot="0" flipH="false" flipV="false">
            <a:off x="8497469" y="2942997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9651063" y="3835133"/>
            <a:ext cx="1656681" cy="562014"/>
          </a:xfrm>
          <a:prstGeom prst="roundRect">
            <a:avLst>
              <a:gd name="adj" fmla="val 36155"/>
            </a:avLst>
          </a:prstGeom>
          <a:solidFill>
            <a:srgbClr val="E07B0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流计算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GPD 函数</a:t>
            </a:r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8497469" y="4116140"/>
            <a:ext cx="100968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arrow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10800000" flipH="false" flipV="true">
            <a:off x="10479404" y="3286075"/>
            <a:ext cx="0" cy="520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728482" y="3835133"/>
            <a:ext cx="1656681" cy="562014"/>
          </a:xfrm>
          <a:prstGeom prst="roundRect">
            <a:avLst>
              <a:gd name="adj" fmla="val 36155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DB3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651063" y="4972083"/>
            <a:ext cx="1656681" cy="562014"/>
          </a:xfrm>
          <a:prstGeom prst="roundRect">
            <a:avLst>
              <a:gd name="adj" fmla="val 36155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MQTT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TOPIC</a:t>
            </a:r>
          </a:p>
        </p:txBody>
      </p:sp>
      <p:cxnSp>
        <p:nvCxnSpPr>
          <p:cNvPr name="Connector 17" id="17"/>
          <p:cNvCxnSpPr/>
          <p:nvPr/>
        </p:nvCxnSpPr>
        <p:spPr>
          <a:xfrm rot="10800000" flipH="false" flipV="true">
            <a:off x="10479404" y="4425983"/>
            <a:ext cx="0" cy="520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数据接入：Wonderware Historian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Wonderware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430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Wonderware 是一个实时数据库系统，用于收集、存储、分析和可视化来自生产过程的数据，支持采集、现场控制、报表分析、历史库，广泛用于水务、电厂等行业。Historian 是其历史数据存储组件。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特点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产品基于 .Net Framework，以 IIS+SQL Server 为基座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性能优异，测点数在数百到数万，很少超过 10 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 IO Server 运行稳定，双机热备，口碑优异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对外数据接口采用 OPC 方式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劣势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系统扩容能力弱，收费较高、对外接口少、读取效率极差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面向现场控制，无法处理海量数据（如百万测点）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难以胜任中心侧的集中数据分析处理场景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029538" y="1930380"/>
            <a:ext cx="3365065" cy="350869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武汉水务为什么需要 TDengine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461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武汉水务下属的十几个水厂都使用 Wonderware 管理数据，希望能够将这些数据汇集到集团侧，解决实时数据应用通道的问题，规划中的需求如下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集中监测：集团侧监测各厂实时运行状况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可视化：集团侧大屏展示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数据分析：具体需求待讨论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集中数据存储：保存各厂运行数据10年以上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痛点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解决实时数据应用通道的稳健性和连续性，任何时候现场数据可达边端的，一定可以连续达到集团侧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统筹考虑归档时序数据的结构化、模型化问题，形成统一的时序数据源，支持历史数据的准实时应用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三类汇聚思路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水厂 OPC -&gt; 水厂 TDengine -&gt; 集团侧 TDengine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水厂 Wonderware Historian -&gt; 水厂 TDengine -&gt; 集团侧 TDengine（</a:t>
            </a:r>
            <a:r>
              <a:rPr lang="en-US" b="false" i="false" strike="noStrike" u="none" sz="1600">
                <a:solidFill>
                  <a:srgbClr val="E07B05"/>
                </a:solidFill>
                <a:latin typeface="Noto Sans SC"/>
                <a:ea typeface="Noto Sans SC"/>
                <a:cs typeface="Noto Sans SC"/>
                <a:sym typeface="Noto Sans SC"/>
              </a:rPr>
              <a:t>最终选择此方案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水厂 Wonderware Historian -&gt; 集团侧 Wonderware Historian -&gt; 集团侧 TDengine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734934" y="5021998"/>
            <a:ext cx="4890777" cy="1075495"/>
          </a:xfrm>
          <a:prstGeom prst="roundRect">
            <a:avLst>
              <a:gd name="adj" fmla="val 18893"/>
            </a:avLst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500550"/>
            <a:ext cx="8493847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Wonderware Historian 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数据接入的原理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219200"/>
            <a:ext cx="5334000" cy="3378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数据迁移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Historian 支持通过类似 SQL Server 的语法读取历史数据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查询 beginDateTime 到 endDateTime 之间的数据，按照用户配置的 transformer 规则进行转换，写入到 TDengine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数据同步复制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可以选择两个用于实时同步的数据视图，依赖 Historian 的配置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可配置迁移开始时间、迁移时间窗口、同步轮询间隔、数据延迟容忍上限等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07927" y="1219200"/>
            <a:ext cx="4699817" cy="121067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*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Runtime.dbo.History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lvl="1" marL="42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where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TagName in (...)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or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TagName like 'xxx'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2" marL="69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and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DateTime &gt;= t1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2" marL="69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and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DateTime &lt; t2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2" marL="69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and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wwRetrievalMode = 'FULL'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492278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Historian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934309" y="5492278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2684844" y="5696134"/>
            <a:ext cx="7366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5718629" y="5696134"/>
            <a:ext cx="75380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600073" y="5492104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1063" y="5492278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8769619" y="5696134"/>
            <a:ext cx="73753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934309" y="5138563"/>
            <a:ext cx="14224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0073" y="2681395"/>
            <a:ext cx="4707671" cy="337632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* from Runtime.dbo.Live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where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TagName in (...)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0073" y="3168539"/>
            <a:ext cx="4707671" cy="1454261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*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Runtime.dbo.History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lvl="2" marL="69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where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TagName in (...)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or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TagName like 'xxx'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3" marL="96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and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DateTime &gt;=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{now}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3" marL="96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and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DateTime &lt;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{now + 1m}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lvl="3" marL="962400">
              <a:lnSpc>
                <a:spcPct val="125000"/>
              </a:lnSpc>
              <a:buChar char=" "/>
            </a:pP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and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wwRetrievalMode = 'FULL'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6934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Wonderware Historian 数据接入的应用场景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924186" y="1418145"/>
            <a:ext cx="93472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 ：替换 Wonderware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使用数据迁移功能，从 Historian 组件中迁移历史数据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数据到达 TDengine 集群后，由集成商开发新的数据应用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适用于有国产化要求的项目，例如烟草行业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1418145"/>
            <a:ext cx="508000" cy="5080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016000" y="3223229"/>
            <a:ext cx="508000" cy="5080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924186" y="3223229"/>
            <a:ext cx="93472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 ：保留 Wonderware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使用数据同步复制功能，从 Historian 组件中迁移历史数据后，继续低延迟同步实时数据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数据到达 TDengine 集群后，既可以支持水厂的数据分析应用开发，也可会将数据汇总到集团侧进行集中监测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71628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Wonderware Historian 数据接入的亮点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41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将 Historian 中的实时数据查询出来，按照用户配置的 transformer 规则进行转换，写入到 TDengine 中。可以选择两个用于实时同步的数据视图，依赖于用户配置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支持历史数据迁移和实时数据同步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支持迁移过程的断点续传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transformer 功能，在迁移之前配置数据模型，迁移过程中按照新的数据模型组织数据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Agent 运行模式，不需要水厂侧有公网 IP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支持传输过程中的数据压缩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支持通过可视化界面管理以上功能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实时数据延迟在秒级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已在武汉水务客户现场环境进行验证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优化：功能、性能、运维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性能优化：多表低频场景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287000" cy="276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表计数据是典型的多表低频场景，例如燃气表、电表，普通入户表可能是 1 天 1 条。这种稀疏场景各家时序数据库解决的都不好，TDengine 引入多个 stt 文件，在 stt 中按行存储数据，有效提升了低频数据的写入性能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3.2.3.0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进一步优化了数据查询、数据复制的性能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数据查询：存在乱序及数据更新时，100 万个子表，每个子表有 1000 条数据时，count 查询性能提升约 2.5 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间的数据复制：taosX 提供稀疏模式的迁移方式，不再对单个子表查询，而是针对超级表查询，在河南腾龙现场有近 50 倍的性能提升，内部测试有 5 倍左右的性能提升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性能优化：数据缓存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287000" cy="584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数据缓存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是 TDengine 的重要特性，通常指读缓存，即缓存数据库中每个子表的最新数据。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Last_value：缓存子表每一列最近的非 NULL 值（Last 函数）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Last_row ：缓存子表最近一行数据，包括 NULL 值（Last_row 函数）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Last 和 Last_row 混用的场景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以多列超级表为例，在最近的数据记录中，如果 A 列的值为 NULL，说明该测点未上报数据，业务逻辑上需要取 A 列之前的数据作为最新值，长庆油田提供的 SQL 查询如下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last_row(ts), last(A) </a:t>
            </a:r>
            <a:r>
              <a:rPr lang="en-US" b="false" i="false" strike="noStrike" u="none" sz="16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meter1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本次优化允许在查询中同时使用 Last_value 和 Last_row 的缓存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Last 和 Last_row 支持表达式计算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例如  </a:t>
            </a:r>
            <a:r>
              <a:rPr lang="en-US" b="false" i="false" strike="noStrike" u="none" sz="16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last(a)+1， last(a)+last(b)   </a:t>
            </a:r>
            <a:r>
              <a:rPr lang="en-US" b="false" i="false" strike="noStrike" u="none" sz="16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……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Last 和 Last_row 不会因为空表存在而性能下降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10w 子表，每个子表 1000 条数据，一共 1 亿数据量，查询 last_row 约 0.3 秒 ，再新建 10w 张子表，但不写入数据，查询 last_row 约 6300 秒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如何解决：创建子表时，标记该子表还没有任何数据，避免空表重建缓存的过程</a:t>
            </a:r>
            <a:r>
              <a:rPr lang="en-US" b="fals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运维优化：集群管理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287000" cy="3429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副本节点迁移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：redistribute vgroup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优化前：在快照复制阶段，在迁移完成之前读写全程阻塞。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优化后：通过 learner 机制，把读写阻塞时间缩短为成员变更时间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虚拟节点组分裂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：split vgroup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优化前：在快照复制阶段，读写全程阻塞。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优化后：通过 learner 机制，把读写阻塞时间缩短为子表元数据重整以及成员变更时间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节点删除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：drop dnode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优化前：空 dnode，如果离线将不能删除。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优化后：空 dnode，无论是否在线均可正常删除。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其他提升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287000" cy="461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可观测性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监测：资源信息、业务统计信息、慢查询和一些健康信息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监测：资源信息、业务统计信息、健康信息、任务状态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DataIn：OPC 性能优化、点位过滤和下载机制优化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DataIn：PI 性能优化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DataIn：CSV 支持更多参数，如 skipRows、delimiter、 quoteChar、commentPrefix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DataIn：2.6-&gt;3.0 支持建表自动同步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Transformer：用户体验优化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统一各数据源的公共参数：如读写并发数、批次大小、批次延时、日志级别、是否保存原始数据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Explorer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HTTPS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管理 taosX 任务，支持查看其任务日志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功能规划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功能规划（2024-02-21 更新）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1021250"/>
            <a:ext cx="10632012" cy="5663181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