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6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  <p:sldMasterId id="2147483663" r:id="rId11"/>
    <p:sldMasterId id="2147483664" r:id="rId12"/>
  </p:sldMasterIdLst>
  <p:notesMasterIdLst>
    <p:notesMasterId r:id="rId6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Masters/slideMaster5.xml" Type="http://schemas.openxmlformats.org/officeDocument/2006/relationships/slideMaster"/><Relationship Id="rId12" Target="slideMasters/slideMaster6.xml" Type="http://schemas.openxmlformats.org/officeDocument/2006/relationships/slideMaster"/><Relationship Id="rId13" Target="slides/slide1.xml" Type="http://schemas.openxmlformats.org/officeDocument/2006/relationships/slide"/><Relationship Id="rId14" Target="slides/slide2.xml" Type="http://schemas.openxmlformats.org/officeDocument/2006/relationships/slide"/><Relationship Id="rId15" Target="slides/slide3.xml" Type="http://schemas.openxmlformats.org/officeDocument/2006/relationships/slide"/><Relationship Id="rId16" Target="slides/slide4.xml" Type="http://schemas.openxmlformats.org/officeDocument/2006/relationships/slide"/><Relationship Id="rId17" Target="slides/slide5.xml" Type="http://schemas.openxmlformats.org/officeDocument/2006/relationships/slide"/><Relationship Id="rId18" Target="slides/slide6.xml" Type="http://schemas.openxmlformats.org/officeDocument/2006/relationships/slide"/><Relationship Id="rId19" Target="slides/slide7.xml" Type="http://schemas.openxmlformats.org/officeDocument/2006/relationships/slide"/><Relationship Id="rId2" Target="viewProps.xml" Type="http://schemas.openxmlformats.org/officeDocument/2006/relationships/viewProps"/><Relationship Id="rId20" Target="slides/slide8.xml" Type="http://schemas.openxmlformats.org/officeDocument/2006/relationships/slide"/><Relationship Id="rId21" Target="slides/slide9.xml" Type="http://schemas.openxmlformats.org/officeDocument/2006/relationships/slide"/><Relationship Id="rId22" Target="slides/slide10.xml" Type="http://schemas.openxmlformats.org/officeDocument/2006/relationships/slide"/><Relationship Id="rId23" Target="slides/slide11.xml" Type="http://schemas.openxmlformats.org/officeDocument/2006/relationships/slide"/><Relationship Id="rId24" Target="slides/slide12.xml" Type="http://schemas.openxmlformats.org/officeDocument/2006/relationships/slide"/><Relationship Id="rId25" Target="slides/slide13.xml" Type="http://schemas.openxmlformats.org/officeDocument/2006/relationships/slide"/><Relationship Id="rId26" Target="slides/slide14.xml" Type="http://schemas.openxmlformats.org/officeDocument/2006/relationships/slide"/><Relationship Id="rId27" Target="slides/slide15.xml" Type="http://schemas.openxmlformats.org/officeDocument/2006/relationships/slide"/><Relationship Id="rId28" Target="slides/slide16.xml" Type="http://schemas.openxmlformats.org/officeDocument/2006/relationships/slide"/><Relationship Id="rId29" Target="slides/slide17.xml" Type="http://schemas.openxmlformats.org/officeDocument/2006/relationships/slide"/><Relationship Id="rId3" Target="presProps.xml" Type="http://schemas.openxmlformats.org/officeDocument/2006/relationships/presProps"/><Relationship Id="rId30" Target="slides/slide18.xml" Type="http://schemas.openxmlformats.org/officeDocument/2006/relationships/slide"/><Relationship Id="rId31" Target="slides/slide19.xml" Type="http://schemas.openxmlformats.org/officeDocument/2006/relationships/slide"/><Relationship Id="rId32" Target="slides/slide20.xml" Type="http://schemas.openxmlformats.org/officeDocument/2006/relationships/slide"/><Relationship Id="rId33" Target="slides/slide21.xml" Type="http://schemas.openxmlformats.org/officeDocument/2006/relationships/slide"/><Relationship Id="rId34" Target="slides/slide22.xml" Type="http://schemas.openxmlformats.org/officeDocument/2006/relationships/slide"/><Relationship Id="rId35" Target="slides/slide23.xml" Type="http://schemas.openxmlformats.org/officeDocument/2006/relationships/slide"/><Relationship Id="rId36" Target="slides/slide24.xml" Type="http://schemas.openxmlformats.org/officeDocument/2006/relationships/slide"/><Relationship Id="rId37" Target="notesSlides/notesSlide1.xml" Type="http://schemas.openxmlformats.org/officeDocument/2006/relationships/notesSlide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58" Target="notesSlides/notesSlide22.xml" Type="http://schemas.openxmlformats.org/officeDocument/2006/relationships/notesSlide"/><Relationship Id="rId59" Target="notesSlides/notesSlide23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4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5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6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7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8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9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0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1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2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3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4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5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6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7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8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9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0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1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6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6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6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6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6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6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6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7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7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7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7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7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7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7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7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7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8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9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9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9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9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9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9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9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0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0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0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0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0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0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0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0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1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1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1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1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1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1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1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1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1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2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2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2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2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2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2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2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2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3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3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3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3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3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3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3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3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4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5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5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5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5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5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5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5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6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6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6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6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6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6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6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6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6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7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7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7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7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7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7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7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7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7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8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8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8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8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8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8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8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8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9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9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9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9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9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9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9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9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0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1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1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1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1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1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1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1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2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2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2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2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2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2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2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2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2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3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3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3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3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3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3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3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3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3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4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4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24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24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24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24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4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4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5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5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5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5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5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25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5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5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5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6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7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7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7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7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7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7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8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8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8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8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8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8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8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8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9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9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9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9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9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9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9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9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9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0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30.xml" Type="http://schemas.openxmlformats.org/officeDocument/2006/relationships/slideLayout"/><Relationship Id="rId11" Target="../slideLayouts/slideLayout31.xml" Type="http://schemas.openxmlformats.org/officeDocument/2006/relationships/slideLayout"/><Relationship Id="rId2" Target="../slideLayouts/slideLayout22.xml" Type="http://schemas.openxmlformats.org/officeDocument/2006/relationships/slideLayout"/><Relationship Id="rId3" Target="../slideLayouts/slideLayout23.xml" Type="http://schemas.openxmlformats.org/officeDocument/2006/relationships/slideLayout"/><Relationship Id="rId4" Target="../slideLayouts/slideLayout24.xml" Type="http://schemas.openxmlformats.org/officeDocument/2006/relationships/slideLayout"/><Relationship Id="rId5" Target="../slideLayouts/slideLayout25.xml" Type="http://schemas.openxmlformats.org/officeDocument/2006/relationships/slideLayout"/><Relationship Id="rId6" Target="../slideLayouts/slideLayout26.xml" Type="http://schemas.openxmlformats.org/officeDocument/2006/relationships/slideLayout"/><Relationship Id="rId7" Target="../slideLayouts/slideLayout27.xml" Type="http://schemas.openxmlformats.org/officeDocument/2006/relationships/slideLayout"/><Relationship Id="rId8" Target="../slideLayouts/slideLayout28.xml" Type="http://schemas.openxmlformats.org/officeDocument/2006/relationships/slideLayout"/><Relationship Id="rId9" Target="../slideLayouts/slideLayout29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10" Target="../slideLayouts/slideLayout40.xml" Type="http://schemas.openxmlformats.org/officeDocument/2006/relationships/slideLayout"/><Relationship Id="rId11" Target="../slideLayouts/slideLayout41.xml" Type="http://schemas.openxmlformats.org/officeDocument/2006/relationships/slideLayout"/><Relationship Id="rId2" Target="../slideLayouts/slideLayout32.xml" Type="http://schemas.openxmlformats.org/officeDocument/2006/relationships/slideLayout"/><Relationship Id="rId3" Target="../slideLayouts/slideLayout33.xml" Type="http://schemas.openxmlformats.org/officeDocument/2006/relationships/slideLayout"/><Relationship Id="rId4" Target="../slideLayouts/slideLayout34.xml" Type="http://schemas.openxmlformats.org/officeDocument/2006/relationships/slideLayout"/><Relationship Id="rId5" Target="../slideLayouts/slideLayout35.xml" Type="http://schemas.openxmlformats.org/officeDocument/2006/relationships/slideLayout"/><Relationship Id="rId6" Target="../slideLayouts/slideLayout36.xml" Type="http://schemas.openxmlformats.org/officeDocument/2006/relationships/slideLayout"/><Relationship Id="rId7" Target="../slideLayouts/slideLayout37.xml" Type="http://schemas.openxmlformats.org/officeDocument/2006/relationships/slideLayout"/><Relationship Id="rId8" Target="../slideLayouts/slideLayout38.xml" Type="http://schemas.openxmlformats.org/officeDocument/2006/relationships/slideLayout"/><Relationship Id="rId9" Target="../slideLayouts/slideLayout39.xml" Type="http://schemas.openxmlformats.org/officeDocument/2006/relationships/slideLayout"/></Relationships>
</file>

<file path=ppt/slideMasters/_rels/slideMaster5.xml.rels><?xml version="1.0" encoding="UTF-8" standalone="yes"?><Relationships xmlns="http://schemas.openxmlformats.org/package/2006/relationships"><Relationship Id="rId1" Target="../theme/theme6.xml" Type="http://schemas.openxmlformats.org/officeDocument/2006/relationships/theme"/><Relationship Id="rId10" Target="../slideLayouts/slideLayout50.xml" Type="http://schemas.openxmlformats.org/officeDocument/2006/relationships/slideLayout"/><Relationship Id="rId11" Target="../slideLayouts/slideLayout51.xml" Type="http://schemas.openxmlformats.org/officeDocument/2006/relationships/slideLayout"/><Relationship Id="rId2" Target="../slideLayouts/slideLayout42.xml" Type="http://schemas.openxmlformats.org/officeDocument/2006/relationships/slideLayout"/><Relationship Id="rId3" Target="../slideLayouts/slideLayout43.xml" Type="http://schemas.openxmlformats.org/officeDocument/2006/relationships/slideLayout"/><Relationship Id="rId4" Target="../slideLayouts/slideLayout44.xml" Type="http://schemas.openxmlformats.org/officeDocument/2006/relationships/slideLayout"/><Relationship Id="rId5" Target="../slideLayouts/slideLayout45.xml" Type="http://schemas.openxmlformats.org/officeDocument/2006/relationships/slideLayout"/><Relationship Id="rId6" Target="../slideLayouts/slideLayout46.xml" Type="http://schemas.openxmlformats.org/officeDocument/2006/relationships/slideLayout"/><Relationship Id="rId7" Target="../slideLayouts/slideLayout47.xml" Type="http://schemas.openxmlformats.org/officeDocument/2006/relationships/slideLayout"/><Relationship Id="rId8" Target="../slideLayouts/slideLayout48.xml" Type="http://schemas.openxmlformats.org/officeDocument/2006/relationships/slideLayout"/><Relationship Id="rId9" Target="../slideLayouts/slideLayout49.xml" Type="http://schemas.openxmlformats.org/officeDocument/2006/relationships/slideLayout"/></Relationships>
</file>

<file path=ppt/slideMasters/_rels/slideMaster6.xml.rels><?xml version="1.0" encoding="UTF-8" standalone="yes"?><Relationships xmlns="http://schemas.openxmlformats.org/package/2006/relationships"><Relationship Id="rId1" Target="../theme/theme7.xml" Type="http://schemas.openxmlformats.org/officeDocument/2006/relationships/theme"/><Relationship Id="rId10" Target="../slideLayouts/slideLayout60.xml" Type="http://schemas.openxmlformats.org/officeDocument/2006/relationships/slideLayout"/><Relationship Id="rId11" Target="../slideLayouts/slideLayout61.xml" Type="http://schemas.openxmlformats.org/officeDocument/2006/relationships/slideLayout"/><Relationship Id="rId2" Target="../slideLayouts/slideLayout52.xml" Type="http://schemas.openxmlformats.org/officeDocument/2006/relationships/slideLayout"/><Relationship Id="rId3" Target="../slideLayouts/slideLayout53.xml" Type="http://schemas.openxmlformats.org/officeDocument/2006/relationships/slideLayout"/><Relationship Id="rId4" Target="../slideLayouts/slideLayout54.xml" Type="http://schemas.openxmlformats.org/officeDocument/2006/relationships/slideLayout"/><Relationship Id="rId5" Target="../slideLayouts/slideLayout55.xml" Type="http://schemas.openxmlformats.org/officeDocument/2006/relationships/slideLayout"/><Relationship Id="rId6" Target="../slideLayouts/slideLayout56.xml" Type="http://schemas.openxmlformats.org/officeDocument/2006/relationships/slideLayout"/><Relationship Id="rId7" Target="../slideLayouts/slideLayout57.xml" Type="http://schemas.openxmlformats.org/officeDocument/2006/relationships/slideLayout"/><Relationship Id="rId8" Target="../slideLayouts/slideLayout58.xml" Type="http://schemas.openxmlformats.org/officeDocument/2006/relationships/slideLayout"/><Relationship Id="rId9" Target="../slideLayouts/slideLayout5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09" r:id="rId2"/>
    <p:sldLayoutId id="2157483710" r:id="rId3"/>
    <p:sldLayoutId id="2157483711" r:id="rId4"/>
    <p:sldLayoutId id="2157483712" r:id="rId5"/>
    <p:sldLayoutId id="2157483713" r:id="rId6"/>
    <p:sldLayoutId id="2157483714" r:id="rId7"/>
    <p:sldLayoutId id="2157483715" r:id="rId8"/>
    <p:sldLayoutId id="2157483716" r:id="rId9"/>
    <p:sldLayoutId id="2157483717" r:id="rId10"/>
    <p:sldLayoutId id="215748371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19" r:id="rId2"/>
    <p:sldLayoutId id="2157483720" r:id="rId3"/>
    <p:sldLayoutId id="2157483721" r:id="rId4"/>
    <p:sldLayoutId id="2157483722" r:id="rId5"/>
    <p:sldLayoutId id="2157483723" r:id="rId6"/>
    <p:sldLayoutId id="2157483724" r:id="rId7"/>
    <p:sldLayoutId id="2157483725" r:id="rId8"/>
    <p:sldLayoutId id="2157483726" r:id="rId9"/>
    <p:sldLayoutId id="2157483727" r:id="rId10"/>
    <p:sldLayoutId id="215748372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29" r:id="rId2"/>
    <p:sldLayoutId id="2157483730" r:id="rId3"/>
    <p:sldLayoutId id="2157483731" r:id="rId4"/>
    <p:sldLayoutId id="2157483732" r:id="rId5"/>
    <p:sldLayoutId id="2157483733" r:id="rId6"/>
    <p:sldLayoutId id="2157483734" r:id="rId7"/>
    <p:sldLayoutId id="2157483735" r:id="rId8"/>
    <p:sldLayoutId id="2157483736" r:id="rId9"/>
    <p:sldLayoutId id="2157483737" r:id="rId10"/>
    <p:sldLayoutId id="215748373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39" r:id="rId2"/>
    <p:sldLayoutId id="2157483740" r:id="rId3"/>
    <p:sldLayoutId id="2157483741" r:id="rId4"/>
    <p:sldLayoutId id="2157483742" r:id="rId5"/>
    <p:sldLayoutId id="2157483743" r:id="rId6"/>
    <p:sldLayoutId id="2157483744" r:id="rId7"/>
    <p:sldLayoutId id="2157483745" r:id="rId8"/>
    <p:sldLayoutId id="2157483746" r:id="rId9"/>
    <p:sldLayoutId id="2157483747" r:id="rId10"/>
    <p:sldLayoutId id="215748374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https://taosdata.feishu.cn/wiki/P8Y0w9S13icde2kFZj7c4DUQnIb" TargetMode="External" Type="http://schemas.openxmlformats.org/officeDocument/2006/relationships/hyperlink"/><Relationship Id="rId4" Target="https://taosdata.feishu.cn/wiki/T3w5wJUHeitRQHkjIjhc8cD9nLb?sheet=Hc6VXj" TargetMode="External" Type="http://schemas.openxmlformats.org/officeDocument/2006/relationships/hyperlink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52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https://taosdata.feishu.cn/wiki/Ep7LwSBqxiR5zNk12locOQL4nie" TargetMode="External" Type="http://schemas.openxmlformats.org/officeDocument/2006/relationships/hyperlink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media/image14.png" Type="http://schemas.openxmlformats.org/officeDocument/2006/relationships/image"/><Relationship Id="rId4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52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52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42.xml" Type="http://schemas.openxmlformats.org/officeDocument/2006/relationships/slideLayout"/><Relationship Id="rId2" Target="../media/image9.png" Type="http://schemas.openxmlformats.org/officeDocument/2006/relationships/image"/><Relationship Id="rId3" Target="https://taosdata.feishu.cn/wiki/OBa2woeWAimXSrkeWJ3cFP5znmh" TargetMode="External" Type="http://schemas.openxmlformats.org/officeDocument/2006/relationships/hyperlink"/><Relationship Id="rId4" Target="https://taosdata.feishu.cn/wiki/WzObwFf3li02srkdU9VcNw2gnMf" TargetMode="External" Type="http://schemas.openxmlformats.org/officeDocument/2006/relationships/hyperlink"/><Relationship Id="rId5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42.xml" Type="http://schemas.openxmlformats.org/officeDocument/2006/relationships/slideLayout"/><Relationship Id="rId2" Target="../media/image9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notesSlides/notesSlide2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543933" y="6627707"/>
            <a:ext cx="9753600" cy="23029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0" y="0"/>
            <a:ext cx="12192000" cy="337185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0" y="2419057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.0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新特性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274398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关胜亮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2024-09-30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58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-1693001" y="2324100"/>
            <a:ext cx="5207000" cy="2819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21636" y="5553709"/>
            <a:ext cx="1905000" cy="40034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829333" y="2324100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52865" y="2384425"/>
            <a:ext cx="3683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引擎：20+ 函数、慢查询、CSV 建表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29333" y="3894190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52865" y="3956522"/>
            <a:ext cx="5066543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其他：告警、企业版文档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29333" y="3370826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52865" y="3432490"/>
            <a:ext cx="520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连接器：ODBC32、C++ Websocket、新参数绑定接口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29333" y="2847463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52865" y="2908457"/>
            <a:ext cx="4495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taosX：MongoDB 接入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4848163" y="3213100"/>
            <a:ext cx="21269" cy="346690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引擎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支持部分常见的 MySQL 函数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143000"/>
            <a:ext cx="1014730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帆软是国内知名的商业 BI 软件，和涛思同为宁德新能源的供应商，宁德新能源希望能够在帆软中使用 TDengine 数据库。采用 JDBC 连接器，帆软可以查询 TDengine 的数据并导入其内部数据库，但帆软不能通过直连方式将查询请求发送给 TDengine。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为了更好的对接帆软，把开发工作分成若干阶段，本期开发了客户明确提出的 28 个函数，行为参见 </a:t>
            </a:r>
            <a:r>
              <a:rPr lang="en-US" b="false" i="false" strike="noStrike" u="none" sz="16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P8Y0w9S13icde2kFZj7c4DUQnI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TDengine 支持 Mysql 函数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。后续还有至少 5 个 JIRA ，预计 2025 年 7 月初完成。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TS-4890 [产品规划] 窗口函数和 OVER 子句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TS-5161 [产品改进] JDBC URL 的 locale 和 timezone 参数在 REST 连接中生效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TS-5162 [产品规划] 增加更多 SQL 函数（阶段二）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TS-5163 [产品规划] 增加更多运算符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TS-5164 [产品规划] 支持完整的关联查询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在未来，我们会逐步实现 MySQL、Hive 中的函数（</a:t>
            </a:r>
            <a:r>
              <a:rPr lang="en-US" b="false" i="false" strike="noStrike" u="none" sz="16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taosdata.feishu.cn/wiki/T3w5wJUHeitRQHkjIjhc8cD9nLb?sheet=Hc6VXj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MySQL、Hive、TD 函数和运算符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）。各位同事在和用户讨论时，如果遇到一些特定函数需要高优先级开发，请尽快报告。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1783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支持部分常见的 MySQL 函数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35509" y="1387597"/>
          <a:ext cx="25746851" cy="347855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81568"/>
                <a:gridCol w="2948987"/>
                <a:gridCol w="5218350"/>
              </a:tblGrid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函数类型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函数名称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功能说明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55600">
                <a:tc rowSpan="11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数学函数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PI ()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返回圆周率 PI 的值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853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ROUND(expr[, digits])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获得指定字段的四舍五入的结果 （已有函数改进）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TRUNCATE/TRUNC(expr, digits)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获得指定字段按照指定位数截断的值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EXP(expr)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 e（自然对数的底）的指定乘方后的值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MOD(expr1, expr2)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 expr1  % expr  的结果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RAND([seed])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返回一个从 0 到 1 均匀分布的随机数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SIGN(expr)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返回指定参数的符号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DEGREES(expr)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计算指定参数由弧度值转为角度后的值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RADIANS(expr)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计算指定参数由角度值转为弧度后的值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GREATEST(expr1, expr2[, expr]...)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获得输入的所有参数中的最大值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715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LEAST(expr1, expr2[, expr]...)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获得输入的所有参数中的最小值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1783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支持部分常见的 MySQL 函数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35509" y="1387597"/>
          <a:ext cx="25746851" cy="30624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58265"/>
                <a:gridCol w="4404634"/>
                <a:gridCol w="4486006"/>
              </a:tblGrid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函数类型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函数名称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功能说明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55600">
                <a:tc rowSpan="8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字符串函数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CHAR_LENGTH(expr)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以字符计数的字符串长度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CHAR(expr1 [, expr2] [, epxr3] ...)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将输入参数当作整数，并返回这些整数在 ASCII 编码中对应的字符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ASCII(expr)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返回字符串第一个字符的 ASCII 码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778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TRIM([{LEADING | TRAILING | BOTH} [remstr] FROM] expr)</a:t>
                      </a:r>
                      <a:endParaRPr lang="en-US" sz="1100"/>
                    </a:p>
                    <a:p>
                      <a:pPr algn="l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TRIM([remstr FROM] str)</a:t>
                      </a:r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返回去掉了所有 remstr 前缀或后缀的字符串 epxr 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REPLACE(expr, from_str, to_str)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将字符串中的 from_str 全部替换为 to_str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REPEAT(expr, count)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返回将字符串重复指定次数得到的字符串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8026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SUBSTRING/SUBSTR(expr, pos [, len])</a:t>
                      </a:r>
                      <a:endParaRPr lang="en-US" sz="1100"/>
                    </a:p>
                    <a:p>
                      <a:pPr algn="l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SUBSTRING/SUBSTR(expr FROM pos [FOR len])</a:t>
                      </a:r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返回字符串 expr 在 pos 位置开始的子串，若指定了 len ，则返回在 pos 位置开始，长度为 len 的子串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SUBSTRING_INDEX(expr, delim, count)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返回字符串 expr 在出现指定次数分隔符的位置截取的子串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1783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支持部分常见的 MySQL 函数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35509" y="1387597"/>
          <a:ext cx="25746851" cy="29785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81568"/>
                <a:gridCol w="2948987"/>
                <a:gridCol w="5218350"/>
              </a:tblGrid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函数类型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函数名称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功能说明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592819">
                <a:tc rowSpan="5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时间函数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TIMEDIFF(expr1, expr2 [, time_unit])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返回时间戳 expr1 - expr2 的结果，结果可能为负，并近似到时间单位 time_unit 指定的精度 （已有函数改进）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853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WEEK(expr [, mode])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返回输入日期的周数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WEEKDAY(expr)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返回输入日期是周几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WEEKOFYEAR(expr)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返回输入日期的周数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DAYOFWEEK(expr)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返回输入日期是周几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rowSpan="3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聚合函数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STDDEV_POP(expr)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统计表中某列的总体标准差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VAR_POP(expr)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统计表中某列的总体方差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778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MAX/MIN(expr)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可以接受字符串作为输入参数，当输入参数为字符串类型时，返回最大的字符串值（已有函数改进）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5994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支持部分常见的 MySQL 语法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10147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支持用反引号定义和使用别名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544159"/>
            <a:ext cx="4178300" cy="1870818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t1.`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stat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__fcol_0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`,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min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(t1.`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hig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`)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__fcol_1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`,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sum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(t1.`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val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`)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__fcol_2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`,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count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(1)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__fcol_3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db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tb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t1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group by </a:t>
            </a:r>
            <a:r>
              <a:rPr lang="en-US" b="false" i="false" strike="noStrike" u="none" sz="11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__fcol_0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1157" y="4544159"/>
            <a:ext cx="4178300" cy="1870818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t1.voltage, min(t1.`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`) 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db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meters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t1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group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by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707373"/>
            <a:ext cx="4178300" cy="2232191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select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T_6AF7B6563C7E4495AAF64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ts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__fcol_0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`,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T_6AF7B6563C7E4495AAF64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val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__fcol_1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`,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T_6AF7B6563C7E4495AAF64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weg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__fcol_2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`,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T_6AF7B6563C7E4495AAF64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hig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__fcol_3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`,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T_6AF7B6563C7E4495AAF64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`.`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stat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__fcol_4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
 from (select * from db.t2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) as `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T_6AF7B6563C7E4495AAF64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limit 5000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89462"/>
            <a:ext cx="4178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支持使用位置语法和结果集列名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优化集群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101346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慢查询日志是一项关键的性能监控工具，其主要作用在于协助数据库管理员追踪执行时间较长的 SQL 查询语句。通过记录超过设定阈值的查询，为性能优化提供关键的线索，有助于发现潜在的性能瓶颈并重构查询语句，提升数据库的整体性能。</a:t>
            </a:r>
            <a:endParaRPr lang="en-US" sz="1100"/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在服务端配置慢查询参数，客户端从服务端拉取配置信息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客户端发现有超过阈值的查询时，将 SQL 发给服务端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服务端将 SQL 发送给 taoskeeper 组件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taoskeeper 组件存储到某个 TDengine 集群（可以是本集群）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15275" y="3815195"/>
            <a:ext cx="1481241" cy="486459"/>
          </a:xfrm>
          <a:prstGeom prst="roundRect">
            <a:avLst>
              <a:gd name="adj" fmla="val 41771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客户端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88631" y="3815195"/>
            <a:ext cx="1481241" cy="486459"/>
          </a:xfrm>
          <a:prstGeom prst="roundRect">
            <a:avLst>
              <a:gd name="adj" fmla="val 41771"/>
            </a:avLst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服务端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61987" y="3815195"/>
            <a:ext cx="1481241" cy="486459"/>
          </a:xfrm>
          <a:prstGeom prst="roundRect">
            <a:avLst>
              <a:gd name="adj" fmla="val 41771"/>
            </a:avLst>
          </a:prstGeom>
          <a:solidFill>
            <a:srgbClr val="8EE08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taoskeeper 组件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435344" y="3815195"/>
            <a:ext cx="1481241" cy="486459"/>
          </a:xfrm>
          <a:prstGeom prst="roundRect">
            <a:avLst>
              <a:gd name="adj" fmla="val 41771"/>
            </a:avLst>
          </a:prstGeom>
          <a:solidFill>
            <a:srgbClr val="FAD35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 集群或第三方监控系统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2596515" y="4058424"/>
            <a:ext cx="129150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2795424" y="4382573"/>
            <a:ext cx="1093207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慢查询记录配置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0" flipH="false" flipV="false">
            <a:off x="5369872" y="4058424"/>
            <a:ext cx="129150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2" id="12"/>
          <p:cNvCxnSpPr/>
          <p:nvPr/>
        </p:nvCxnSpPr>
        <p:spPr>
          <a:xfrm rot="0" flipH="false" flipV="false">
            <a:off x="8143228" y="4058424"/>
            <a:ext cx="129150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2984238" y="3842524"/>
            <a:ext cx="516669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 SQL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46440" y="3842524"/>
            <a:ext cx="516669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 SQL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530951" y="3842524"/>
            <a:ext cx="516669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 SQL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10725122" flipH="false" flipV="true">
            <a:off x="4626019" y="4301689"/>
            <a:ext cx="6464" cy="29674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-74877" flipH="false" flipV="false">
            <a:off x="1856224" y="4568272"/>
            <a:ext cx="2772699" cy="6040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-74877" flipH="false" flipV="true">
            <a:off x="1852663" y="4301689"/>
            <a:ext cx="6464" cy="29674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慢查询日志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894464"/>
          <a:ext cx="51552984" cy="228510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7445"/>
                <a:gridCol w="7762284"/>
              </a:tblGrid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配置参数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slowLogScope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指定启动记录哪些类型的慢 sql（insert/query/others/all)，默认值为 Query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slowLogThreshold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指定慢 sql 门限值，默认值 10 秒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slowLogMaxLen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指定记录 SQL 语句的最大长度，默认4096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monitor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接收慢日志的taosKeeper 连接信息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monitorInterval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montiorFqdn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monitorPort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1016000" y="1338722"/>
            <a:ext cx="9779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慢查询日志记录字段包括：开始执行时间、SQL、库名、客户端、用户、执行耗时、返回行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慢查询日志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1382756"/>
            <a:ext cx="9753600" cy="3382548"/>
          </a:xfrm>
          <a:prstGeom prst="rect">
            <a:avLst/>
          </a:prstGeom>
          <a:ln w="12700">
            <a:solidFill>
              <a:srgbClr val="1258FF">
                <a:alpha val="100000"/>
              </a:srgbClr>
            </a:solidFill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r="0" t="42040" b="2767"/>
          <a:stretch>
            <a:fillRect/>
          </a:stretch>
        </p:blipFill>
        <p:spPr>
          <a:xfrm rot="0" flipH="false" flipV="false">
            <a:off x="1016000" y="5015636"/>
            <a:ext cx="9753600" cy="1573185"/>
          </a:xfrm>
          <a:prstGeom prst="roundRect">
            <a:avLst>
              <a:gd name="adj" fmla="val 0"/>
            </a:avLst>
          </a:prstGeom>
          <a:ln w="12700">
            <a:solidFill>
              <a:srgbClr val="1258FF">
                <a:alpha val="100000"/>
              </a:srgbClr>
            </a:solidFill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 CSV 批量创建子表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10140082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CSV 文件可看做一张二维表，有很多行和很多列。TDengine 支持导入 CSV 文件的时序数据，当不需要进行任何 Transformer 变换时，通过 taos shell 即可导入；当需要进行 Transformer 变换时，可通过 taosX 导入。在从一些数据源（比如关系型数据库）批量导入数据时，还可能需要批量创建子表。这些子表的表名、标签值可以从数据源导出，然后通过 CSV 文件提供给 TDengine。CSV 文件中的数据行有如下几种场景。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1547" y="2750903"/>
          <a:ext cx="27729804" cy="265877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16303"/>
                <a:gridCol w="1333694"/>
                <a:gridCol w="1285221"/>
                <a:gridCol w="1307484"/>
                <a:gridCol w="4294191"/>
                <a:gridCol w="1136512"/>
              </a:tblGrid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数据行有数据列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数据行有子表名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数据行有标签列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行为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语法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63594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场景一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创建子表（表已存在则忽略）、导入时序数据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insert into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场景二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创建子表（标签值为空）（表已存在则忽略）、导入时序数据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insert into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场景三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不支持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场景四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需在 SQL 中指定子表名，然后导入时序数据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insert into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场景五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仅创建子表（表已存在则忽略）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create table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场景六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仅创建子表（标签值为空）（表已存在则忽略）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create table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场景七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不支持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场景八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不支持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 CSV 批量创建子表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10134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create table 语句从 CSV 文件中的元数据批量建表，语法如下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93897"/>
            <a:ext cx="10502900" cy="1128871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TABLE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[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IF NOT EXISTS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USING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stb1_name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([field1_name, ...])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FILE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csv_file_path1;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073144"/>
            <a:ext cx="10134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insert into 语句从 CSV 文件中导入时序数据，语法如下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28319"/>
            <a:ext cx="10502900" cy="2424223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INSERT INTO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stb1_name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[(field1_name, ...)]      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VALUES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(field1_value, ...) [(field1_value2, ...) ...] |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FILE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csv_file_path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[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stb2_name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[(field1_name, ...)] 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VALUES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(field1_value, ...) [(field1_value2, ...) ...] |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FILE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csv_file_path
    ...];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INSERT INTO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ctb_name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[(field1_name, ...)]      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VALUES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(field1_value, ...) [(field1_value2, ...) ...] |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FILE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csv_file_path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495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S3 存储支持 Azure Blob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10134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S3 的优点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781381"/>
            <a:ext cx="10134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对主流厂商的支持情况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1779001"/>
          <a:ext cx="27276739" cy="18669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290716"/>
                <a:gridCol w="7212184"/>
              </a:tblGrid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优点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原因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显著降低存储成本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S3 本身存储成本低，数据上传前通过重新整理提高了压缩比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支持冷数据写入、更新、删除，行为透明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数据拆分多个对象上传，最后一个对象在本地存储， AppendOnly 使得更新发生在最后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查询速度仅下降一倍左右，查询行为透明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存储模型保证同一个表的数据相邻存放，每次查询只需读取少量数据，且预计算数据留在本地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16000" y="4272460"/>
          <a:ext cx="31004649" cy="2311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42338"/>
                <a:gridCol w="2258066"/>
                <a:gridCol w="6202496"/>
              </a:tblGrid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厂商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产品名称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支持情况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亚马逊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Amazon S3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可以立刻给客户试用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微软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Azure Blob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支持通过免费组件 Flexify 连接，11 月初支持 Azure 原生连接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B0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腾讯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腾讯 COS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可以立刻给客户试用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开源产品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minIO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可以立刻给客户试用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taosX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DataIn: MongoDB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101473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MongoDB 是介于关系型数据库与非关系型数据库之间的产品，部分用户将其用于物联网领域。新近签约的沃太能源，使用 MongoDB 积累了 600 亿条、90TB 的数据，需要向 TDengine 进行迁移。参照 </a:t>
            </a:r>
            <a:r>
              <a:rPr lang="en-US" b="false" i="false" strike="noStrike" u="none" sz="16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Ep7LwSBqxiR5zNk12locOQL4ni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In: MongoDB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90490" y="2268736"/>
            <a:ext cx="4890777" cy="1075495"/>
          </a:xfrm>
          <a:prstGeom prst="roundRect">
            <a:avLst>
              <a:gd name="adj" fmla="val 18893"/>
            </a:avLst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71556" y="2739016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MongoDB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789864" y="2739016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0" flipH="false" flipV="false">
            <a:off x="2540400" y="2942873"/>
            <a:ext cx="7366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9" id="9"/>
          <p:cNvCxnSpPr/>
          <p:nvPr/>
        </p:nvCxnSpPr>
        <p:spPr>
          <a:xfrm rot="0" flipH="false" flipV="false">
            <a:off x="5574184" y="2942873"/>
            <a:ext cx="75380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455629" y="2738843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06619" y="2739016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8625174" y="2942873"/>
            <a:ext cx="73753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789864" y="2385302"/>
            <a:ext cx="142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51710" y="3905406"/>
            <a:ext cx="45212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39700" marL="1397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2"/>
              <a:defRPr/>
            </a:pPr>
            <a:r>
              <a:rPr lang="en-US" b="tru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 SQL 信息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71556" y="3905406"/>
            <a:ext cx="15240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-139700" marL="1397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tru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配置连接信息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871556" y="4280056"/>
            <a:ext cx="3773133" cy="2226149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5851710" y="4240218"/>
            <a:ext cx="4009525" cy="220248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318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DataIn: MongoDB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59203"/>
            <a:ext cx="15240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-139700" marL="1397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3"/>
              <a:defRPr/>
            </a:pPr>
            <a:r>
              <a:rPr lang="en-US" b="tru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数据类型转换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1811004"/>
            <a:ext cx="3947041" cy="2950413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5933472" y="1811004"/>
            <a:ext cx="5953158" cy="3193944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
    "a1": 1,
    "a2": [1, 2, 3],
    "a3": {
        "b1": 1,
        "b2": [1, 2, 3],
        "b3": {
            "c1": 1,
            "c2": [1, 2, 3],
            "c3": ["d", "e", "f"]
        }
    },
    "a4": [{"b11": "strb11", "b12": 10}, {"b11": "strb21", "b12": 11}]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cxnSp>
        <p:nvCxnSpPr>
          <p:cNvPr name="Connector 7" id="7"/>
          <p:cNvCxnSpPr/>
          <p:nvPr/>
        </p:nvCxnSpPr>
        <p:spPr>
          <a:xfrm rot="0" flipH="false" flipV="true">
            <a:off x="4963041" y="3286210"/>
            <a:ext cx="93046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C++ Websocket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05067" y="2690198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app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0" flipH="false" flipV="false">
            <a:off x="2529067" y="2894055"/>
            <a:ext cx="53749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066565" y="2690198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driver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128062" y="2690198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nginx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99767" y="2078628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taosadapter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99767" y="2690198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taosadapter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99767" y="3279081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0" y="2486341"/>
            <a:ext cx="1524000" cy="792740"/>
          </a:xfrm>
          <a:prstGeom prst="roundRect">
            <a:avLst>
              <a:gd name="adj" fmla="val 2563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</a:t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Cluster</a:t>
            </a:r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4590565" y="2894055"/>
            <a:ext cx="53749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3" id="13"/>
          <p:cNvCxnSpPr/>
          <p:nvPr/>
        </p:nvCxnSpPr>
        <p:spPr>
          <a:xfrm rot="0" flipH="false" flipV="false">
            <a:off x="6662269" y="2894055"/>
            <a:ext cx="53749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4" id="14"/>
          <p:cNvCxnSpPr/>
          <p:nvPr/>
        </p:nvCxnSpPr>
        <p:spPr>
          <a:xfrm rot="0" flipH="false" flipV="false">
            <a:off x="8724742" y="2894055"/>
            <a:ext cx="927258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5" id="15"/>
          <p:cNvCxnSpPr/>
          <p:nvPr/>
        </p:nvCxnSpPr>
        <p:spPr>
          <a:xfrm rot="0" flipH="false" flipV="true">
            <a:off x="8724742" y="3097923"/>
            <a:ext cx="927258" cy="38501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6" id="16"/>
          <p:cNvCxnSpPr/>
          <p:nvPr/>
        </p:nvCxnSpPr>
        <p:spPr>
          <a:xfrm rot="0" flipH="false" flipV="false">
            <a:off x="8723767" y="2282484"/>
            <a:ext cx="928233" cy="40770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7" id="17"/>
          <p:cNvCxnSpPr/>
          <p:nvPr/>
        </p:nvCxnSpPr>
        <p:spPr>
          <a:xfrm rot="0" flipH="false" flipV="false">
            <a:off x="6564374" y="3097911"/>
            <a:ext cx="635392" cy="385026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8" id="18"/>
          <p:cNvCxnSpPr/>
          <p:nvPr/>
        </p:nvCxnSpPr>
        <p:spPr>
          <a:xfrm rot="0" flipH="false" flipV="true">
            <a:off x="6564374" y="2282484"/>
            <a:ext cx="635392" cy="40771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16000" y="1219200"/>
            <a:ext cx="10160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原生连接方式在服务端升级时，客户端大概率也须升级。而 Websocket 连接方式大概率不需升级，并提供与原生连接相近的性能。POC 阶段为性能考虑，可采用原生接口；在生产环境，建议客户采用 Websocket 接口。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56949" y="3959309"/>
            <a:ext cx="401923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使用方法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包含头文件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#include &lt;taosws.h&gt;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连接动态库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libtaosws.so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6422525" y="3959309"/>
          <a:ext cx="8243550" cy="169216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67256"/>
                <a:gridCol w="3035227"/>
              </a:tblGrid>
              <a:tr h="4007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 API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 API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4007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taos_connect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ws_connect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242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taos_query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ws_query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242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taos_fetch_row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ws_fetch_row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242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……</a:t>
                      </a:r>
                      <a:endParaRPr lang="en-US" sz="1100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……</a:t>
                      </a:r>
                      <a:endParaRPr lang="en-US" sz="1100"/>
                    </a:p>
                  </a:txBody>
                  <a:tcPr anchor="ctr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22" id="22"/>
          <p:cNvSpPr/>
          <p:nvPr/>
        </p:nvSpPr>
        <p:spPr>
          <a:xfrm rot="0" flipH="false" flipV="false">
            <a:off x="4875471" y="3959309"/>
            <a:ext cx="152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API 映射关系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ODBC32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国外的 OSI PI、GE ifix、Wonderware intouch、AB rsview 采用 kepware 作为采集器，向 SQL Server 中写入控制数据后，kepware 通过 ODBC32 读取控制数据再传递给设备。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160526"/>
            <a:ext cx="5829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国内 KingScada 软件的组态程序可通过 ODBC32 访问数据库。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09856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app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2540000" y="2513713"/>
            <a:ext cx="124540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785403" y="2309856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SQL Server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13434" y="3713419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587765" y="2309856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kepware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0" flipH="false" flipV="false">
            <a:off x="5309403" y="2513713"/>
            <a:ext cx="2278362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9994900" y="2309856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device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9111765" y="2513713"/>
            <a:ext cx="883135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2773500" y="2271756"/>
            <a:ext cx="948403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写控制数据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442084" y="2271756"/>
            <a:ext cx="19685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kepware 主动通过 ODBC32 读取 SQL Server 的控制数据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244446" y="2271756"/>
            <a:ext cx="948403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控制设备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3713419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组态软件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0" flipH="false" flipV="false">
            <a:off x="2540000" y="3930633"/>
            <a:ext cx="2278362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2672681" y="3688676"/>
            <a:ext cx="1968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通过 ODBC 32 读取时序数据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552702"/>
            <a:ext cx="5829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实现方法：通过 Websocket 接口实现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488403" y="5130339"/>
            <a:ext cx="1821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Driver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130339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ODBC32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0" flipH="false" flipV="false">
            <a:off x="2540000" y="5347553"/>
            <a:ext cx="94840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267450" y="5130339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0" flipH="false" flipV="false">
            <a:off x="5319047" y="5334196"/>
            <a:ext cx="94840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其他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902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告警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3467100" cy="2578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仅支持资源、事件的监控，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3.3.3.0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版本开始支持告警。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可在  TDinsight（grafana）中配置告警模版，选择告警规则，通过如下方式通知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90500" lvl="1" marL="5715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邮件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90500" lvl="1" marL="5715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飞书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90500" lvl="1" marL="5715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钉钉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 </a:t>
            </a:r>
            <a:r>
              <a:rPr lang="en-US" b="false" i="false" strike="noStrike" u="none" sz="15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OBa2woeWAimXSrkeWJ3cFP5znm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Grafana 7.5 版本告警自动导入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</a:t>
            </a:r>
            <a:r>
              <a:rPr lang="en-US" b="false" i="false" strike="noStrike" u="none" sz="15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taosdata.feishu.cn/wiki/WzObwFf3li02srkdU9VcNw2gnM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Grafana 配置告警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893161" y="1219200"/>
          <a:ext cx="68564327" cy="425634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89037"/>
                <a:gridCol w="3419364"/>
              </a:tblGrid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规则名称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规则阈值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60844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Dnode 节点的 CPU 负载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均值 &gt; 80%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Dnode 节点的的内存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均值 &gt; 60%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Dnode 节点的磁盘容量占用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&gt; 80%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集群授权到期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60 天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测点数达到授权测点数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&gt;= 90%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查询并发请求数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&gt; 100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慢查询执行最长时间 （无时间窗口）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300 秒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Dnode下线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total != alive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Vnodes下线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total != alive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数据删除请求数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0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Adapter RESTful 请求失败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5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Adapter WebSocket 请求失败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5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Dnode 数据上报缺少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3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Dnode 重启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max(update_time) &gt; last(update_time)</a:t>
                      </a:r>
                      <a:endParaRPr lang="en-US" sz="1100"/>
                    </a:p>
                  </a:txBody>
                  <a:tcPr anchor="ctr" marL="101600" marR="889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521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企业版文档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301034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支持离线  PDF 文档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3276600" y="1219200"/>
            <a:ext cx="3259398" cy="2261860"/>
          </a:xfrm>
          <a:prstGeom prst="rect">
            <a:avLst/>
          </a:prstGeom>
          <a:ln w="12700">
            <a:solidFill>
              <a:srgbClr val="1258FF">
                <a:alpha val="100000"/>
              </a:srgbClr>
            </a:solidFill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704410"/>
            <a:ext cx="301034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支持搜索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016000" y="4312305"/>
            <a:ext cx="9753600" cy="126204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