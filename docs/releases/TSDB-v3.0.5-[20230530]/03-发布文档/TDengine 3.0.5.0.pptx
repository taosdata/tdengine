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9" r:id="rId3"/>
    <p:sldId id="260" r:id="rId4"/>
    <p:sldId id="265" r:id="rId5"/>
    <p:sldId id="286" r:id="rId6"/>
    <p:sldId id="281" r:id="rId7"/>
    <p:sldId id="282" r:id="rId8"/>
    <p:sldId id="283" r:id="rId9"/>
    <p:sldId id="284" r:id="rId10"/>
    <p:sldId id="285" r:id="rId11"/>
    <p:sldId id="266" r:id="rId12"/>
    <p:sldId id="287" r:id="rId13"/>
    <p:sldId id="288" r:id="rId14"/>
    <p:sldId id="289" r:id="rId15"/>
    <p:sldId id="290" r:id="rId16"/>
    <p:sldId id="291" r:id="rId17"/>
    <p:sldId id="292" r:id="rId18"/>
    <p:sldId id="293" r:id="rId19"/>
    <p:sldId id="294" r:id="rId20"/>
    <p:sldId id="308" r:id="rId21"/>
    <p:sldId id="309" r:id="rId22"/>
    <p:sldId id="310" r:id="rId23"/>
    <p:sldId id="306" r:id="rId24"/>
    <p:sldId id="307" r:id="rId25"/>
    <p:sldId id="270" r:id="rId26"/>
    <p:sldId id="273" r:id="rId27"/>
    <p:sldId id="274" r:id="rId28"/>
    <p:sldId id="275" r:id="rId29"/>
  </p:sldIdLst>
  <p:sldSz cx="9144000" cy="6858000" type="screen4x3"/>
  <p:notesSz cx="6858000" cy="9144000"/>
  <p:custDataLst>
    <p:tags r:id="rId30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07" d="100"/>
          <a:sy n="107" d="100"/>
        </p:scale>
        <p:origin x="1180" y="6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ags" Target="tags/tag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04087D-4E6A-4037-A815-A3A484D54CBF}" type="slidenum">
              <a:rPr lang="zh-CN" altLang="zh-CN"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016CAA-CDC5-4EF4-80A4-F992978377D9}" type="slidenum">
              <a:rPr lang="zh-CN" altLang="zh-CN"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E18167-932F-4720-AC1B-C0D5BD64BEDD}" type="slidenum">
              <a:rPr lang="zh-CN" altLang="zh-CN"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100526-3445-4104-B2DC-61669D106AC1}" type="slidenum">
              <a:rPr lang="zh-CN" altLang="zh-CN"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1749E2-1F6D-4534-B217-11AA93DCDB21}" type="slidenum">
              <a:rPr lang="zh-CN" altLang="zh-CN"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A45252-30E8-40D1-86AC-62D680F34A70}" type="slidenum">
              <a:rPr lang="zh-CN" altLang="zh-CN"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3272DB-6B00-4846-8DCB-A1FC6C10F986}" type="slidenum">
              <a:rPr lang="zh-CN" altLang="zh-CN"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B79760-C8D7-4424-A9FA-68E89EF1E1C0}" type="slidenum">
              <a:rPr lang="zh-CN" altLang="zh-CN"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27FD09-358B-4B93-936B-40751C7E8FC4}" type="slidenum">
              <a:rPr lang="zh-CN" altLang="zh-CN"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22129-0909-488A-9349-656119F2BEEC}" type="slidenum">
              <a:rPr lang="zh-CN" altLang="zh-CN"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3E2F09-E4F6-4843-8338-3D9294FB0D90}" type="slidenum">
              <a:rPr lang="zh-CN" altLang="zh-CN"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zh-CN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zh-CN"/>
              <a:t>单击此处编辑母版文本样式</a:t>
            </a:r>
          </a:p>
          <a:p>
            <a:pPr lvl="1"/>
            <a:r>
              <a:rPr lang="zh-CN" altLang="zh-CN"/>
              <a:t>第二级</a:t>
            </a:r>
          </a:p>
          <a:p>
            <a:pPr lvl="2"/>
            <a:r>
              <a:rPr lang="zh-CN" altLang="zh-CN"/>
              <a:t>第三级</a:t>
            </a:r>
          </a:p>
          <a:p>
            <a:pPr lvl="3"/>
            <a:r>
              <a:rPr lang="zh-CN" altLang="zh-CN"/>
              <a:t>第四级</a:t>
            </a:r>
          </a:p>
          <a:p>
            <a:pPr lvl="4"/>
            <a:r>
              <a:rPr lang="zh-CN" altLang="zh-CN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 smtClean="0"/>
            </a:lvl1pPr>
          </a:lstStyle>
          <a:p>
            <a:pPr>
              <a:defRPr/>
            </a:pPr>
            <a:fld id="{5C164211-E303-4983-80BA-AFDBE9C9D34E}" type="slidenum">
              <a:rPr lang="zh-CN" altLang="zh-CN"/>
              <a:t>‹#›</a:t>
            </a:fld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pPr eaLnBrk="1" hangingPunct="1"/>
            <a:r>
              <a:rPr lang="en-US" altLang="zh-CN" sz="4400" dirty="0" err="1"/>
              <a:t>TDengine</a:t>
            </a:r>
            <a:r>
              <a:rPr lang="en-US" altLang="zh-CN" sz="4400" dirty="0"/>
              <a:t> 3.0.5.0</a:t>
            </a:r>
            <a:endParaRPr lang="zh-CN" altLang="zh-CN" sz="4400" dirty="0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eaLnBrk="1" hangingPunct="1"/>
            <a:r>
              <a:rPr lang="zh-CN" altLang="en-US" sz="3200"/>
              <a:t>新特性宣讲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概述 </a:t>
            </a:r>
            <a:r>
              <a:rPr lang="en-US" altLang="zh-CN"/>
              <a:t>- </a:t>
            </a:r>
            <a:r>
              <a:rPr lang="zh-CN" altLang="en-US"/>
              <a:t>新功能</a:t>
            </a:r>
            <a:r>
              <a:rPr lang="en-US" altLang="zh-CN"/>
              <a:t>/</a:t>
            </a:r>
            <a:r>
              <a:rPr lang="zh-CN" altLang="en-US"/>
              <a:t>特性</a:t>
            </a:r>
          </a:p>
        </p:txBody>
      </p:sp>
      <p:sp>
        <p:nvSpPr>
          <p:cNvPr id="3075" name="内容占位符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000"/>
              <a:t>消息队列：返回消费进度和按指定进度消费</a:t>
            </a:r>
            <a:endParaRPr lang="en-US" altLang="zh-CN" sz="2000"/>
          </a:p>
          <a:p>
            <a:pPr eaLnBrk="1" hangingPunct="1"/>
            <a:r>
              <a:rPr lang="zh-CN" altLang="en-US" sz="2000"/>
              <a:t>流计算：</a:t>
            </a:r>
            <a:r>
              <a:rPr lang="en-US" altLang="zh-CN" sz="2000"/>
              <a:t>pause/resume </a:t>
            </a:r>
            <a:r>
              <a:rPr lang="zh-CN" altLang="en-US" sz="2000"/>
              <a:t>流</a:t>
            </a:r>
            <a:endParaRPr lang="en-US" altLang="zh-CN" sz="2000"/>
          </a:p>
          <a:p>
            <a:pPr eaLnBrk="1" hangingPunct="1"/>
            <a:r>
              <a:rPr lang="en-US" altLang="zh-CN" sz="2000"/>
              <a:t>Python UDF</a:t>
            </a:r>
            <a:r>
              <a:rPr lang="zh-CN" altLang="en-US" sz="2000"/>
              <a:t>：更新 </a:t>
            </a:r>
            <a:r>
              <a:rPr lang="en-US" altLang="zh-CN" sz="2000"/>
              <a:t>UDF </a:t>
            </a:r>
            <a:r>
              <a:rPr lang="zh-CN" altLang="en-US" sz="2000"/>
              <a:t>，无需重启 </a:t>
            </a:r>
            <a:r>
              <a:rPr lang="en-US" altLang="zh-CN" sz="2000"/>
              <a:t>dnode</a:t>
            </a:r>
          </a:p>
          <a:p>
            <a:pPr eaLnBrk="1" hangingPunct="1"/>
            <a:r>
              <a:rPr lang="en-US" altLang="zh-CN" sz="2000"/>
              <a:t>Interp</a:t>
            </a:r>
            <a:r>
              <a:rPr lang="zh-CN" altLang="en-US" sz="2000"/>
              <a:t>：可以用于超级表</a:t>
            </a:r>
            <a:endParaRPr lang="en-US" altLang="zh-CN" sz="2000"/>
          </a:p>
          <a:p>
            <a:pPr eaLnBrk="1" hangingPunct="1"/>
            <a:r>
              <a:rPr lang="zh-CN" altLang="en-US" sz="2000"/>
              <a:t>权限控制：表级权限控制（企业版独有）</a:t>
            </a:r>
            <a:endParaRPr lang="en-US" altLang="zh-CN" sz="2000"/>
          </a:p>
          <a:p>
            <a:pPr eaLnBrk="1" hangingPunct="1"/>
            <a:r>
              <a:rPr lang="zh-CN" altLang="en-US" sz="2000"/>
              <a:t>恢复数据节点：当一个</a:t>
            </a:r>
            <a:r>
              <a:rPr lang="en-US" altLang="zh-CN" sz="2000"/>
              <a:t>dnode</a:t>
            </a:r>
            <a:r>
              <a:rPr lang="zh-CN" altLang="en-US" sz="2000"/>
              <a:t>的磁盘损坏或者数据丢失后能够恢复该节点</a:t>
            </a:r>
            <a:endParaRPr lang="en-US" altLang="zh-CN" sz="2000"/>
          </a:p>
          <a:p>
            <a:pPr eaLnBrk="1" hangingPunct="1"/>
            <a:r>
              <a:rPr lang="zh-CN" altLang="en-US" sz="2000"/>
              <a:t>行长度：最大行长度增加到 </a:t>
            </a:r>
            <a:r>
              <a:rPr lang="en-US" altLang="zh-CN" sz="2000"/>
              <a:t>64K </a:t>
            </a:r>
          </a:p>
          <a:p>
            <a:pPr eaLnBrk="1" hangingPunct="1"/>
            <a:r>
              <a:rPr lang="en-US" altLang="zh-CN" sz="2000"/>
              <a:t>taosX</a:t>
            </a:r>
            <a:r>
              <a:rPr lang="zh-CN" altLang="en-US" sz="2000"/>
              <a:t>：从 </a:t>
            </a:r>
            <a:r>
              <a:rPr lang="en-US" altLang="zh-CN" sz="2000"/>
              <a:t>InfluxDB/MQTT </a:t>
            </a:r>
            <a:r>
              <a:rPr lang="zh-CN" altLang="en-US" sz="2000"/>
              <a:t>到 </a:t>
            </a:r>
            <a:r>
              <a:rPr lang="en-US" altLang="zh-CN" sz="2000"/>
              <a:t>TDengine </a:t>
            </a:r>
            <a:r>
              <a:rPr lang="zh-CN" altLang="en-US" sz="2000"/>
              <a:t>的数据同步</a:t>
            </a:r>
            <a:endParaRPr lang="en-US" altLang="zh-CN"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概述 </a:t>
            </a:r>
            <a:r>
              <a:rPr lang="en-US" altLang="zh-CN"/>
              <a:t>- </a:t>
            </a:r>
            <a:r>
              <a:rPr lang="zh-CN" altLang="en-US"/>
              <a:t>稳定性和性能优化</a:t>
            </a:r>
          </a:p>
        </p:txBody>
      </p:sp>
      <p:sp>
        <p:nvSpPr>
          <p:cNvPr id="4099" name="内容占位符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z="2000"/>
              <a:t>RAFT Learner</a:t>
            </a:r>
            <a:r>
              <a:rPr lang="zh-CN" altLang="en-US" sz="2000"/>
              <a:t>：变更副本数时不阻塞写入</a:t>
            </a:r>
            <a:endParaRPr lang="en-US" altLang="zh-CN" sz="2000"/>
          </a:p>
          <a:p>
            <a:pPr eaLnBrk="1" hangingPunct="1"/>
            <a:r>
              <a:rPr lang="zh-CN" altLang="en-US" sz="2000"/>
              <a:t>客户端缓存控制：避免 </a:t>
            </a:r>
            <a:r>
              <a:rPr lang="en-US" altLang="zh-CN" sz="2000"/>
              <a:t>OOM</a:t>
            </a:r>
          </a:p>
          <a:p>
            <a:pPr eaLnBrk="1" hangingPunct="1"/>
            <a:r>
              <a:rPr lang="zh-CN" altLang="en-US" sz="2000"/>
              <a:t>记录长查询：便于分析系统中的查询性能瓶颈</a:t>
            </a:r>
            <a:endParaRPr lang="en-US" altLang="zh-CN" sz="2000"/>
          </a:p>
          <a:p>
            <a:pPr eaLnBrk="1" hangingPunct="1"/>
            <a:r>
              <a:rPr lang="en-US" altLang="zh-CN" sz="2000"/>
              <a:t>Last </a:t>
            </a:r>
            <a:r>
              <a:rPr lang="zh-CN" altLang="en-US" sz="2000"/>
              <a:t>缓存：提升各种情况下使用 </a:t>
            </a:r>
            <a:r>
              <a:rPr lang="en-US" altLang="zh-CN" sz="2000"/>
              <a:t>Last </a:t>
            </a:r>
            <a:r>
              <a:rPr lang="zh-CN" altLang="en-US" sz="2000"/>
              <a:t>缓存的查询性能（系统初始化，首次查询，反复查询）</a:t>
            </a:r>
            <a:endParaRPr lang="en-US" altLang="zh-CN" sz="2000"/>
          </a:p>
          <a:p>
            <a:pPr eaLnBrk="1" hangingPunct="1"/>
            <a:r>
              <a:rPr lang="zh-CN" altLang="en-US" sz="2000"/>
              <a:t>流计算：降低对内存和磁盘</a:t>
            </a:r>
            <a:r>
              <a:rPr lang="en-US" altLang="zh-CN" sz="2000"/>
              <a:t>I/O</a:t>
            </a:r>
            <a:r>
              <a:rPr lang="zh-CN" altLang="en-US" sz="2000"/>
              <a:t>的占用</a:t>
            </a:r>
            <a:endParaRPr lang="en-US" altLang="zh-CN" sz="2000"/>
          </a:p>
          <a:p>
            <a:pPr eaLnBrk="1" hangingPunct="1"/>
            <a:endParaRPr lang="en-US" altLang="zh-CN"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第一部分</a:t>
            </a:r>
          </a:p>
        </p:txBody>
      </p:sp>
      <p:sp>
        <p:nvSpPr>
          <p:cNvPr id="5123" name="内容占位符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消息队列和流计算</a:t>
            </a:r>
            <a:endParaRPr lang="en-US" altLang="zh-CN"/>
          </a:p>
          <a:p>
            <a:pPr eaLnBrk="1" hangingPunct="1"/>
            <a:endParaRPr lang="en-US" altLang="zh-CN"/>
          </a:p>
          <a:p>
            <a:pPr eaLnBrk="1" hangingPunct="1"/>
            <a:r>
              <a:rPr lang="en-US" altLang="zh-CN"/>
              <a:t>@LiaoHaojun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消息队列</a:t>
            </a:r>
          </a:p>
        </p:txBody>
      </p:sp>
      <p:sp>
        <p:nvSpPr>
          <p:cNvPr id="6147" name="内容占位符 2"/>
          <p:cNvSpPr>
            <a:spLocks noGrp="1" noChangeArrowheads="1"/>
          </p:cNvSpPr>
          <p:nvPr>
            <p:ph idx="1"/>
          </p:nvPr>
        </p:nvSpPr>
        <p:spPr>
          <a:xfrm>
            <a:off x="457200" y="1268413"/>
            <a:ext cx="8229600" cy="5314950"/>
          </a:xfrm>
        </p:spPr>
        <p:txBody>
          <a:bodyPr/>
          <a:lstStyle/>
          <a:p>
            <a:pPr eaLnBrk="1" hangingPunct="1"/>
            <a:r>
              <a:rPr lang="zh-CN" altLang="en-US"/>
              <a:t>新功能</a:t>
            </a:r>
            <a:endParaRPr lang="en-US" altLang="zh-CN"/>
          </a:p>
          <a:p>
            <a:pPr lvl="1" eaLnBrk="1" hangingPunct="1"/>
            <a:r>
              <a:rPr lang="zh-CN" altLang="en-US"/>
              <a:t>返回消费进度</a:t>
            </a:r>
            <a:endParaRPr lang="en-US" altLang="zh-CN"/>
          </a:p>
          <a:p>
            <a:pPr lvl="1" eaLnBrk="1" hangingPunct="1"/>
            <a:r>
              <a:rPr lang="zh-CN" altLang="en-US"/>
              <a:t>按指定 </a:t>
            </a:r>
            <a:r>
              <a:rPr lang="en-US" altLang="zh-CN"/>
              <a:t>offset </a:t>
            </a:r>
            <a:r>
              <a:rPr lang="zh-CN" altLang="en-US"/>
              <a:t>消费</a:t>
            </a:r>
            <a:endParaRPr lang="en-US" altLang="zh-CN"/>
          </a:p>
          <a:p>
            <a:pPr eaLnBrk="1" hangingPunct="1"/>
            <a:r>
              <a:rPr lang="zh-CN" altLang="en-US"/>
              <a:t>编程接口</a:t>
            </a:r>
            <a:endParaRPr lang="en-US" altLang="zh-CN"/>
          </a:p>
          <a:p>
            <a:pPr lvl="1" eaLnBrk="1" hangingPunct="1"/>
            <a:r>
              <a:rPr lang="en-US" altLang="zh-CN"/>
              <a:t>C </a:t>
            </a:r>
            <a:r>
              <a:rPr lang="zh-CN" altLang="en-US"/>
              <a:t>原生接口</a:t>
            </a:r>
            <a:endParaRPr lang="en-US" altLang="zh-CN"/>
          </a:p>
          <a:p>
            <a:pPr lvl="1" eaLnBrk="1" hangingPunct="1"/>
            <a:r>
              <a:rPr lang="en-US" altLang="zh-CN"/>
              <a:t>Java </a:t>
            </a:r>
            <a:r>
              <a:rPr lang="zh-CN" altLang="en-US"/>
              <a:t>连接器（</a:t>
            </a:r>
            <a:r>
              <a:rPr lang="en-US" altLang="zh-CN"/>
              <a:t>Native</a:t>
            </a:r>
            <a:r>
              <a:rPr lang="zh-CN" altLang="en-US"/>
              <a:t>连接，</a:t>
            </a:r>
            <a:r>
              <a:rPr lang="en-US" altLang="zh-CN"/>
              <a:t>WebSocket</a:t>
            </a:r>
            <a:r>
              <a:rPr lang="zh-CN" altLang="en-US"/>
              <a:t>）</a:t>
            </a:r>
            <a:endParaRPr lang="en-US" altLang="zh-CN"/>
          </a:p>
          <a:p>
            <a:pPr lvl="1" eaLnBrk="1" hangingPunct="1"/>
            <a:r>
              <a:rPr lang="en-US" altLang="zh-CN"/>
              <a:t>Go </a:t>
            </a:r>
            <a:r>
              <a:rPr lang="zh-CN" altLang="en-US"/>
              <a:t>连接器 （</a:t>
            </a:r>
            <a:r>
              <a:rPr lang="en-US" altLang="zh-CN"/>
              <a:t>Native/WebSocket</a:t>
            </a:r>
            <a:r>
              <a:rPr lang="zh-CN" altLang="en-US"/>
              <a:t>）</a:t>
            </a:r>
            <a:endParaRPr lang="en-US" altLang="zh-CN"/>
          </a:p>
          <a:p>
            <a:pPr lvl="1" eaLnBrk="1" hangingPunct="1"/>
            <a:r>
              <a:rPr lang="en-US" altLang="zh-CN"/>
              <a:t>Python </a:t>
            </a:r>
            <a:r>
              <a:rPr lang="zh-CN" altLang="en-US"/>
              <a:t>连接器（</a:t>
            </a:r>
            <a:r>
              <a:rPr lang="en-US" altLang="zh-CN"/>
              <a:t>Native/WebSocket</a:t>
            </a:r>
            <a:r>
              <a:rPr lang="zh-CN" altLang="en-US"/>
              <a:t>）</a:t>
            </a:r>
            <a:endParaRPr lang="en-US" altLang="zh-CN"/>
          </a:p>
          <a:p>
            <a:pPr lvl="1" eaLnBrk="1" hangingPunct="1"/>
            <a:r>
              <a:rPr lang="en-US" altLang="zh-CN"/>
              <a:t>Rust </a:t>
            </a:r>
            <a:r>
              <a:rPr lang="zh-CN" altLang="en-US"/>
              <a:t>连接器 （</a:t>
            </a:r>
            <a:r>
              <a:rPr lang="en-US" altLang="zh-CN"/>
              <a:t>Native/WebSocket</a:t>
            </a:r>
            <a:r>
              <a:rPr lang="zh-CN" altLang="en-US"/>
              <a:t>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消息队列</a:t>
            </a:r>
          </a:p>
        </p:txBody>
      </p:sp>
      <p:sp>
        <p:nvSpPr>
          <p:cNvPr id="6147" name="内容占位符 2"/>
          <p:cNvSpPr>
            <a:spLocks noGrp="1" noChangeArrowheads="1"/>
          </p:cNvSpPr>
          <p:nvPr>
            <p:ph idx="1"/>
          </p:nvPr>
        </p:nvSpPr>
        <p:spPr>
          <a:xfrm>
            <a:off x="457200" y="1268413"/>
            <a:ext cx="8229600" cy="5314950"/>
          </a:xfrm>
        </p:spPr>
        <p:txBody>
          <a:bodyPr/>
          <a:lstStyle/>
          <a:p>
            <a:pPr eaLnBrk="1" hangingPunct="1"/>
            <a:r>
              <a:rPr lang="en-US" altLang="zh-CN" dirty="0"/>
              <a:t>C </a:t>
            </a:r>
            <a:r>
              <a:rPr lang="zh-CN" altLang="en-US" dirty="0"/>
              <a:t>接口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返回消费进度</a:t>
            </a:r>
            <a:endParaRPr lang="en-US" altLang="zh-CN" dirty="0"/>
          </a:p>
          <a:p>
            <a:pPr lvl="2" eaLnBrk="1" hangingPunct="1"/>
            <a:r>
              <a:rPr lang="en-US" altLang="zh-CN" sz="1800" b="1" i="0" dirty="0">
                <a:solidFill>
                  <a:srgbClr val="1F542E"/>
                </a:solidFill>
                <a:latin typeface="DejaVu Sans Mono" panose="020B0609030804020204" pitchFamily="49" charset="0"/>
              </a:rPr>
              <a:t>DLL_EXPORT </a:t>
            </a:r>
            <a:r>
              <a:rPr lang="en-US" altLang="zh-CN" sz="1800" b="0" i="0" dirty="0">
                <a:solidFill>
                  <a:srgbClr val="371F80"/>
                </a:solidFill>
                <a:latin typeface="DejaVu Sans Mono" panose="020B0609030804020204" pitchFamily="49" charset="0"/>
              </a:rPr>
              <a:t>int32_t   </a:t>
            </a:r>
            <a:r>
              <a:rPr lang="en-US" altLang="zh-CN" sz="1800" b="0" i="0" dirty="0" err="1">
                <a:solidFill>
                  <a:srgbClr val="000000"/>
                </a:solidFill>
                <a:latin typeface="DejaVu Sans Mono" panose="020B0609030804020204" pitchFamily="49" charset="0"/>
              </a:rPr>
              <a:t>tmq_get_topic_assignment</a:t>
            </a:r>
            <a:r>
              <a:rPr lang="en-US" altLang="zh-CN" sz="1800" b="0" i="0" dirty="0">
                <a:solidFill>
                  <a:srgbClr val="000000"/>
                </a:solidFill>
                <a:latin typeface="DejaVu Sans Mono" panose="020B0609030804020204" pitchFamily="49" charset="0"/>
              </a:rPr>
              <a:t>(</a:t>
            </a:r>
            <a:r>
              <a:rPr lang="en-US" altLang="zh-CN" sz="1800" b="0" i="0" dirty="0" err="1">
                <a:solidFill>
                  <a:srgbClr val="371F80"/>
                </a:solidFill>
                <a:latin typeface="DejaVu Sans Mono" panose="020B0609030804020204" pitchFamily="49" charset="0"/>
              </a:rPr>
              <a:t>tmq_t</a:t>
            </a:r>
            <a:r>
              <a:rPr lang="en-US" altLang="zh-CN" sz="1800" b="0" i="0" dirty="0">
                <a:solidFill>
                  <a:srgbClr val="371F80"/>
                </a:solidFill>
                <a:latin typeface="DejaVu Sans Mono" panose="020B0609030804020204" pitchFamily="49" charset="0"/>
              </a:rPr>
              <a:t> </a:t>
            </a:r>
            <a:r>
              <a:rPr lang="en-US" altLang="zh-CN" sz="1800" b="0" i="0" dirty="0">
                <a:solidFill>
                  <a:srgbClr val="000000"/>
                </a:solidFill>
                <a:latin typeface="DejaVu Sans Mono" panose="020B0609030804020204" pitchFamily="49" charset="0"/>
              </a:rPr>
              <a:t>*</a:t>
            </a:r>
            <a:r>
              <a:rPr lang="en-US" altLang="zh-CN" sz="1800" b="0" i="0" dirty="0" err="1">
                <a:solidFill>
                  <a:srgbClr val="000000"/>
                </a:solidFill>
                <a:latin typeface="DejaVu Sans Mono" panose="020B0609030804020204" pitchFamily="49" charset="0"/>
              </a:rPr>
              <a:t>tmq</a:t>
            </a:r>
            <a:r>
              <a:rPr lang="en-US" altLang="zh-CN" sz="1800" b="0" i="0" dirty="0">
                <a:solidFill>
                  <a:srgbClr val="000000"/>
                </a:solidFill>
                <a:latin typeface="DejaVu Sans Mono" panose="020B0609030804020204" pitchFamily="49" charset="0"/>
              </a:rPr>
              <a:t>, </a:t>
            </a:r>
            <a:r>
              <a:rPr lang="en-US" altLang="zh-CN" sz="1800" b="1" i="0" dirty="0">
                <a:solidFill>
                  <a:srgbClr val="000080"/>
                </a:solidFill>
                <a:latin typeface="DejaVu Sans Mono" panose="020B0609030804020204" pitchFamily="49" charset="0"/>
              </a:rPr>
              <a:t>const char </a:t>
            </a:r>
            <a:r>
              <a:rPr lang="en-US" altLang="zh-CN" sz="1800" b="0" i="0" dirty="0">
                <a:solidFill>
                  <a:srgbClr val="000000"/>
                </a:solidFill>
                <a:latin typeface="DejaVu Sans Mono" panose="020B0609030804020204" pitchFamily="49" charset="0"/>
              </a:rPr>
              <a:t>*</a:t>
            </a:r>
            <a:r>
              <a:rPr lang="en-US" altLang="zh-CN" sz="1800" b="0" i="0" dirty="0" err="1">
                <a:solidFill>
                  <a:srgbClr val="000000"/>
                </a:solidFill>
                <a:latin typeface="DejaVu Sans Mono" panose="020B0609030804020204" pitchFamily="49" charset="0"/>
              </a:rPr>
              <a:t>pTopicName</a:t>
            </a:r>
            <a:r>
              <a:rPr lang="en-US" altLang="zh-CN" sz="1800" b="0" i="0" dirty="0">
                <a:solidFill>
                  <a:srgbClr val="000000"/>
                </a:solidFill>
                <a:latin typeface="DejaVu Sans Mono" panose="020B0609030804020204" pitchFamily="49" charset="0"/>
              </a:rPr>
              <a:t>, </a:t>
            </a:r>
            <a:r>
              <a:rPr lang="en-US" altLang="zh-CN" sz="1800" b="0" i="0" dirty="0" err="1">
                <a:solidFill>
                  <a:srgbClr val="371F80"/>
                </a:solidFill>
                <a:latin typeface="DejaVu Sans Mono" panose="020B0609030804020204" pitchFamily="49" charset="0"/>
              </a:rPr>
              <a:t>tmq_topic_assignment</a:t>
            </a:r>
            <a:r>
              <a:rPr lang="en-US" altLang="zh-CN" sz="1800" b="0" i="0" dirty="0">
                <a:solidFill>
                  <a:srgbClr val="371F80"/>
                </a:solidFill>
                <a:latin typeface="DejaVu Sans Mono" panose="020B0609030804020204" pitchFamily="49" charset="0"/>
              </a:rPr>
              <a:t> </a:t>
            </a:r>
            <a:r>
              <a:rPr lang="en-US" altLang="zh-CN" sz="1800" b="0" i="0" dirty="0">
                <a:solidFill>
                  <a:srgbClr val="000000"/>
                </a:solidFill>
                <a:latin typeface="DejaVu Sans Mono" panose="020B0609030804020204" pitchFamily="49" charset="0"/>
              </a:rPr>
              <a:t>**assignment,                    </a:t>
            </a:r>
            <a:r>
              <a:rPr lang="en-US" altLang="zh-CN" sz="1800" b="0" i="0" dirty="0">
                <a:solidFill>
                  <a:srgbClr val="371F80"/>
                </a:solidFill>
                <a:latin typeface="DejaVu Sans Mono" panose="020B0609030804020204" pitchFamily="49" charset="0"/>
              </a:rPr>
              <a:t>int32_t </a:t>
            </a:r>
            <a:r>
              <a:rPr lang="en-US" altLang="zh-CN" sz="1800" b="0" i="0" dirty="0">
                <a:solidFill>
                  <a:srgbClr val="000000"/>
                </a:solidFill>
                <a:latin typeface="DejaVu Sans Mono" panose="020B0609030804020204" pitchFamily="49" charset="0"/>
              </a:rPr>
              <a:t>*</a:t>
            </a:r>
            <a:r>
              <a:rPr lang="en-US" altLang="zh-CN" sz="1800" b="0" i="0" dirty="0" err="1">
                <a:solidFill>
                  <a:srgbClr val="000000"/>
                </a:solidFill>
                <a:latin typeface="DejaVu Sans Mono" panose="020B0609030804020204" pitchFamily="49" charset="0"/>
              </a:rPr>
              <a:t>numOfAssignment</a:t>
            </a:r>
            <a:r>
              <a:rPr lang="en-US" altLang="zh-CN" sz="1800" b="0" i="0" dirty="0">
                <a:solidFill>
                  <a:srgbClr val="000000"/>
                </a:solidFill>
                <a:latin typeface="DejaVu Sans Mono" panose="020B0609030804020204" pitchFamily="49" charset="0"/>
              </a:rPr>
              <a:t>);</a:t>
            </a:r>
          </a:p>
          <a:p>
            <a:pPr lvl="2" eaLnBrk="1" hangingPunct="1"/>
            <a:br>
              <a:rPr lang="en-US" altLang="zh-CN" sz="1800" b="0" i="0" dirty="0">
                <a:solidFill>
                  <a:srgbClr val="000000"/>
                </a:solidFill>
                <a:latin typeface="DejaVu Sans Mono" panose="020B0609030804020204" pitchFamily="49" charset="0"/>
              </a:rPr>
            </a:br>
            <a:r>
              <a:rPr lang="en-US" altLang="zh-CN" sz="1800" b="1" i="0" dirty="0">
                <a:solidFill>
                  <a:srgbClr val="1F542E"/>
                </a:solidFill>
                <a:latin typeface="DejaVu Sans Mono" panose="020B0609030804020204" pitchFamily="49" charset="0"/>
              </a:rPr>
              <a:t>DLL_EXPORT </a:t>
            </a:r>
            <a:r>
              <a:rPr lang="en-US" altLang="zh-CN" sz="1800" b="1" i="0" dirty="0">
                <a:solidFill>
                  <a:srgbClr val="000080"/>
                </a:solidFill>
                <a:latin typeface="DejaVu Sans Mono" panose="020B0609030804020204" pitchFamily="49" charset="0"/>
              </a:rPr>
              <a:t>void      </a:t>
            </a:r>
            <a:r>
              <a:rPr lang="en-US" altLang="zh-CN" sz="1800" b="0" i="0" dirty="0" err="1">
                <a:solidFill>
                  <a:srgbClr val="000000"/>
                </a:solidFill>
                <a:latin typeface="DejaVu Sans Mono" panose="020B0609030804020204" pitchFamily="49" charset="0"/>
              </a:rPr>
              <a:t>tmq_free_assignment</a:t>
            </a:r>
            <a:r>
              <a:rPr lang="en-US" altLang="zh-CN" sz="1800" b="0" i="0" dirty="0">
                <a:solidFill>
                  <a:srgbClr val="000000"/>
                </a:solidFill>
                <a:latin typeface="DejaVu Sans Mono" panose="020B0609030804020204" pitchFamily="49" charset="0"/>
              </a:rPr>
              <a:t>(</a:t>
            </a:r>
            <a:r>
              <a:rPr lang="en-US" altLang="zh-CN" sz="1800" b="0" i="0" dirty="0" err="1">
                <a:solidFill>
                  <a:srgbClr val="371F80"/>
                </a:solidFill>
                <a:latin typeface="DejaVu Sans Mono" panose="020B0609030804020204" pitchFamily="49" charset="0"/>
              </a:rPr>
              <a:t>tmq_topic_assignment</a:t>
            </a:r>
            <a:r>
              <a:rPr lang="en-US" altLang="zh-CN" sz="1800" b="0" i="0" dirty="0">
                <a:solidFill>
                  <a:srgbClr val="000000"/>
                </a:solidFill>
                <a:latin typeface="DejaVu Sans Mono" panose="020B0609030804020204" pitchFamily="49" charset="0"/>
              </a:rPr>
              <a:t>* </a:t>
            </a:r>
            <a:r>
              <a:rPr lang="en-US" altLang="zh-CN" sz="1800" b="0" i="0" dirty="0" err="1">
                <a:solidFill>
                  <a:srgbClr val="000000"/>
                </a:solidFill>
                <a:latin typeface="DejaVu Sans Mono" panose="020B0609030804020204" pitchFamily="49" charset="0"/>
              </a:rPr>
              <a:t>pAssignment</a:t>
            </a:r>
            <a:r>
              <a:rPr lang="en-US" altLang="zh-CN" sz="1800" b="0" i="0" dirty="0">
                <a:solidFill>
                  <a:srgbClr val="000000"/>
                </a:solidFill>
                <a:latin typeface="DejaVu Sans Mono" panose="020B0609030804020204" pitchFamily="49" charset="0"/>
              </a:rPr>
              <a:t>);</a:t>
            </a:r>
            <a:br>
              <a:rPr lang="en-US" altLang="zh-CN" sz="1800" b="0" i="0" dirty="0">
                <a:solidFill>
                  <a:srgbClr val="000000"/>
                </a:solidFill>
                <a:latin typeface="DejaVu Sans Mono" panose="020B0609030804020204" pitchFamily="49" charset="0"/>
              </a:rPr>
            </a:br>
            <a:endParaRPr lang="en-US" altLang="zh-CN" dirty="0"/>
          </a:p>
          <a:p>
            <a:pPr lvl="1" eaLnBrk="1" hangingPunct="1"/>
            <a:r>
              <a:rPr lang="zh-CN" altLang="en-US" dirty="0"/>
              <a:t>按指定 </a:t>
            </a:r>
            <a:r>
              <a:rPr lang="en-US" altLang="zh-CN" dirty="0"/>
              <a:t>offset </a:t>
            </a:r>
            <a:r>
              <a:rPr lang="zh-CN" altLang="en-US" dirty="0"/>
              <a:t>消费</a:t>
            </a:r>
            <a:endParaRPr lang="en-US" altLang="zh-CN" dirty="0"/>
          </a:p>
          <a:p>
            <a:pPr lvl="2" eaLnBrk="1" hangingPunct="1"/>
            <a:r>
              <a:rPr lang="en-US" altLang="zh-CN" sz="1800" b="1" i="0" dirty="0">
                <a:solidFill>
                  <a:srgbClr val="1F542E"/>
                </a:solidFill>
                <a:latin typeface="DejaVu Sans Mono" panose="020B0609030804020204" pitchFamily="49" charset="0"/>
              </a:rPr>
              <a:t>DLL_EXPORT </a:t>
            </a:r>
            <a:r>
              <a:rPr lang="en-US" altLang="zh-CN" sz="1800" b="0" i="0" dirty="0">
                <a:solidFill>
                  <a:srgbClr val="371F80"/>
                </a:solidFill>
                <a:latin typeface="DejaVu Sans Mono" panose="020B0609030804020204" pitchFamily="49" charset="0"/>
              </a:rPr>
              <a:t>int32_t   </a:t>
            </a:r>
            <a:r>
              <a:rPr lang="en-US" altLang="zh-CN" sz="1800" b="0" i="0" dirty="0" err="1">
                <a:solidFill>
                  <a:srgbClr val="000000"/>
                </a:solidFill>
                <a:latin typeface="DejaVu Sans Mono" panose="020B0609030804020204" pitchFamily="49" charset="0"/>
              </a:rPr>
              <a:t>tmq_offset_seek</a:t>
            </a:r>
            <a:r>
              <a:rPr lang="en-US" altLang="zh-CN" sz="1800" b="0" i="0" dirty="0">
                <a:solidFill>
                  <a:srgbClr val="000000"/>
                </a:solidFill>
                <a:latin typeface="DejaVu Sans Mono" panose="020B0609030804020204" pitchFamily="49" charset="0"/>
              </a:rPr>
              <a:t>(</a:t>
            </a:r>
            <a:r>
              <a:rPr lang="en-US" altLang="zh-CN" sz="1800" b="0" i="0" dirty="0" err="1">
                <a:solidFill>
                  <a:srgbClr val="371F80"/>
                </a:solidFill>
                <a:latin typeface="DejaVu Sans Mono" panose="020B0609030804020204" pitchFamily="49" charset="0"/>
              </a:rPr>
              <a:t>tmq_t</a:t>
            </a:r>
            <a:r>
              <a:rPr lang="en-US" altLang="zh-CN" sz="1800" b="0" i="0" dirty="0">
                <a:solidFill>
                  <a:srgbClr val="371F80"/>
                </a:solidFill>
                <a:latin typeface="DejaVu Sans Mono" panose="020B0609030804020204" pitchFamily="49" charset="0"/>
              </a:rPr>
              <a:t> </a:t>
            </a:r>
            <a:r>
              <a:rPr lang="en-US" altLang="zh-CN" sz="1800" b="0" i="0" dirty="0">
                <a:solidFill>
                  <a:srgbClr val="000000"/>
                </a:solidFill>
                <a:latin typeface="DejaVu Sans Mono" panose="020B0609030804020204" pitchFamily="49" charset="0"/>
              </a:rPr>
              <a:t>*</a:t>
            </a:r>
            <a:r>
              <a:rPr lang="en-US" altLang="zh-CN" sz="1800" b="0" i="0" dirty="0" err="1">
                <a:solidFill>
                  <a:srgbClr val="000000"/>
                </a:solidFill>
                <a:latin typeface="DejaVu Sans Mono" panose="020B0609030804020204" pitchFamily="49" charset="0"/>
              </a:rPr>
              <a:t>tmq</a:t>
            </a:r>
            <a:r>
              <a:rPr lang="en-US" altLang="zh-CN" sz="1800" b="0" i="0" dirty="0">
                <a:solidFill>
                  <a:srgbClr val="000000"/>
                </a:solidFill>
                <a:latin typeface="DejaVu Sans Mono" panose="020B0609030804020204" pitchFamily="49" charset="0"/>
              </a:rPr>
              <a:t>, </a:t>
            </a:r>
            <a:r>
              <a:rPr lang="en-US" altLang="zh-CN" sz="1800" b="1" i="0" dirty="0">
                <a:solidFill>
                  <a:srgbClr val="000080"/>
                </a:solidFill>
                <a:latin typeface="DejaVu Sans Mono" panose="020B0609030804020204" pitchFamily="49" charset="0"/>
              </a:rPr>
              <a:t>const char </a:t>
            </a:r>
            <a:r>
              <a:rPr lang="en-US" altLang="zh-CN" sz="1800" b="0" i="0" dirty="0">
                <a:solidFill>
                  <a:srgbClr val="000000"/>
                </a:solidFill>
                <a:latin typeface="DejaVu Sans Mono" panose="020B0609030804020204" pitchFamily="49" charset="0"/>
              </a:rPr>
              <a:t>*</a:t>
            </a:r>
            <a:r>
              <a:rPr lang="en-US" altLang="zh-CN" sz="1800" b="0" i="0" dirty="0" err="1">
                <a:solidFill>
                  <a:srgbClr val="000000"/>
                </a:solidFill>
                <a:latin typeface="DejaVu Sans Mono" panose="020B0609030804020204" pitchFamily="49" charset="0"/>
              </a:rPr>
              <a:t>pTopicName</a:t>
            </a:r>
            <a:r>
              <a:rPr lang="en-US" altLang="zh-CN" sz="1800" b="0" i="0" dirty="0">
                <a:solidFill>
                  <a:srgbClr val="000000"/>
                </a:solidFill>
                <a:latin typeface="DejaVu Sans Mono" panose="020B0609030804020204" pitchFamily="49" charset="0"/>
              </a:rPr>
              <a:t>, </a:t>
            </a:r>
            <a:r>
              <a:rPr lang="en-US" altLang="zh-CN" sz="1800" b="0" i="0" dirty="0">
                <a:solidFill>
                  <a:srgbClr val="371F80"/>
                </a:solidFill>
                <a:latin typeface="DejaVu Sans Mono" panose="020B0609030804020204" pitchFamily="49" charset="0"/>
              </a:rPr>
              <a:t>int32_t </a:t>
            </a:r>
            <a:r>
              <a:rPr lang="en-US" altLang="zh-CN" sz="1800" b="0" i="0" dirty="0" err="1">
                <a:solidFill>
                  <a:srgbClr val="000000"/>
                </a:solidFill>
                <a:latin typeface="DejaVu Sans Mono" panose="020B0609030804020204" pitchFamily="49" charset="0"/>
              </a:rPr>
              <a:t>vgId</a:t>
            </a:r>
            <a:r>
              <a:rPr lang="en-US" altLang="zh-CN" sz="1800" b="0" i="0" dirty="0">
                <a:solidFill>
                  <a:srgbClr val="000000"/>
                </a:solidFill>
                <a:latin typeface="DejaVu Sans Mono" panose="020B0609030804020204" pitchFamily="49" charset="0"/>
              </a:rPr>
              <a:t>, </a:t>
            </a:r>
            <a:r>
              <a:rPr lang="en-US" altLang="zh-CN" sz="1800" b="0" i="0" dirty="0">
                <a:solidFill>
                  <a:srgbClr val="371F80"/>
                </a:solidFill>
                <a:latin typeface="DejaVu Sans Mono" panose="020B0609030804020204" pitchFamily="49" charset="0"/>
              </a:rPr>
              <a:t>int64_t </a:t>
            </a:r>
            <a:r>
              <a:rPr lang="en-US" altLang="zh-CN" sz="1800" b="0" i="0" dirty="0">
                <a:solidFill>
                  <a:srgbClr val="000000"/>
                </a:solidFill>
                <a:latin typeface="DejaVu Sans Mono" panose="020B0609030804020204" pitchFamily="49" charset="0"/>
              </a:rPr>
              <a:t>offset);</a:t>
            </a:r>
          </a:p>
          <a:p>
            <a:pPr lvl="2" eaLnBrk="1" hangingPunct="1"/>
            <a:endParaRPr lang="en-US" altLang="zh-C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消息队列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编程接口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C </a:t>
            </a:r>
            <a:r>
              <a:rPr lang="zh-CN" altLang="en-US" dirty="0"/>
              <a:t>原生接口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Java </a:t>
            </a:r>
            <a:r>
              <a:rPr lang="zh-CN" altLang="en-US" dirty="0"/>
              <a:t>连接器（</a:t>
            </a:r>
            <a:r>
              <a:rPr lang="en-US" altLang="zh-CN" dirty="0"/>
              <a:t>Native</a:t>
            </a:r>
            <a:r>
              <a:rPr lang="zh-CN" altLang="en-US" dirty="0"/>
              <a:t>连接，</a:t>
            </a:r>
            <a:r>
              <a:rPr lang="en-US" altLang="zh-CN" dirty="0"/>
              <a:t>WebSocket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Go </a:t>
            </a:r>
            <a:r>
              <a:rPr lang="zh-CN" altLang="en-US" dirty="0"/>
              <a:t>连接器 （</a:t>
            </a:r>
            <a:r>
              <a:rPr lang="en-US" altLang="zh-CN" dirty="0"/>
              <a:t>Native/WebSocket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Python </a:t>
            </a:r>
            <a:r>
              <a:rPr lang="zh-CN" altLang="en-US" dirty="0"/>
              <a:t>连接器（</a:t>
            </a:r>
            <a:r>
              <a:rPr lang="en-US" altLang="zh-CN" dirty="0"/>
              <a:t>Native/WebSocket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Rust </a:t>
            </a:r>
            <a:r>
              <a:rPr lang="zh-CN" altLang="en-US" dirty="0"/>
              <a:t>连接器 （</a:t>
            </a:r>
            <a:r>
              <a:rPr lang="en-US" altLang="zh-CN" dirty="0"/>
              <a:t>Native/WebSocket</a:t>
            </a:r>
            <a:r>
              <a:rPr lang="zh-CN" altLang="en-US" dirty="0"/>
              <a:t>）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消息队列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在</a:t>
            </a:r>
            <a:r>
              <a:rPr lang="en-US" altLang="zh-CN" dirty="0"/>
              <a:t> </a:t>
            </a:r>
            <a:r>
              <a:rPr lang="en-US" altLang="zh-CN" dirty="0" err="1"/>
              <a:t>performance_schema</a:t>
            </a:r>
            <a:r>
              <a:rPr lang="en-US" altLang="zh-CN" dirty="0"/>
              <a:t> </a:t>
            </a:r>
            <a:r>
              <a:rPr lang="zh-CN" altLang="en-US" dirty="0"/>
              <a:t>系统库中为每个 </a:t>
            </a:r>
            <a:r>
              <a:rPr lang="en-US" altLang="zh-CN" dirty="0"/>
              <a:t>topic </a:t>
            </a:r>
            <a:r>
              <a:rPr lang="zh-CN" altLang="en-US" dirty="0"/>
              <a:t>提供了 </a:t>
            </a:r>
            <a:r>
              <a:rPr lang="en-US" altLang="zh-CN" dirty="0"/>
              <a:t>schema </a:t>
            </a:r>
            <a:r>
              <a:rPr lang="zh-CN" altLang="en-US" dirty="0"/>
              <a:t>信息显示</a:t>
            </a: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流计算 </a:t>
            </a:r>
            <a:r>
              <a:rPr lang="en-US" altLang="zh-CN"/>
              <a:t>– Pause/Resume</a:t>
            </a:r>
            <a:endParaRPr lang="zh-CN" altLang="en-US"/>
          </a:p>
        </p:txBody>
      </p:sp>
      <p:sp>
        <p:nvSpPr>
          <p:cNvPr id="7171" name="内容占位符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针对流计算，提供暂停和恢复两个命令。</a:t>
            </a:r>
            <a:endParaRPr lang="en-US" altLang="zh-CN" dirty="0"/>
          </a:p>
          <a:p>
            <a:pPr lvl="1" eaLnBrk="1" hangingPunct="1"/>
            <a:r>
              <a:rPr lang="en-US" altLang="zh-CN" dirty="0">
                <a:latin typeface="Consolas" panose="020B0609020204030204" pitchFamily="49" charset="0"/>
              </a:rPr>
              <a:t>Pause  stream  &lt;</a:t>
            </a:r>
            <a:r>
              <a:rPr lang="en-US" altLang="zh-CN" dirty="0" err="1">
                <a:latin typeface="Consolas" panose="020B0609020204030204" pitchFamily="49" charset="0"/>
              </a:rPr>
              <a:t>stream_name</a:t>
            </a:r>
            <a:r>
              <a:rPr lang="en-US" altLang="zh-CN" dirty="0">
                <a:latin typeface="Consolas" panose="020B0609020204030204" pitchFamily="49" charset="0"/>
              </a:rPr>
              <a:t>&gt;</a:t>
            </a:r>
          </a:p>
          <a:p>
            <a:pPr lvl="1" eaLnBrk="1" hangingPunct="1"/>
            <a:r>
              <a:rPr lang="en-US" altLang="zh-CN" dirty="0">
                <a:latin typeface="Consolas" panose="020B0609020204030204" pitchFamily="49" charset="0"/>
              </a:rPr>
              <a:t>Resume stream [if exists]  [ignore untreated] &lt;</a:t>
            </a:r>
            <a:r>
              <a:rPr lang="en-US" altLang="zh-CN" dirty="0" err="1">
                <a:latin typeface="Consolas" panose="020B0609020204030204" pitchFamily="49" charset="0"/>
              </a:rPr>
              <a:t>stream_name</a:t>
            </a:r>
            <a:r>
              <a:rPr lang="en-US" altLang="zh-CN" dirty="0">
                <a:latin typeface="Consolas" panose="020B0609020204030204" pitchFamily="49" charset="0"/>
              </a:rPr>
              <a:t>&gt;</a:t>
            </a:r>
            <a:endParaRPr lang="zh-CN" altLang="en-US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流计算 </a:t>
            </a:r>
            <a:r>
              <a:rPr lang="en-US" altLang="zh-CN"/>
              <a:t>– </a:t>
            </a:r>
            <a:r>
              <a:rPr lang="zh-CN" altLang="en-US"/>
              <a:t>资源优化</a:t>
            </a:r>
          </a:p>
        </p:txBody>
      </p:sp>
      <p:sp>
        <p:nvSpPr>
          <p:cNvPr id="8195" name="内容占位符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控制计算过程中的内存开销</a:t>
            </a:r>
            <a:endParaRPr lang="en-US" altLang="zh-CN" dirty="0"/>
          </a:p>
          <a:p>
            <a:pPr eaLnBrk="1" hangingPunct="1"/>
            <a:r>
              <a:rPr lang="zh-CN" altLang="en-US" dirty="0"/>
              <a:t>使用</a:t>
            </a:r>
            <a:r>
              <a:rPr lang="en-US" altLang="zh-CN" dirty="0" err="1"/>
              <a:t>RocksDB</a:t>
            </a:r>
            <a:r>
              <a:rPr lang="en-US" altLang="zh-CN" dirty="0"/>
              <a:t> </a:t>
            </a:r>
            <a:r>
              <a:rPr lang="zh-CN" altLang="en-US" dirty="0"/>
              <a:t>存储算子计算过程中的中间状态，降低磁盘存储的开销和</a:t>
            </a:r>
            <a:r>
              <a:rPr lang="en-US" altLang="zh-CN" dirty="0"/>
              <a:t>IO</a:t>
            </a:r>
            <a:r>
              <a:rPr lang="zh-CN" altLang="en-US" dirty="0"/>
              <a:t>资源开销</a:t>
            </a:r>
            <a:endParaRPr lang="en-US" altLang="zh-CN" dirty="0"/>
          </a:p>
          <a:p>
            <a:pPr eaLnBrk="1" hangingPunct="1"/>
            <a:r>
              <a:rPr lang="zh-CN" altLang="en-US" dirty="0"/>
              <a:t>对源算子应用背压模式，避免过大的无限制的内存开销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第二部分</a:t>
            </a:r>
          </a:p>
        </p:txBody>
      </p:sp>
      <p:sp>
        <p:nvSpPr>
          <p:cNvPr id="9219" name="内容占位符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查询相关</a:t>
            </a:r>
            <a:endParaRPr lang="en-US" altLang="zh-CN"/>
          </a:p>
          <a:p>
            <a:pPr eaLnBrk="1" hangingPunct="1"/>
            <a:endParaRPr lang="en-US" altLang="zh-CN"/>
          </a:p>
          <a:p>
            <a:pPr eaLnBrk="1" hangingPunct="1"/>
            <a:r>
              <a:rPr lang="en-US" altLang="zh-CN"/>
              <a:t>@PanWei</a:t>
            </a:r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Python UDF – </a:t>
            </a:r>
            <a:r>
              <a:rPr lang="zh-CN" altLang="en-US"/>
              <a:t>更新</a:t>
            </a:r>
          </a:p>
        </p:txBody>
      </p:sp>
      <p:sp>
        <p:nvSpPr>
          <p:cNvPr id="10243" name="内容占位符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buNone/>
            </a:pPr>
            <a:r>
              <a:rPr lang="zh-CN" altLang="en-US"/>
              <a:t>支持不重启</a:t>
            </a:r>
            <a:r>
              <a:rPr lang="en-US" altLang="zh-CN"/>
              <a:t>taosd</a:t>
            </a:r>
            <a:r>
              <a:rPr lang="zh-CN" altLang="en-US">
                <a:sym typeface="+mn-ea"/>
              </a:rPr>
              <a:t>更新</a:t>
            </a:r>
            <a:r>
              <a:rPr lang="en-US" altLang="zh-CN"/>
              <a:t>Python UDF</a:t>
            </a:r>
            <a:r>
              <a:rPr lang="zh-CN" altLang="en-US"/>
              <a:t>操作</a:t>
            </a:r>
          </a:p>
          <a:p>
            <a:pPr marL="0" indent="0" eaLnBrk="1" hangingPunct="1">
              <a:buNone/>
            </a:pPr>
            <a:r>
              <a:rPr lang="zh-CN" altLang="en-US" sz="2000" i="1"/>
              <a:t>CREATE [OR REPLACE] FUNCTION function_name AS library_path OUTPUTTYPE output_type [LANGUAGE 'C|Python'];</a:t>
            </a:r>
          </a:p>
          <a:p>
            <a:pPr marL="0" indent="0" eaLnBrk="1" hangingPunct="1">
              <a:buNone/>
            </a:pPr>
            <a:endParaRPr lang="zh-CN" altLang="en-US" sz="2000" i="1"/>
          </a:p>
          <a:p>
            <a:pPr eaLnBrk="1" hangingPunct="1"/>
            <a:r>
              <a:rPr lang="zh-CN" sz="2400"/>
              <a:t>如果更新时刻</a:t>
            </a:r>
            <a:r>
              <a:rPr lang="en-US" altLang="zh-CN" sz="2400"/>
              <a:t>UDF</a:t>
            </a:r>
            <a:r>
              <a:rPr lang="zh-CN" altLang="en-US" sz="2400"/>
              <a:t>没有在运行，</a:t>
            </a:r>
            <a:r>
              <a:rPr lang="zh-CN" sz="2400"/>
              <a:t>新版本</a:t>
            </a:r>
            <a:r>
              <a:rPr lang="en-US" altLang="zh-CN" sz="2400"/>
              <a:t>UDF</a:t>
            </a:r>
            <a:r>
              <a:rPr lang="zh-CN" altLang="en-US" sz="2400"/>
              <a:t>会立即生效；</a:t>
            </a:r>
          </a:p>
          <a:p>
            <a:pPr eaLnBrk="1" hangingPunct="1"/>
            <a:r>
              <a:rPr lang="zh-CN" altLang="en-US" sz="2400"/>
              <a:t>如果更新时刻</a:t>
            </a:r>
            <a:r>
              <a:rPr lang="en-US" altLang="zh-CN" sz="2400"/>
              <a:t>UDF</a:t>
            </a:r>
            <a:r>
              <a:rPr lang="zh-CN" altLang="en-US" sz="2400"/>
              <a:t>正在运行，最多</a:t>
            </a:r>
            <a:r>
              <a:rPr lang="en-US" altLang="zh-CN" sz="2400"/>
              <a:t>10</a:t>
            </a:r>
            <a:r>
              <a:rPr lang="zh-CN" altLang="en-US" sz="2400"/>
              <a:t>秒后新版本</a:t>
            </a:r>
            <a:r>
              <a:rPr lang="en-US" altLang="zh-CN" sz="2400"/>
              <a:t>UDF</a:t>
            </a:r>
            <a:r>
              <a:rPr lang="zh-CN" altLang="en-US" sz="2400"/>
              <a:t>会被更新使用；</a:t>
            </a:r>
          </a:p>
          <a:p>
            <a:pPr marL="0" indent="0" eaLnBrk="1" hangingPunct="1">
              <a:buNone/>
            </a:pPr>
            <a:r>
              <a:rPr lang="zh-CN" altLang="en-US" sz="2800"/>
              <a:t>注意：</a:t>
            </a:r>
            <a:r>
              <a:rPr lang="zh-CN" altLang="en-US" sz="2800">
                <a:sym typeface="+mn-ea"/>
              </a:rPr>
              <a:t>如果</a:t>
            </a:r>
            <a:r>
              <a:rPr lang="zh-CN" altLang="en-US" sz="2800"/>
              <a:t>更新时刻一个查询正在使用</a:t>
            </a:r>
            <a:r>
              <a:rPr lang="en-US" altLang="zh-CN" sz="2800"/>
              <a:t>UDF</a:t>
            </a:r>
            <a:r>
              <a:rPr lang="zh-CN" altLang="en-US" sz="2800"/>
              <a:t>，可能会出现部分使用旧版本，部分使用新版本的情况，需要用户</a:t>
            </a:r>
            <a:r>
              <a:rPr lang="en-US" altLang="zh-CN" sz="2800"/>
              <a:t>UDF</a:t>
            </a:r>
            <a:r>
              <a:rPr lang="zh-CN" altLang="en-US" sz="2800"/>
              <a:t>程序保证兼容性或避免这种使用方式。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Interp</a:t>
            </a:r>
            <a:r>
              <a:rPr lang="zh-CN" altLang="en-US">
                <a:sym typeface="+mn-ea"/>
              </a:rPr>
              <a:t>支持超级表运算</a:t>
            </a:r>
            <a:endParaRPr lang="zh-CN" altLang="en-US"/>
          </a:p>
        </p:txBody>
      </p:sp>
      <p:sp>
        <p:nvSpPr>
          <p:cNvPr id="11267" name="内容占位符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800"/>
              <a:t>支持直接对超级表进行插值，超级表所有子表数据按照时间戳排序规约到一条时间线后插值，若合并后存在相同时间戳会报错提示</a:t>
            </a:r>
          </a:p>
          <a:p>
            <a:pPr marL="457200" lvl="1" indent="0" eaLnBrk="1" hangingPunct="1">
              <a:buNone/>
            </a:pPr>
            <a:r>
              <a:rPr lang="zh-CN" altLang="en-US" sz="2100" i="1"/>
              <a:t>SELECT INTERP(c0) FROM stable RANGE(ts1, ts2) EVERY(time_unit) FILL(fill_type);</a:t>
            </a:r>
          </a:p>
          <a:p>
            <a:pPr eaLnBrk="1" hangingPunct="1"/>
            <a:r>
              <a:rPr lang="zh-CN" altLang="en-US" sz="2800"/>
              <a:t>支持对超级表使用partition by 进行分组插值</a:t>
            </a:r>
          </a:p>
          <a:p>
            <a:pPr marL="457200" lvl="1" indent="0" eaLnBrk="1" hangingPunct="1">
              <a:buNone/>
            </a:pPr>
            <a:r>
              <a:rPr lang="zh-CN" altLang="en-US" sz="2100" i="1"/>
              <a:t>SELECT INTERP(c0) FROM stable PARTITION BY tbname RANGE(ts1, ts2) EVERY(time_unit) FILL(fill_type) 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INTERP 支持</a:t>
            </a:r>
            <a:r>
              <a:rPr lang="zh-CN" altLang="en-US">
                <a:sym typeface="+mn-ea"/>
              </a:rPr>
              <a:t>忽略</a:t>
            </a:r>
            <a:r>
              <a:rPr lang="zh-CN" altLang="en-US"/>
              <a:t>NULL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21105"/>
            <a:ext cx="8229600" cy="5239385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400"/>
              <a:t>INTERP支持通过第二个可选函数参数指定是否忽略输入NULL值。默认不忽略，如果ignore_null_value为1则忽略NULL值，否则不忽略。</a:t>
            </a:r>
          </a:p>
          <a:p>
            <a:pPr marL="0" indent="0">
              <a:buNone/>
            </a:pPr>
            <a:r>
              <a:rPr lang="zh-CN" altLang="en-US" sz="2400"/>
              <a:t>举例：</a:t>
            </a:r>
          </a:p>
          <a:p>
            <a:pPr marL="0" indent="0">
              <a:buNone/>
            </a:pPr>
            <a:r>
              <a:rPr lang="zh-CN" altLang="en-US" sz="1600" i="1"/>
              <a:t>insert into t1 values('2023-05-30 14:54:00', 1);</a:t>
            </a:r>
          </a:p>
          <a:p>
            <a:pPr marL="0" indent="0">
              <a:buNone/>
            </a:pPr>
            <a:r>
              <a:rPr lang="zh-CN" altLang="en-US" sz="1600" i="1"/>
              <a:t>insert into t1 values('2023-05-30 14:54:03', NULL);</a:t>
            </a:r>
          </a:p>
          <a:p>
            <a:pPr marL="0" indent="0">
              <a:buNone/>
            </a:pPr>
            <a:r>
              <a:rPr lang="zh-CN" altLang="en-US" sz="1600" i="1"/>
              <a:t>insert into t1 values('2023-05-30 14:54:05', 5);</a:t>
            </a:r>
          </a:p>
          <a:p>
            <a:pPr marL="0" indent="0">
              <a:buNone/>
            </a:pPr>
            <a:r>
              <a:rPr lang="zh-CN" altLang="en-US" sz="1600" i="1"/>
              <a:t>select _irowts, interp(f1, </a:t>
            </a:r>
            <a:r>
              <a:rPr lang="en-US" altLang="zh-CN" sz="1600" i="1"/>
              <a:t>x</a:t>
            </a:r>
            <a:r>
              <a:rPr lang="zh-CN" altLang="en-US" sz="1600" i="1"/>
              <a:t>) from t1 range('2023-05-30 14:54:00','2023-05-30 14:54:05') every(1s) fill(prev);</a:t>
            </a:r>
          </a:p>
          <a:p>
            <a:pPr marL="0" indent="0">
              <a:buNone/>
            </a:pPr>
            <a:r>
              <a:rPr lang="zh-CN" altLang="en-US" sz="2000"/>
              <a:t>不忽略</a:t>
            </a:r>
            <a:r>
              <a:rPr lang="en-US" altLang="zh-CN" sz="2000"/>
              <a:t>NULL</a:t>
            </a:r>
            <a:r>
              <a:rPr lang="zh-CN" altLang="en-US" sz="2000"/>
              <a:t>值查询结果</a:t>
            </a:r>
            <a:r>
              <a:rPr lang="en-US" altLang="zh-CN" sz="2000"/>
              <a:t>                         </a:t>
            </a:r>
            <a:r>
              <a:rPr lang="zh-CN" altLang="en-US" sz="2000"/>
              <a:t>忽略</a:t>
            </a:r>
            <a:r>
              <a:rPr lang="en-US" altLang="zh-CN" sz="2000"/>
              <a:t>NULL</a:t>
            </a:r>
            <a:r>
              <a:rPr lang="zh-CN" altLang="en-US" sz="2000"/>
              <a:t>值查询结果</a:t>
            </a:r>
          </a:p>
          <a:p>
            <a:pPr marL="0" indent="0">
              <a:buNone/>
            </a:pPr>
            <a:r>
              <a:rPr lang="zh-CN" altLang="en-US" sz="1200" i="1"/>
              <a:t> 2023-05-30 14:54:00.000 |           1 |       </a:t>
            </a:r>
            <a:r>
              <a:rPr lang="en-US" altLang="zh-CN" sz="1200" i="1"/>
              <a:t>                                      </a:t>
            </a:r>
            <a:r>
              <a:rPr lang="zh-CN" altLang="en-US" sz="1200" i="1"/>
              <a:t>  2023-05-30 14:54:00.000 |             1 | </a:t>
            </a:r>
          </a:p>
          <a:p>
            <a:pPr marL="0" indent="0">
              <a:buNone/>
            </a:pPr>
            <a:r>
              <a:rPr lang="zh-CN" altLang="en-US" sz="1200" i="1"/>
              <a:t> 2023-05-30 14:54:01.000 |           1 |     </a:t>
            </a:r>
            <a:r>
              <a:rPr lang="en-US" altLang="zh-CN" sz="1200" i="1"/>
              <a:t>                                          </a:t>
            </a:r>
            <a:r>
              <a:rPr lang="zh-CN" altLang="en-US" sz="1200" i="1"/>
              <a:t>2023-05-30 14:54:01.000 |             1 | </a:t>
            </a:r>
          </a:p>
          <a:p>
            <a:pPr marL="0" indent="0">
              <a:buNone/>
            </a:pPr>
            <a:r>
              <a:rPr lang="zh-CN" altLang="en-US" sz="1200" i="1"/>
              <a:t> 2023-05-30 14:54:02.000 |           1 |       </a:t>
            </a:r>
            <a:r>
              <a:rPr lang="en-US" altLang="zh-CN" sz="1200" i="1"/>
              <a:t>                                      </a:t>
            </a:r>
            <a:r>
              <a:rPr lang="zh-CN" altLang="en-US" sz="1200" i="1"/>
              <a:t>  2023-05-30 14:54:02.000 |             1 | </a:t>
            </a:r>
          </a:p>
          <a:p>
            <a:pPr marL="0" indent="0">
              <a:buNone/>
            </a:pPr>
            <a:r>
              <a:rPr lang="zh-CN" altLang="en-US" sz="1200" i="1"/>
              <a:t> 2023-05-30 14:54:03.000 | NULL    |   </a:t>
            </a:r>
            <a:r>
              <a:rPr lang="en-US" altLang="zh-CN" sz="1200" i="1"/>
              <a:t>                                        </a:t>
            </a:r>
            <a:r>
              <a:rPr lang="zh-CN" altLang="en-US" sz="1200" i="1"/>
              <a:t>    2023-05-30 14:54:03.000 |             1 | </a:t>
            </a:r>
          </a:p>
          <a:p>
            <a:pPr marL="0" indent="0">
              <a:buNone/>
            </a:pPr>
            <a:r>
              <a:rPr lang="zh-CN" altLang="en-US" sz="1200" i="1"/>
              <a:t> 2023-05-30 14:54:04.000 | NULL    |         </a:t>
            </a:r>
            <a:r>
              <a:rPr lang="en-US" altLang="zh-CN" sz="1200" i="1"/>
              <a:t>                                      </a:t>
            </a:r>
            <a:r>
              <a:rPr lang="zh-CN" altLang="en-US" sz="1200" i="1"/>
              <a:t>2023-05-30 14:54:04.000 |             1 | </a:t>
            </a:r>
          </a:p>
          <a:p>
            <a:pPr marL="0" indent="0">
              <a:buNone/>
            </a:pPr>
            <a:r>
              <a:rPr lang="zh-CN" altLang="en-US" sz="1200" i="1"/>
              <a:t> 2023-05-30 14:54:05.000 |           5 |         </a:t>
            </a:r>
            <a:r>
              <a:rPr lang="en-US" altLang="zh-CN" sz="1200" i="1"/>
              <a:t>                                      </a:t>
            </a:r>
            <a:r>
              <a:rPr lang="zh-CN" altLang="en-US" sz="1200" i="1"/>
              <a:t>2023-05-30 14:54:05.000 |             5 | </a:t>
            </a:r>
          </a:p>
          <a:p>
            <a:pPr marL="0" indent="0">
              <a:buNone/>
            </a:pPr>
            <a:endParaRPr lang="zh-CN" altLang="en-US" sz="1200" i="1"/>
          </a:p>
          <a:p>
            <a:pPr marL="0" indent="0">
              <a:buNone/>
            </a:pPr>
            <a:r>
              <a:rPr lang="zh-CN" altLang="en-US" sz="1200"/>
              <a:t>备注：目前只支持单列忽略</a:t>
            </a:r>
            <a:r>
              <a:rPr lang="en-US" altLang="zh-CN" sz="1200"/>
              <a:t>NULL</a:t>
            </a:r>
            <a:r>
              <a:rPr lang="zh-CN" altLang="en-US" sz="1200"/>
              <a:t>值，</a:t>
            </a:r>
            <a:r>
              <a:rPr lang="en-US" altLang="zh-CN" sz="1200"/>
              <a:t>select interp(f1,1), interp(f2, 1)</a:t>
            </a:r>
            <a:r>
              <a:rPr lang="zh-CN" altLang="en-US" sz="1200"/>
              <a:t>报错。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最大行长度 </a:t>
            </a:r>
            <a:r>
              <a:rPr lang="en-US" altLang="zh-CN"/>
              <a:t>– 64K</a:t>
            </a:r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65150" y="2348865"/>
            <a:ext cx="7943850" cy="105727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表级权限控制</a:t>
            </a:r>
            <a:r>
              <a:rPr lang="en-US" altLang="zh-CN"/>
              <a:t> - 1</a:t>
            </a:r>
          </a:p>
        </p:txBody>
      </p:sp>
      <p:sp>
        <p:nvSpPr>
          <p:cNvPr id="13315" name="内容占位符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buNone/>
            </a:pPr>
            <a:r>
              <a:rPr lang="zh-CN" altLang="en-US" sz="2000"/>
              <a:t>提供更细粒度权限控制，支持用户权限控制到表级</a:t>
            </a:r>
          </a:p>
          <a:p>
            <a:pPr marL="0" indent="0" eaLnBrk="1" hangingPunct="1">
              <a:buNone/>
            </a:pPr>
            <a:r>
              <a:rPr lang="zh-CN" altLang="en-US" sz="2000"/>
              <a:t>GRANT privileges ON dbname.tbname</a:t>
            </a:r>
            <a:r>
              <a:rPr lang="en-US" altLang="zh-CN" sz="2000"/>
              <a:t>X</a:t>
            </a:r>
            <a:r>
              <a:rPr lang="zh-CN" altLang="en-US" sz="2000"/>
              <a:t> [WITH tag_condition] TO user_name；</a:t>
            </a:r>
          </a:p>
          <a:p>
            <a:pPr marL="0" indent="0" eaLnBrk="1" hangingPunct="1">
              <a:buNone/>
            </a:pPr>
            <a:r>
              <a:rPr lang="zh-CN" altLang="en-US" sz="2000"/>
              <a:t>REVOKE privileges ON </a:t>
            </a:r>
            <a:r>
              <a:rPr lang="zh-CN" altLang="en-US" sz="2000">
                <a:sym typeface="+mn-ea"/>
              </a:rPr>
              <a:t>dbname.tbname</a:t>
            </a:r>
            <a:r>
              <a:rPr lang="en-US" altLang="zh-CN" sz="2000">
                <a:sym typeface="+mn-ea"/>
              </a:rPr>
              <a:t>X</a:t>
            </a:r>
            <a:r>
              <a:rPr lang="zh-CN" altLang="en-US" sz="2000"/>
              <a:t> [WITH tag_condition] FROM user_name</a:t>
            </a:r>
          </a:p>
          <a:p>
            <a:pPr marL="0" indent="0" eaLnBrk="1" hangingPunct="1">
              <a:buNone/>
            </a:pPr>
            <a:endParaRPr lang="zh-CN" altLang="en-US" sz="2000"/>
          </a:p>
          <a:p>
            <a:pPr marL="0" indent="0" eaLnBrk="1" hangingPunct="1">
              <a:buNone/>
            </a:pPr>
            <a:r>
              <a:rPr lang="zh-CN" altLang="en-US" sz="2000"/>
              <a:t>说明：</a:t>
            </a:r>
          </a:p>
          <a:p>
            <a:pPr eaLnBrk="1" hangingPunct="1"/>
            <a:r>
              <a:rPr lang="zh-CN" altLang="en-US" sz="1800">
                <a:sym typeface="+mn-ea"/>
              </a:rPr>
              <a:t>企业版专有功能</a:t>
            </a:r>
          </a:p>
          <a:p>
            <a:pPr eaLnBrk="1" hangingPunct="1"/>
            <a:r>
              <a:rPr lang="zh-CN" altLang="en-US" sz="1800"/>
              <a:t>支持超级表和普通表设置，子表需通过超级表</a:t>
            </a:r>
            <a:r>
              <a:rPr lang="en-US" altLang="zh-CN" sz="1800"/>
              <a:t>+tag</a:t>
            </a:r>
            <a:r>
              <a:rPr lang="zh-CN" altLang="en-US" sz="1800"/>
              <a:t>条件来设置</a:t>
            </a:r>
          </a:p>
          <a:p>
            <a:pPr eaLnBrk="1" hangingPunct="1"/>
            <a:r>
              <a:rPr lang="zh-CN" altLang="en-US" sz="1800"/>
              <a:t>每个表只支持一次授权，如果改动需先</a:t>
            </a:r>
            <a:r>
              <a:rPr lang="en-US" altLang="zh-CN" sz="1800"/>
              <a:t>REVOKE</a:t>
            </a:r>
            <a:r>
              <a:rPr lang="zh-CN" altLang="en-US" sz="1800"/>
              <a:t>再</a:t>
            </a:r>
            <a:r>
              <a:rPr lang="en-US" altLang="zh-CN" sz="1800"/>
              <a:t>GRANT</a:t>
            </a:r>
            <a:r>
              <a:rPr lang="zh-CN" altLang="en-US" sz="1800"/>
              <a:t>实现</a:t>
            </a:r>
            <a:endParaRPr lang="en-US" altLang="zh-CN" sz="1800"/>
          </a:p>
          <a:p>
            <a:pPr eaLnBrk="1" hangingPunct="1"/>
            <a:r>
              <a:rPr lang="zh-CN" altLang="en-US" sz="1800">
                <a:sym typeface="+mn-ea"/>
              </a:rPr>
              <a:t>只支持通过</a:t>
            </a:r>
            <a:r>
              <a:rPr lang="en-US" altLang="zh-CN" sz="1800">
                <a:sym typeface="+mn-ea"/>
              </a:rPr>
              <a:t>SQL</a:t>
            </a:r>
            <a:r>
              <a:rPr lang="zh-CN" altLang="en-US" sz="1800">
                <a:sym typeface="+mn-ea"/>
              </a:rPr>
              <a:t>语句方式进行的鉴权（</a:t>
            </a:r>
            <a:r>
              <a:rPr lang="en-US" altLang="zh-CN" sz="1800">
                <a:sym typeface="+mn-ea"/>
              </a:rPr>
              <a:t>STMT/SCHEMALESS</a:t>
            </a:r>
            <a:r>
              <a:rPr lang="zh-CN" altLang="en-US" sz="1800">
                <a:sym typeface="+mn-ea"/>
              </a:rPr>
              <a:t>暂不支持）</a:t>
            </a:r>
            <a:endParaRPr lang="zh-CN" altLang="en-US" sz="1800"/>
          </a:p>
          <a:p>
            <a:pPr eaLnBrk="1" hangingPunct="1"/>
            <a:r>
              <a:rPr lang="zh-CN" altLang="en-US" sz="1800"/>
              <a:t>只支持</a:t>
            </a:r>
            <a:r>
              <a:rPr lang="en-US" altLang="zh-CN" sz="1800"/>
              <a:t>SELECT</a:t>
            </a:r>
            <a:r>
              <a:rPr lang="zh-CN" altLang="en-US" sz="1800"/>
              <a:t>、</a:t>
            </a:r>
            <a:r>
              <a:rPr lang="en-US" altLang="zh-CN" sz="1800"/>
              <a:t>INSERT</a:t>
            </a:r>
            <a:r>
              <a:rPr lang="zh-CN" altLang="en-US" sz="1800"/>
              <a:t>语句</a:t>
            </a:r>
          </a:p>
          <a:p>
            <a:pPr eaLnBrk="1" hangingPunct="1"/>
            <a:r>
              <a:rPr lang="zh-CN" altLang="en-US" sz="2000"/>
              <a:t>ins_user_privileges系统表新增</a:t>
            </a:r>
            <a:r>
              <a:rPr lang="zh-CN" altLang="en-US" sz="2000">
                <a:sym typeface="+mn-ea"/>
              </a:rPr>
              <a:t>tag_condition列</a:t>
            </a:r>
            <a:endParaRPr lang="zh-CN" altLang="en-US" sz="2000"/>
          </a:p>
          <a:p>
            <a:pPr marL="0" indent="0" eaLnBrk="1" hangingPunct="1">
              <a:buNone/>
            </a:pPr>
            <a:endParaRPr lang="zh-CN" altLang="en-US" sz="2000"/>
          </a:p>
          <a:p>
            <a:pPr marL="0" indent="0" eaLnBrk="1" hangingPunct="1">
              <a:buNone/>
            </a:pPr>
            <a:endParaRPr lang="zh-CN" altLang="en-US" sz="2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表级权限控制</a:t>
            </a:r>
            <a:r>
              <a:rPr lang="en-US" altLang="zh-CN"/>
              <a:t> - 2</a:t>
            </a:r>
          </a:p>
        </p:txBody>
      </p:sp>
      <p:sp>
        <p:nvSpPr>
          <p:cNvPr id="13315" name="内容占位符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buNone/>
            </a:pPr>
            <a:r>
              <a:rPr lang="zh-CN" sz="2000"/>
              <a:t>权限应用规则：</a:t>
            </a:r>
          </a:p>
          <a:p>
            <a:pPr eaLnBrk="1" hangingPunct="1"/>
            <a:r>
              <a:rPr lang="zh-CN" altLang="en-US" sz="2000"/>
              <a:t>表级权限优先于库级权限</a:t>
            </a:r>
          </a:p>
          <a:p>
            <a:pPr eaLnBrk="1" hangingPunct="1"/>
            <a:r>
              <a:rPr lang="zh-CN" altLang="en-US" sz="2000"/>
              <a:t>无表级权限时应用库级权限</a:t>
            </a:r>
          </a:p>
          <a:p>
            <a:pPr marL="0" indent="0" eaLnBrk="1" hangingPunct="1">
              <a:buNone/>
            </a:pPr>
            <a:endParaRPr lang="zh-CN" altLang="en-US" sz="2000"/>
          </a:p>
          <a:p>
            <a:pPr marL="0" indent="0" eaLnBrk="1" hangingPunct="1">
              <a:buNone/>
            </a:pPr>
            <a:endParaRPr lang="zh-CN" altLang="en-US" sz="2000"/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11505" y="2780665"/>
            <a:ext cx="6343650" cy="31813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记录长查询</a:t>
            </a:r>
          </a:p>
        </p:txBody>
      </p:sp>
      <p:sp>
        <p:nvSpPr>
          <p:cNvPr id="14339" name="内容占位符 2"/>
          <p:cNvSpPr>
            <a:spLocks noGrp="1" noChangeArrowheads="1"/>
          </p:cNvSpPr>
          <p:nvPr>
            <p:ph idx="1"/>
          </p:nvPr>
        </p:nvSpPr>
        <p:spPr>
          <a:xfrm>
            <a:off x="457200" y="1355090"/>
            <a:ext cx="8229600" cy="4771390"/>
          </a:xfrm>
        </p:spPr>
        <p:txBody>
          <a:bodyPr/>
          <a:lstStyle/>
          <a:p>
            <a:pPr eaLnBrk="1" hangingPunct="1"/>
            <a:r>
              <a:rPr lang="zh-CN" altLang="en-US" sz="2000"/>
              <a:t>每个客户端在一个语句执行完成后，记录慢查询到日志目录下单独的日志文件taosSlowLog中；</a:t>
            </a:r>
          </a:p>
          <a:p>
            <a:pPr eaLnBrk="1" hangingPunct="1"/>
            <a:r>
              <a:rPr lang="zh-CN" altLang="en-US" sz="2000"/>
              <a:t>记录的内容包括客户端PID、链接ID、查询ID、SQL语句、执行时间、起始时间；</a:t>
            </a:r>
          </a:p>
          <a:p>
            <a:pPr eaLnBrk="1" hangingPunct="1"/>
            <a:r>
              <a:rPr lang="zh-CN" altLang="en-US" sz="2000"/>
              <a:t>慢查询是指任何语句的执行时间（从开始执行到资源释放为止）大于等于N秒，不限于查询语句，N值由配置项slowLogThreshold 指定，默认值是3秒；</a:t>
            </a:r>
          </a:p>
          <a:p>
            <a:pPr eaLnBrk="1" hangingPunct="1"/>
            <a:r>
              <a:rPr lang="zh-CN" altLang="en-US" sz="2000"/>
              <a:t>慢查询记录功能默认启动，可以通过配置项 slowLogScope 来启动/关闭某项或所有慢查询记录；</a:t>
            </a:r>
          </a:p>
          <a:p>
            <a:pPr marL="0" indent="0" eaLnBrk="1" hangingPunct="1">
              <a:buNone/>
            </a:pPr>
            <a:r>
              <a:rPr lang="zh-CN" altLang="en-US" sz="2400"/>
              <a:t>示例：</a:t>
            </a:r>
          </a:p>
          <a:p>
            <a:pPr marL="0" indent="0" eaLnBrk="1" hangingPunct="1">
              <a:buNone/>
            </a:pPr>
            <a:endParaRPr lang="zh-CN" altLang="en-US" sz="1000"/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79705" y="4869180"/>
            <a:ext cx="8764270" cy="63373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客户端缓存控制</a:t>
            </a:r>
          </a:p>
        </p:txBody>
      </p:sp>
      <p:sp>
        <p:nvSpPr>
          <p:cNvPr id="15363" name="内容占位符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2400"/>
              <a:t>解决客户端内存较小而缓存元数据过多后可能造成的 OOM 问题；</a:t>
            </a:r>
          </a:p>
          <a:p>
            <a:pPr eaLnBrk="1" hangingPunct="1"/>
            <a:r>
              <a:rPr lang="zh-CN" altLang="en-US" sz="2400"/>
              <a:t>通过metaCacheMaxSize配置项指定单个客户端元数据缓存大小的最大值（单位：MB），默认为</a:t>
            </a:r>
            <a:r>
              <a:rPr lang="en-US" altLang="zh-CN" sz="2400"/>
              <a:t>-1</a:t>
            </a:r>
            <a:r>
              <a:rPr lang="zh-CN" altLang="en-US" sz="2400"/>
              <a:t>（缓存无限制）；</a:t>
            </a:r>
          </a:p>
          <a:p>
            <a:pPr eaLnBrk="1" hangingPunct="1"/>
            <a:r>
              <a:rPr lang="zh-CN" altLang="en-US" sz="2400"/>
              <a:t>客户端通过定时检测本地元数据缓存占用内存大小，如果超过临界值则分批次优先删除部分子表、普通表的元数据，之后如果内存占用下降到合理值则完成本次清理，如果内存仍然没有下降到合理值，则依次按照DB、Cluster级别继续清理直至内存占用下降到合理值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第三部分</a:t>
            </a:r>
          </a:p>
        </p:txBody>
      </p:sp>
      <p:sp>
        <p:nvSpPr>
          <p:cNvPr id="17411" name="内容占位符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57200" lvl="1" indent="0" eaLnBrk="1" hangingPunct="1">
              <a:buNone/>
            </a:pPr>
            <a:r>
              <a:rPr lang="en-US" altLang="zh-CN" dirty="0"/>
              <a:t>last()/last_row() </a:t>
            </a:r>
            <a:r>
              <a:rPr lang="zh-CN" altLang="en-US" dirty="0"/>
              <a:t>性能优化</a:t>
            </a:r>
          </a:p>
          <a:p>
            <a:pPr marL="457200" lvl="1" indent="0" eaLnBrk="1" hangingPunct="1">
              <a:buNone/>
            </a:pPr>
            <a:endParaRPr lang="zh-CN" altLang="en-US" dirty="0"/>
          </a:p>
          <a:p>
            <a:pPr marL="457200" lvl="1" indent="0" eaLnBrk="1" hangingPunct="1">
              <a:buNone/>
            </a:pPr>
            <a:r>
              <a:rPr lang="en-US" altLang="zh-CN" dirty="0">
                <a:sym typeface="+mn-ea"/>
              </a:rPr>
              <a:t>@JinMinglei</a:t>
            </a:r>
            <a:endParaRPr lang="en-US" altLang="zh-CN" dirty="0"/>
          </a:p>
          <a:p>
            <a:pPr marL="457200" lvl="1" indent="0" eaLnBrk="1" hangingPunct="1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原始问题</a:t>
            </a:r>
          </a:p>
        </p:txBody>
      </p:sp>
      <p:sp>
        <p:nvSpPr>
          <p:cNvPr id="17411" name="内容占位符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57200" lvl="1" indent="0" eaLnBrk="1" hangingPunct="1">
              <a:buNone/>
            </a:pPr>
            <a:r>
              <a:rPr lang="en-US" altLang="zh-CN" sz="2000" dirty="0"/>
              <a:t>last()/last_row() </a:t>
            </a:r>
            <a:r>
              <a:rPr lang="zh-CN" altLang="en-US" sz="2000" dirty="0"/>
              <a:t>在查询时才构建缓存，简称为读驱动。带来的问题有：</a:t>
            </a:r>
          </a:p>
          <a:p>
            <a:pPr marL="457200" lvl="1" indent="0" eaLnBrk="1" hangingPunct="1">
              <a:buNone/>
            </a:pPr>
            <a:r>
              <a:rPr lang="en-US" altLang="zh-CN" sz="2000" dirty="0"/>
              <a:t>1. </a:t>
            </a:r>
            <a:r>
              <a:rPr lang="zh-CN" altLang="en-US" sz="2000" dirty="0"/>
              <a:t>系统冷启动之后的查询性能过于低下，达到几十上百秒的量级，无法满足业务需求</a:t>
            </a:r>
          </a:p>
          <a:p>
            <a:pPr marL="0" lvl="1" indent="457200" eaLnBrk="1" hangingPunct="1">
              <a:buNone/>
            </a:pPr>
            <a:r>
              <a:rPr lang="en-US" altLang="zh-CN" sz="2000" dirty="0"/>
              <a:t>2. </a:t>
            </a:r>
            <a:r>
              <a:rPr lang="zh-CN" altLang="en-US" sz="2000" dirty="0"/>
              <a:t>系统启动后经过多次查询后，查询性能能够满足业务需求，但这个过程中</a:t>
            </a:r>
            <a:r>
              <a:rPr lang="zh-CN" altLang="en-US" sz="2000" dirty="0">
                <a:sym typeface="+mn-ea"/>
              </a:rPr>
              <a:t>产品行为的不确定性</a:t>
            </a:r>
            <a:r>
              <a:rPr lang="zh-CN" altLang="en-US" sz="2000" dirty="0"/>
              <a:t>带给用户的体验比较糟糕，这个过程与具体的查询行为也有关系，没有规律可循。</a:t>
            </a:r>
          </a:p>
          <a:p>
            <a:pPr marL="0" lvl="1" indent="457200" eaLnBrk="1" hangingPunct="1">
              <a:buNone/>
            </a:pPr>
            <a:r>
              <a:rPr lang="en-US" altLang="zh-CN" sz="2000" dirty="0"/>
              <a:t>3. </a:t>
            </a:r>
            <a:r>
              <a:rPr lang="zh-CN" altLang="en-US" sz="2000" dirty="0"/>
              <a:t>多副本模式下如果发生切主，则查询性能和系统冷启动之后一样，因为新的</a:t>
            </a:r>
            <a:r>
              <a:rPr lang="en-US" altLang="zh-CN" sz="2000" dirty="0"/>
              <a:t> Leader </a:t>
            </a:r>
            <a:r>
              <a:rPr lang="zh-CN" altLang="en-US" sz="2000" dirty="0"/>
              <a:t>（原先是</a:t>
            </a:r>
            <a:r>
              <a:rPr lang="en-US" altLang="zh-CN" sz="2000" dirty="0"/>
              <a:t>Follower</a:t>
            </a:r>
            <a:r>
              <a:rPr lang="zh-CN" altLang="en-US" sz="2000" dirty="0"/>
              <a:t>上）要重新构建缓存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解决方案</a:t>
            </a:r>
          </a:p>
        </p:txBody>
      </p:sp>
      <p:sp>
        <p:nvSpPr>
          <p:cNvPr id="17411" name="内容占位符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57200" lvl="1" indent="0" eaLnBrk="1" hangingPunct="1">
              <a:buNone/>
            </a:pPr>
            <a:r>
              <a:rPr lang="en-US" altLang="zh-CN" sz="2000" dirty="0"/>
              <a:t>1. </a:t>
            </a:r>
            <a:r>
              <a:rPr lang="zh-CN" altLang="en-US" sz="2000" dirty="0"/>
              <a:t>将</a:t>
            </a:r>
            <a:r>
              <a:rPr lang="en-US" altLang="zh-CN" sz="2000" dirty="0"/>
              <a:t> last </a:t>
            </a:r>
            <a:r>
              <a:rPr lang="zh-CN" altLang="en-US" sz="2000" dirty="0"/>
              <a:t>缓存由读驱动改为写驱动，即在数据写入时就更新缓存，任何时候查询缓存都是可用状态</a:t>
            </a:r>
          </a:p>
          <a:p>
            <a:pPr marL="457200" lvl="1" indent="0" eaLnBrk="1" hangingPunct="1">
              <a:buNone/>
            </a:pPr>
            <a:r>
              <a:rPr lang="en-US" altLang="zh-CN" sz="2000" dirty="0"/>
              <a:t>2. </a:t>
            </a:r>
            <a:r>
              <a:rPr lang="zh-CN" altLang="en-US" sz="2000" dirty="0"/>
              <a:t>将</a:t>
            </a:r>
            <a:r>
              <a:rPr lang="en-US" altLang="zh-CN" sz="2000" dirty="0"/>
              <a:t> last </a:t>
            </a:r>
            <a:r>
              <a:rPr lang="zh-CN" altLang="en-US" sz="2000" dirty="0"/>
              <a:t>缓存持久化存储，在系统冷启动后也能够立即可用</a:t>
            </a:r>
          </a:p>
          <a:p>
            <a:pPr marL="457200" lvl="1" indent="0" eaLnBrk="1" hangingPunct="1">
              <a:buNone/>
            </a:pPr>
            <a:r>
              <a:rPr lang="en-US" altLang="zh-CN" sz="2000" dirty="0"/>
              <a:t>3. Follower </a:t>
            </a:r>
            <a:r>
              <a:rPr lang="zh-CN" altLang="en-US" sz="2000" dirty="0"/>
              <a:t>与</a:t>
            </a:r>
            <a:r>
              <a:rPr lang="en-US" altLang="zh-CN" sz="2000" dirty="0"/>
              <a:t> Leader </a:t>
            </a:r>
            <a:r>
              <a:rPr lang="zh-CN" altLang="en-US" sz="2000" dirty="0"/>
              <a:t>保持一样的行为，在写入时构建缓存，当发生切主后性能不受影响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last()/last_row() </a:t>
            </a:r>
            <a:r>
              <a:rPr lang="zh-CN" altLang="en-US"/>
              <a:t>性能优化</a:t>
            </a:r>
          </a:p>
        </p:txBody>
      </p:sp>
      <p:sp>
        <p:nvSpPr>
          <p:cNvPr id="16387" name="内容占位符 2"/>
          <p:cNvSpPr>
            <a:spLocks noGrp="1" noChangeArrowheads="1"/>
          </p:cNvSpPr>
          <p:nvPr>
            <p:ph idx="1"/>
          </p:nvPr>
        </p:nvSpPr>
        <p:spPr>
          <a:xfrm>
            <a:off x="457200" y="1262380"/>
            <a:ext cx="8340725" cy="4864100"/>
          </a:xfrm>
        </p:spPr>
        <p:txBody>
          <a:bodyPr/>
          <a:lstStyle/>
          <a:p>
            <a:pPr eaLnBrk="1" hangingPunct="1"/>
            <a:r>
              <a:rPr lang="zh-CN" altLang="en-US" sz="2000"/>
              <a:t>场景</a:t>
            </a:r>
            <a:r>
              <a:rPr lang="en-US" altLang="zh-CN" sz="2000"/>
              <a:t>1</a:t>
            </a:r>
            <a:r>
              <a:rPr lang="zh-CN" altLang="en-US" sz="2000"/>
              <a:t>：</a:t>
            </a:r>
            <a:r>
              <a:rPr lang="en-US" altLang="zh-CN" sz="2000"/>
              <a:t>3.0.5.0 </a:t>
            </a:r>
            <a:r>
              <a:rPr lang="zh-CN" altLang="en-US" sz="2000"/>
              <a:t>【数据边写入边缓存】</a:t>
            </a:r>
          </a:p>
          <a:p>
            <a:pPr eaLnBrk="1" hangingPunct="1"/>
            <a:r>
              <a:rPr lang="zh-CN" altLang="en-US" sz="2000"/>
              <a:t> </a:t>
            </a:r>
            <a:r>
              <a:rPr lang="en-US" altLang="zh-CN" sz="2000"/>
              <a:t>           VS main  </a:t>
            </a:r>
            <a:r>
              <a:rPr lang="zh-CN" altLang="en-US" sz="2000"/>
              <a:t>【数据查询时才缓存】</a:t>
            </a:r>
            <a:endParaRPr lang="en-US" altLang="zh-CN" sz="2000"/>
          </a:p>
          <a:p>
            <a:pPr eaLnBrk="1" hangingPunct="1"/>
            <a:endParaRPr lang="zh-CN" altLang="en-US" sz="2000"/>
          </a:p>
          <a:p>
            <a:pPr eaLnBrk="1" hangingPunct="1"/>
            <a:r>
              <a:rPr lang="zh-CN" altLang="en-US" sz="2000"/>
              <a:t>数据来源：https://github.com/taosdata/TDengine/issues/21441</a:t>
            </a:r>
          </a:p>
          <a:p>
            <a:pPr eaLnBrk="1" hangingPunct="1"/>
            <a:endParaRPr lang="zh-CN" altLang="en-US" sz="2000"/>
          </a:p>
          <a:p>
            <a:pPr eaLnBrk="1" hangingPunct="1"/>
            <a:r>
              <a:rPr lang="zh-CN" altLang="en-US" sz="2000"/>
              <a:t>数据是由taosBenchmark 生成100万张子表，每个子表100行数据。</a:t>
            </a:r>
          </a:p>
          <a:p>
            <a:pPr eaLnBrk="1" hangingPunct="1"/>
            <a:endParaRPr lang="zh-CN" altLang="en-US" sz="2000"/>
          </a:p>
          <a:p>
            <a:pPr eaLnBrk="1" hangingPunct="1"/>
            <a:r>
              <a:rPr lang="zh-CN" altLang="en-US" sz="2000"/>
              <a:t>查询</a:t>
            </a:r>
            <a:r>
              <a:rPr lang="en-US" altLang="zh-CN" sz="2000"/>
              <a:t>sql</a:t>
            </a:r>
            <a:r>
              <a:rPr lang="zh-CN" altLang="en-US" sz="2000"/>
              <a:t>：select cc,sum(val) from (select cc,last(d_count) as val from meters  group by tbname) group by cc ORDER BY cc ASC;</a:t>
            </a:r>
          </a:p>
          <a:p>
            <a:pPr eaLnBrk="1" hangingPunct="1"/>
            <a:endParaRPr lang="en-US" altLang="zh-CN" sz="2000"/>
          </a:p>
          <a:p>
            <a:pPr eaLnBrk="1" hangingPunct="1"/>
            <a:r>
              <a:rPr lang="en-US" altLang="zh-CN" sz="2000"/>
              <a:t>3.0.5.0  cost</a:t>
            </a:r>
            <a:r>
              <a:rPr lang="zh-CN" altLang="en-US" sz="2000"/>
              <a:t>：</a:t>
            </a:r>
            <a:r>
              <a:rPr lang="en-US" altLang="zh-CN" sz="2000" b="1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4.7s</a:t>
            </a:r>
            <a:r>
              <a:rPr lang="en-US" altLang="zh-CN" sz="2000"/>
              <a:t>    </a:t>
            </a:r>
          </a:p>
          <a:p>
            <a:pPr eaLnBrk="1" hangingPunct="1"/>
            <a:r>
              <a:rPr lang="en-US" altLang="zh-CN" sz="2000"/>
              <a:t>main cost</a:t>
            </a:r>
            <a:r>
              <a:rPr lang="zh-CN" altLang="en-US" sz="2000"/>
              <a:t>：</a:t>
            </a:r>
            <a:r>
              <a:rPr lang="en-US" altLang="zh-CN" sz="2000" b="1">
                <a:solidFill>
                  <a:srgbClr val="FF0000"/>
                </a:solidFill>
              </a:rPr>
              <a:t>106s</a:t>
            </a:r>
            <a:r>
              <a:rPr lang="zh-CN" altLang="en-US" sz="2000" b="1">
                <a:solidFill>
                  <a:srgbClr val="FF0000"/>
                </a:solidFill>
              </a:rPr>
              <a:t>。</a:t>
            </a:r>
            <a:endParaRPr lang="zh-CN" altLang="en-US" sz="2000"/>
          </a:p>
          <a:p>
            <a:pPr eaLnBrk="1" hangingPunct="1"/>
            <a:endParaRPr lang="zh-CN" altLang="en-US" sz="1400"/>
          </a:p>
          <a:p>
            <a:pPr eaLnBrk="1" hangingPunct="1"/>
            <a:endParaRPr lang="zh-CN" altLang="en-US" sz="14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last()/last_row() </a:t>
            </a:r>
            <a:r>
              <a:rPr lang="zh-CN" altLang="en-US"/>
              <a:t>性能优化</a:t>
            </a:r>
          </a:p>
        </p:txBody>
      </p:sp>
      <p:sp>
        <p:nvSpPr>
          <p:cNvPr id="16387" name="内容占位符 2"/>
          <p:cNvSpPr>
            <a:spLocks noGrp="1" noChangeArrowheads="1"/>
          </p:cNvSpPr>
          <p:nvPr>
            <p:ph idx="1"/>
          </p:nvPr>
        </p:nvSpPr>
        <p:spPr>
          <a:xfrm>
            <a:off x="457200" y="1262380"/>
            <a:ext cx="8340725" cy="5231765"/>
          </a:xfrm>
        </p:spPr>
        <p:txBody>
          <a:bodyPr/>
          <a:lstStyle/>
          <a:p>
            <a:pPr eaLnBrk="1" hangingPunct="1"/>
            <a:endParaRPr lang="zh-CN" altLang="en-US" sz="1400"/>
          </a:p>
          <a:p>
            <a:pPr eaLnBrk="1" hangingPunct="1"/>
            <a:r>
              <a:rPr lang="zh-CN" altLang="en-US" sz="1800"/>
              <a:t>场景</a:t>
            </a:r>
            <a:r>
              <a:rPr lang="en-US" altLang="zh-CN" sz="1800"/>
              <a:t>2:   </a:t>
            </a:r>
            <a:r>
              <a:rPr lang="zh-CN" altLang="en-US" sz="1800"/>
              <a:t>不同版本的查询耗时优化</a:t>
            </a:r>
          </a:p>
          <a:p>
            <a:pPr eaLnBrk="1" hangingPunct="1"/>
            <a:r>
              <a:rPr lang="zh-CN" altLang="en-US" sz="1400"/>
              <a:t>场景来源：长庆油田，查询</a:t>
            </a:r>
            <a:r>
              <a:rPr lang="en-US" altLang="zh-CN" sz="1400"/>
              <a:t>last</a:t>
            </a:r>
            <a:r>
              <a:rPr lang="zh-CN" altLang="en-US" sz="1400"/>
              <a:t>慢</a:t>
            </a:r>
          </a:p>
          <a:p>
            <a:pPr eaLnBrk="1" hangingPunct="1"/>
            <a:r>
              <a:rPr lang="zh-CN" altLang="en-US" sz="1400"/>
              <a:t>数据背景：</a:t>
            </a:r>
            <a:r>
              <a:rPr lang="en-US" sz="1400"/>
              <a:t>600w</a:t>
            </a:r>
            <a:r>
              <a:rPr lang="zh-CN" altLang="en-US" sz="1400"/>
              <a:t>子表，</a:t>
            </a:r>
            <a:r>
              <a:rPr lang="en-US" altLang="zh-CN" sz="1400"/>
              <a:t>1.2</a:t>
            </a:r>
            <a:r>
              <a:rPr lang="zh-CN" altLang="en-US" sz="1400"/>
              <a:t>亿数据量。</a:t>
            </a:r>
          </a:p>
          <a:p>
            <a:pPr eaLnBrk="1" hangingPunct="1"/>
            <a:r>
              <a:rPr lang="zh-CN" altLang="en-US" sz="1400"/>
              <a:t>查询</a:t>
            </a:r>
            <a:r>
              <a:rPr lang="en-US" altLang="zh-CN" sz="1400"/>
              <a:t>sql</a:t>
            </a:r>
            <a:r>
              <a:rPr lang="zh-CN" altLang="en-US" sz="1400"/>
              <a:t>：</a:t>
            </a:r>
            <a:r>
              <a:rPr lang="zh-CN" altLang="en-US" sz="1400">
                <a:sym typeface="+mn-ea"/>
              </a:rPr>
              <a:t>select last（</a:t>
            </a:r>
            <a:r>
              <a:rPr lang="en-US" altLang="zh-CN" sz="1400">
                <a:sym typeface="+mn-ea"/>
              </a:rPr>
              <a:t>*</a:t>
            </a:r>
            <a:r>
              <a:rPr lang="zh-CN" altLang="en-US" sz="1400">
                <a:sym typeface="+mn-ea"/>
              </a:rPr>
              <a:t>） from meters; </a:t>
            </a:r>
            <a:endParaRPr lang="zh-CN" altLang="en-US" sz="1400"/>
          </a:p>
          <a:p>
            <a:pPr eaLnBrk="1" hangingPunct="1"/>
            <a:r>
              <a:rPr lang="zh-CN" altLang="en-US" sz="1400"/>
              <a:t>分四组对比结果：</a:t>
            </a:r>
          </a:p>
          <a:p>
            <a:pPr eaLnBrk="1" hangingPunct="1"/>
            <a:r>
              <a:rPr lang="zh-CN" altLang="en-US" sz="1400"/>
              <a:t>第一组：小玉明磊出差长庆之前的结果</a:t>
            </a:r>
          </a:p>
          <a:p>
            <a:pPr eaLnBrk="1" hangingPunct="1"/>
            <a:r>
              <a:rPr lang="zh-CN" altLang="en-US" sz="1400"/>
              <a:t>第一次：</a:t>
            </a:r>
            <a:r>
              <a:rPr lang="zh-CN" altLang="en-US" sz="1400" b="1">
                <a:solidFill>
                  <a:srgbClr val="FF0000"/>
                </a:solidFill>
              </a:rPr>
              <a:t>39.53s</a:t>
            </a:r>
            <a:r>
              <a:rPr lang="zh-CN" altLang="en-US" sz="1400"/>
              <a:t>，第二次：0.05s。数据全部缓存完之后，查询稳定在0.05s左右。</a:t>
            </a:r>
          </a:p>
          <a:p>
            <a:pPr eaLnBrk="1" hangingPunct="1"/>
            <a:r>
              <a:rPr lang="zh-CN" altLang="en-US" sz="1400"/>
              <a:t> </a:t>
            </a:r>
          </a:p>
          <a:p>
            <a:pPr eaLnBrk="1" hangingPunct="1"/>
            <a:r>
              <a:rPr lang="zh-CN" altLang="en-US" sz="1400"/>
              <a:t>第二组：小玉明磊在长庆优化的结果</a:t>
            </a:r>
          </a:p>
          <a:p>
            <a:pPr eaLnBrk="1" hangingPunct="1"/>
            <a:r>
              <a:rPr lang="zh-CN" altLang="en-US" sz="1400"/>
              <a:t>第一次：0.55s，第二次：0.55s。数据全部缓存完之后，查询</a:t>
            </a:r>
            <a:r>
              <a:rPr lang="zh-CN" altLang="en-US" sz="1400">
                <a:sym typeface="+mn-ea"/>
              </a:rPr>
              <a:t>稳定</a:t>
            </a:r>
            <a:r>
              <a:rPr lang="zh-CN" altLang="en-US" sz="1400"/>
              <a:t>在0.05s左右。</a:t>
            </a:r>
          </a:p>
          <a:p>
            <a:pPr eaLnBrk="1" hangingPunct="1"/>
            <a:r>
              <a:rPr lang="zh-CN" altLang="en-US" sz="1400"/>
              <a:t> </a:t>
            </a:r>
          </a:p>
          <a:p>
            <a:pPr eaLnBrk="1" hangingPunct="1"/>
            <a:r>
              <a:rPr lang="zh-CN" altLang="en-US" sz="1400"/>
              <a:t>第三组：明磊在</a:t>
            </a:r>
            <a:r>
              <a:rPr lang="en-US" altLang="zh-CN" sz="1400"/>
              <a:t>3.0.5.0</a:t>
            </a:r>
            <a:r>
              <a:rPr lang="zh-CN" altLang="en-US" sz="1400"/>
              <a:t>调测的结果</a:t>
            </a:r>
          </a:p>
          <a:p>
            <a:pPr eaLnBrk="1" hangingPunct="1"/>
            <a:r>
              <a:rPr lang="zh-CN" altLang="en-US" sz="1400"/>
              <a:t>第一次：2.28s，第二次：2.31s。</a:t>
            </a:r>
            <a:r>
              <a:rPr lang="zh-CN" altLang="en-US" sz="1400">
                <a:sym typeface="+mn-ea"/>
              </a:rPr>
              <a:t>数据全部缓存完之后，查询稳定在0.112s左右。</a:t>
            </a:r>
            <a:endParaRPr lang="zh-CN" altLang="en-US" sz="1400"/>
          </a:p>
          <a:p>
            <a:pPr eaLnBrk="1" hangingPunct="1"/>
            <a:r>
              <a:rPr lang="zh-CN" altLang="en-US" sz="1400"/>
              <a:t>原因：因为以前是按行，现在是按列【本次测试一共18列】，所以last*的话，列越多查询一次的时间越长，所以会比以前的查询要长一些。</a:t>
            </a:r>
          </a:p>
          <a:p>
            <a:pPr eaLnBrk="1" hangingPunct="1"/>
            <a:r>
              <a:rPr lang="zh-CN" altLang="en-US" sz="1400"/>
              <a:t> </a:t>
            </a:r>
          </a:p>
          <a:p>
            <a:pPr eaLnBrk="1" hangingPunct="1"/>
            <a:r>
              <a:rPr lang="zh-CN" altLang="en-US" sz="1400"/>
              <a:t>第四组：</a:t>
            </a:r>
            <a:r>
              <a:rPr lang="zh-CN" altLang="en-US" sz="1400">
                <a:sym typeface="+mn-ea"/>
              </a:rPr>
              <a:t>明磊在</a:t>
            </a:r>
            <a:r>
              <a:rPr lang="en-US" altLang="zh-CN" sz="1400">
                <a:sym typeface="+mn-ea"/>
              </a:rPr>
              <a:t>3.0.5.0</a:t>
            </a:r>
            <a:r>
              <a:rPr lang="zh-CN" altLang="en-US" sz="1400"/>
              <a:t>调测的结果</a:t>
            </a:r>
          </a:p>
          <a:p>
            <a:pPr eaLnBrk="1" hangingPunct="1"/>
            <a:r>
              <a:rPr lang="zh-CN" altLang="en-US" sz="1400"/>
              <a:t>第一次：</a:t>
            </a:r>
            <a:r>
              <a:rPr lang="zh-CN" altLang="en-US" sz="1400" b="1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0.63s</a:t>
            </a:r>
            <a:r>
              <a:rPr lang="zh-CN" altLang="en-US" sz="1400" b="1"/>
              <a:t>，</a:t>
            </a:r>
            <a:r>
              <a:rPr lang="zh-CN" altLang="en-US" sz="1400"/>
              <a:t>第二次：0.61s=====此组改成单列查询（</a:t>
            </a:r>
            <a:r>
              <a:rPr lang="en-US" altLang="zh-CN" sz="1400"/>
              <a:t>select last(ts) from meters</a:t>
            </a:r>
            <a:r>
              <a:rPr lang="zh-CN" altLang="en-US" sz="1400"/>
              <a:t>）。</a:t>
            </a:r>
          </a:p>
          <a:p>
            <a:pPr eaLnBrk="1" hangingPunct="1"/>
            <a:r>
              <a:rPr lang="zh-CN" altLang="en-US" sz="1400"/>
              <a:t>数据全部缓存完之后，查询稳定在</a:t>
            </a:r>
            <a:r>
              <a:rPr lang="zh-CN" altLang="en-US" sz="1400" b="1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0.019s</a:t>
            </a:r>
            <a:r>
              <a:rPr lang="zh-CN" altLang="en-US" sz="1400"/>
              <a:t>左右。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第三部分</a:t>
            </a:r>
          </a:p>
        </p:txBody>
      </p:sp>
      <p:sp>
        <p:nvSpPr>
          <p:cNvPr id="17411" name="内容占位符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集群优化</a:t>
            </a:r>
          </a:p>
          <a:p>
            <a:pPr lvl="1" eaLnBrk="1" hangingPunct="1"/>
            <a:r>
              <a:rPr lang="en-US" altLang="zh-CN" dirty="0"/>
              <a:t>Raft learner</a:t>
            </a:r>
          </a:p>
          <a:p>
            <a:pPr lvl="1" eaLnBrk="1" hangingPunct="1"/>
            <a:r>
              <a:rPr lang="en-US" altLang="zh-CN" dirty="0"/>
              <a:t>Restore </a:t>
            </a:r>
            <a:r>
              <a:rPr lang="en-US" altLang="zh-CN" dirty="0" err="1"/>
              <a:t>dnode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Force drop </a:t>
            </a:r>
            <a:r>
              <a:rPr lang="en-US" altLang="zh-CN" dirty="0" err="1"/>
              <a:t>dnode</a:t>
            </a:r>
          </a:p>
          <a:p>
            <a:pPr lvl="1" eaLnBrk="1" hangingPunct="1"/>
            <a:endParaRPr lang="zh-CN" altLang="en-US" dirty="0"/>
          </a:p>
          <a:p>
            <a:pPr marL="457200" lvl="1" indent="0" eaLnBrk="1" hangingPunct="1">
              <a:buNone/>
            </a:pPr>
            <a:endParaRPr lang="zh-CN" altLang="en-US" dirty="0"/>
          </a:p>
          <a:p>
            <a:pPr marL="457200" lvl="1" indent="0" eaLnBrk="1" hangingPunct="1">
              <a:buNone/>
            </a:pPr>
            <a:r>
              <a:rPr lang="en-US" altLang="zh-CN" dirty="0">
                <a:sym typeface="+mn-ea"/>
              </a:rPr>
              <a:t>@ChenDongming</a:t>
            </a:r>
            <a:endParaRPr lang="en-US" altLang="zh-CN" dirty="0"/>
          </a:p>
          <a:p>
            <a:pPr marL="457200" lvl="1" indent="0" eaLnBrk="1" hangingPunct="1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RAFT Learner</a:t>
            </a:r>
            <a:endParaRPr lang="zh-CN" altLang="en-US" dirty="0"/>
          </a:p>
        </p:txBody>
      </p:sp>
      <p:sp>
        <p:nvSpPr>
          <p:cNvPr id="18435" name="内容占位符 2"/>
          <p:cNvSpPr>
            <a:spLocks noGrp="1" noChangeArrowheads="1"/>
          </p:cNvSpPr>
          <p:nvPr>
            <p:ph idx="1"/>
          </p:nvPr>
        </p:nvSpPr>
        <p:spPr>
          <a:xfrm>
            <a:off x="457200" y="1600201"/>
            <a:ext cx="7787208" cy="4133056"/>
          </a:xfrm>
        </p:spPr>
        <p:txBody>
          <a:bodyPr/>
          <a:lstStyle/>
          <a:p>
            <a:pPr eaLnBrk="1" hangingPunct="1"/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价值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 eaLnBrk="1" hangingPunct="1"/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在副本变更时（</a:t>
            </a:r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</a:rPr>
              <a:t>create </a:t>
            </a:r>
            <a:r>
              <a:rPr lang="en-US" altLang="zh-CN" sz="1400" dirty="0" err="1">
                <a:latin typeface="黑体" panose="02010609060101010101" pitchFamily="49" charset="-122"/>
                <a:ea typeface="黑体" panose="02010609060101010101" pitchFamily="49" charset="-122"/>
              </a:rPr>
              <a:t>mnode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， </a:t>
            </a:r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</a:rPr>
              <a:t>alter </a:t>
            </a:r>
            <a:r>
              <a:rPr lang="en-US" altLang="zh-CN" sz="1400" dirty="0" err="1">
                <a:latin typeface="黑体" panose="02010609060101010101" pitchFamily="49" charset="-122"/>
                <a:ea typeface="黑体" panose="02010609060101010101" pitchFamily="49" charset="-122"/>
              </a:rPr>
              <a:t>db</a:t>
            </a:r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400" dirty="0" err="1">
                <a:latin typeface="黑体" panose="02010609060101010101" pitchFamily="49" charset="-122"/>
                <a:ea typeface="黑体" panose="02010609060101010101" pitchFamily="49" charset="-122"/>
              </a:rPr>
              <a:t>replia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），在数量比较大时，这个工作会执行很长时间，在某个客户的</a:t>
            </a:r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</a:rPr>
              <a:t>case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中，会执行十几个小时，最主要的问题时，在这十几个小时内，无法写入数据。通过</a:t>
            </a:r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</a:rPr>
              <a:t>Raft learner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，并未减少执行这个的动作的时长，但是允许写入数据。</a:t>
            </a:r>
            <a:endParaRPr lang="en-US" altLang="zh-CN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/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实现方式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 eaLnBrk="1" hangingPunct="1"/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通过</a:t>
            </a:r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</a:rPr>
              <a:t>Raft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协议的</a:t>
            </a:r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</a:rPr>
              <a:t>learner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，这个角色实现，在目前的实现中加入该角色，添加副本时，首先添加一个</a:t>
            </a:r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</a:rPr>
              <a:t>learner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角色，</a:t>
            </a:r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</a:rPr>
              <a:t>learner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角色只接受数据，不参与</a:t>
            </a:r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</a:rPr>
              <a:t>Raft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投票，故不阻塞写入，在接受完全部数据后，由</a:t>
            </a:r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</a:rPr>
              <a:t>learner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角色变为正常角色。</a:t>
            </a:r>
            <a:endParaRPr lang="en-US" altLang="zh-CN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/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对用户的影响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 eaLnBrk="1" hangingPunct="1"/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</a:rPr>
              <a:t>learner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仅仅是中间过度角色，副本变更完就不再出现。并且仅仅在变更过程中的配置文件中可以看到，故总体来说</a:t>
            </a:r>
            <a:r>
              <a:rPr lang="en-US" altLang="zh-CN" sz="1400" b="1" dirty="0">
                <a:latin typeface="黑体" panose="02010609060101010101" pitchFamily="49" charset="-122"/>
                <a:ea typeface="黑体" panose="02010609060101010101" pitchFamily="49" charset="-122"/>
              </a:rPr>
              <a:t>RAFT</a:t>
            </a:r>
            <a:r>
              <a:rPr lang="zh-CN" altLang="en-US" sz="14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400" b="1" dirty="0">
                <a:latin typeface="黑体" panose="02010609060101010101" pitchFamily="49" charset="-122"/>
                <a:ea typeface="黑体" panose="02010609060101010101" pitchFamily="49" charset="-122"/>
              </a:rPr>
              <a:t>Learner</a:t>
            </a:r>
            <a:r>
              <a:rPr lang="zh-CN" altLang="en-US" sz="1400" b="1" dirty="0">
                <a:latin typeface="黑体" panose="02010609060101010101" pitchFamily="49" charset="-122"/>
                <a:ea typeface="黑体" panose="02010609060101010101" pitchFamily="49" charset="-122"/>
              </a:rPr>
              <a:t> 对用户是透明的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/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目前的限制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 eaLnBrk="1" hangingPunct="1"/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在副本变更过程中，绝大部分的时间由于引入</a:t>
            </a:r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</a:rPr>
              <a:t>learner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已经不在阻塞写入，但是仍然有秒级时间，会阻塞写入，这个秒级的时间是从</a:t>
            </a:r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</a:rPr>
              <a:t>learner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转变为正常角色时发生</a:t>
            </a:r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</a:rPr>
              <a:t>raft 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选举引起的。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恢复数据节点</a:t>
            </a:r>
          </a:p>
        </p:txBody>
      </p:sp>
      <p:sp>
        <p:nvSpPr>
          <p:cNvPr id="19459" name="内容占位符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1800" b="1" dirty="0"/>
              <a:t>命令</a:t>
            </a:r>
            <a:endParaRPr lang="en-US" altLang="zh-CN" sz="1800" b="1" dirty="0"/>
          </a:p>
          <a:p>
            <a:pPr lvl="1" eaLnBrk="1" hangingPunct="1"/>
            <a:r>
              <a:rPr lang="en-US" altLang="zh-CN" sz="1400" dirty="0"/>
              <a:t>restore </a:t>
            </a:r>
            <a:r>
              <a:rPr lang="en-US" altLang="zh-CN" sz="1400" dirty="0" err="1"/>
              <a:t>dnode</a:t>
            </a:r>
            <a:r>
              <a:rPr lang="en-US" altLang="zh-CN" sz="1400" dirty="0"/>
              <a:t> &lt;</a:t>
            </a:r>
            <a:r>
              <a:rPr lang="en-US" altLang="zh-CN" sz="1400" dirty="0" err="1"/>
              <a:t>dnode_id</a:t>
            </a:r>
            <a:r>
              <a:rPr lang="en-US" altLang="zh-CN" sz="1400" dirty="0"/>
              <a:t>&gt;</a:t>
            </a:r>
            <a:r>
              <a:rPr lang="zh-CN" altLang="en-US" sz="1400" dirty="0"/>
              <a:t>；</a:t>
            </a:r>
            <a:r>
              <a:rPr lang="en-US" altLang="zh-CN" sz="1400" dirty="0"/>
              <a:t># </a:t>
            </a:r>
            <a:r>
              <a:rPr lang="zh-CN" altLang="en-US" sz="1400" dirty="0"/>
              <a:t>恢复</a:t>
            </a:r>
            <a:r>
              <a:rPr lang="en-US" altLang="zh-CN" sz="1400" dirty="0" err="1"/>
              <a:t>dnode</a:t>
            </a:r>
            <a:r>
              <a:rPr lang="zh-CN" altLang="en-US" sz="1400" dirty="0"/>
              <a:t>上的</a:t>
            </a:r>
            <a:r>
              <a:rPr lang="en-US" altLang="zh-CN" sz="1400" dirty="0" err="1"/>
              <a:t>mnode</a:t>
            </a:r>
            <a:r>
              <a:rPr lang="zh-CN" altLang="en-US" sz="1400" dirty="0"/>
              <a:t>，所有</a:t>
            </a:r>
            <a:r>
              <a:rPr lang="en-US" altLang="zh-CN" sz="1400" dirty="0" err="1"/>
              <a:t>vnode</a:t>
            </a:r>
            <a:r>
              <a:rPr lang="zh-CN" altLang="en-US" sz="1400" dirty="0"/>
              <a:t>和</a:t>
            </a:r>
            <a:r>
              <a:rPr lang="en-US" altLang="zh-CN" sz="1400" dirty="0" err="1"/>
              <a:t>qnode</a:t>
            </a:r>
            <a:endParaRPr lang="en-US" altLang="zh-CN" sz="1400" dirty="0"/>
          </a:p>
          <a:p>
            <a:pPr lvl="1" eaLnBrk="1" hangingPunct="1"/>
            <a:r>
              <a:rPr lang="en-US" altLang="zh-CN" sz="1400" dirty="0"/>
              <a:t>restore </a:t>
            </a:r>
            <a:r>
              <a:rPr lang="en-US" altLang="zh-CN" sz="1400" dirty="0" err="1"/>
              <a:t>mnode</a:t>
            </a:r>
            <a:r>
              <a:rPr lang="en-US" altLang="zh-CN" sz="1400" dirty="0"/>
              <a:t> on </a:t>
            </a:r>
            <a:r>
              <a:rPr lang="en-US" altLang="zh-CN" sz="1400" dirty="0" err="1"/>
              <a:t>dnode</a:t>
            </a:r>
            <a:r>
              <a:rPr lang="en-US" altLang="zh-CN" sz="1400" dirty="0"/>
              <a:t> &lt;</a:t>
            </a:r>
            <a:r>
              <a:rPr lang="en-US" altLang="zh-CN" sz="1400" dirty="0" err="1"/>
              <a:t>dnode_id</a:t>
            </a:r>
            <a:r>
              <a:rPr lang="en-US" altLang="zh-CN" sz="1400" dirty="0"/>
              <a:t>&gt;</a:t>
            </a:r>
            <a:r>
              <a:rPr lang="zh-CN" altLang="en-US" sz="1400" dirty="0"/>
              <a:t>；</a:t>
            </a:r>
            <a:r>
              <a:rPr lang="en-US" altLang="zh-CN" sz="1400" dirty="0"/>
              <a:t># </a:t>
            </a:r>
            <a:r>
              <a:rPr lang="zh-CN" altLang="en-US" sz="1400" dirty="0"/>
              <a:t>恢复</a:t>
            </a:r>
            <a:r>
              <a:rPr lang="en-US" altLang="zh-CN" sz="1400" dirty="0" err="1"/>
              <a:t>dnode</a:t>
            </a:r>
            <a:r>
              <a:rPr lang="zh-CN" altLang="en-US" sz="1400" dirty="0"/>
              <a:t>上的</a:t>
            </a:r>
            <a:r>
              <a:rPr lang="en-US" altLang="zh-CN" sz="1400" dirty="0" err="1"/>
              <a:t>mnode</a:t>
            </a:r>
            <a:endParaRPr lang="en-US" altLang="zh-CN" sz="1400" dirty="0"/>
          </a:p>
          <a:p>
            <a:pPr lvl="1" eaLnBrk="1" hangingPunct="1"/>
            <a:r>
              <a:rPr lang="en-US" altLang="zh-CN" sz="1400" dirty="0"/>
              <a:t>restore </a:t>
            </a:r>
            <a:r>
              <a:rPr lang="en-US" altLang="zh-CN" sz="1400" dirty="0" err="1"/>
              <a:t>vnode</a:t>
            </a:r>
            <a:r>
              <a:rPr lang="en-US" altLang="zh-CN" sz="1400" dirty="0"/>
              <a:t> on </a:t>
            </a:r>
            <a:r>
              <a:rPr lang="en-US" altLang="zh-CN" sz="1400" dirty="0" err="1"/>
              <a:t>dnode</a:t>
            </a:r>
            <a:r>
              <a:rPr lang="en-US" altLang="zh-CN" sz="1400" dirty="0"/>
              <a:t> &lt;</a:t>
            </a:r>
            <a:r>
              <a:rPr lang="en-US" altLang="zh-CN" sz="1400" dirty="0" err="1"/>
              <a:t>dnode_id</a:t>
            </a:r>
            <a:r>
              <a:rPr lang="en-US" altLang="zh-CN" sz="1400" dirty="0"/>
              <a:t>&gt; </a:t>
            </a:r>
            <a:r>
              <a:rPr lang="zh-CN" altLang="en-US" sz="1400" dirty="0"/>
              <a:t>；</a:t>
            </a:r>
            <a:r>
              <a:rPr lang="en-US" altLang="zh-CN" sz="1400" dirty="0"/>
              <a:t># </a:t>
            </a:r>
            <a:r>
              <a:rPr lang="zh-CN" altLang="en-US" sz="1400" dirty="0"/>
              <a:t>恢复</a:t>
            </a:r>
            <a:r>
              <a:rPr lang="en-US" altLang="zh-CN" sz="1400" dirty="0" err="1"/>
              <a:t>dnode</a:t>
            </a:r>
            <a:r>
              <a:rPr lang="zh-CN" altLang="en-US" sz="1400" dirty="0"/>
              <a:t>上的所有</a:t>
            </a:r>
            <a:r>
              <a:rPr lang="en-US" altLang="zh-CN" sz="1400" dirty="0" err="1"/>
              <a:t>vnode</a:t>
            </a:r>
            <a:endParaRPr lang="en-US" altLang="zh-CN" sz="1400" dirty="0"/>
          </a:p>
          <a:p>
            <a:pPr lvl="1" eaLnBrk="1" hangingPunct="1"/>
            <a:r>
              <a:rPr lang="en-US" altLang="zh-CN" sz="1400" dirty="0"/>
              <a:t>restore </a:t>
            </a:r>
            <a:r>
              <a:rPr lang="en-US" altLang="zh-CN" sz="1400" dirty="0" err="1"/>
              <a:t>qnode</a:t>
            </a:r>
            <a:r>
              <a:rPr lang="en-US" altLang="zh-CN" sz="1400" dirty="0"/>
              <a:t> on </a:t>
            </a:r>
            <a:r>
              <a:rPr lang="en-US" altLang="zh-CN" sz="1400" dirty="0" err="1"/>
              <a:t>dnode</a:t>
            </a:r>
            <a:r>
              <a:rPr lang="en-US" altLang="zh-CN" sz="1400" dirty="0"/>
              <a:t> &lt;</a:t>
            </a:r>
            <a:r>
              <a:rPr lang="en-US" altLang="zh-CN" sz="1400" dirty="0" err="1"/>
              <a:t>dnode_id</a:t>
            </a:r>
            <a:r>
              <a:rPr lang="en-US" altLang="zh-CN" sz="1400" dirty="0"/>
              <a:t>&gt;</a:t>
            </a:r>
            <a:r>
              <a:rPr lang="zh-CN" altLang="en-US" sz="1400" dirty="0"/>
              <a:t>；</a:t>
            </a:r>
            <a:r>
              <a:rPr lang="en-US" altLang="zh-CN" sz="1400" dirty="0"/>
              <a:t># </a:t>
            </a:r>
            <a:r>
              <a:rPr lang="zh-CN" altLang="en-US" sz="1400" dirty="0"/>
              <a:t>恢复</a:t>
            </a:r>
            <a:r>
              <a:rPr lang="en-US" altLang="zh-CN" sz="1400" dirty="0" err="1"/>
              <a:t>dnode</a:t>
            </a:r>
            <a:r>
              <a:rPr lang="zh-CN" altLang="en-US" sz="1400" dirty="0"/>
              <a:t>上的</a:t>
            </a:r>
            <a:r>
              <a:rPr lang="en-US" altLang="zh-CN" sz="1400" dirty="0" err="1"/>
              <a:t>qnode</a:t>
            </a:r>
            <a:endParaRPr lang="en-US" altLang="zh-CN" sz="1400" dirty="0"/>
          </a:p>
          <a:p>
            <a:pPr eaLnBrk="1" hangingPunct="1"/>
            <a:r>
              <a:rPr lang="zh-CN" altLang="en-US" sz="1800" b="1" dirty="0"/>
              <a:t>适用场景</a:t>
            </a:r>
            <a:endParaRPr lang="en-US" altLang="zh-CN" sz="1800" b="1" dirty="0"/>
          </a:p>
          <a:p>
            <a:pPr lvl="1" eaLnBrk="1" hangingPunct="1"/>
            <a:r>
              <a:rPr lang="zh-CN" altLang="en-US" sz="1400" dirty="0"/>
              <a:t>节点的数据丢失后，通过已有的复制功能恢复节点上的数据。例如，已有的一个用户场景，数据盘出现问题，重新挂载新数据盘，这个节点上所有数据目录都丢失。</a:t>
            </a:r>
            <a:endParaRPr lang="en-US" altLang="zh-CN" sz="1400" dirty="0"/>
          </a:p>
          <a:p>
            <a:pPr eaLnBrk="1" hangingPunct="1"/>
            <a:r>
              <a:rPr lang="zh-CN" altLang="en-US" sz="1800" b="1" dirty="0"/>
              <a:t>使用效果</a:t>
            </a:r>
            <a:endParaRPr lang="en-US" altLang="zh-CN" sz="1800" b="1" dirty="0"/>
          </a:p>
          <a:p>
            <a:pPr lvl="1" eaLnBrk="1" hangingPunct="1"/>
            <a:r>
              <a:rPr lang="zh-CN" altLang="en-US" sz="1400" dirty="0"/>
              <a:t>按照原有的</a:t>
            </a:r>
            <a:r>
              <a:rPr lang="en-US" altLang="zh-CN" sz="1400" dirty="0" err="1"/>
              <a:t>taos.cfg</a:t>
            </a:r>
            <a:r>
              <a:rPr lang="zh-CN" altLang="en-US" sz="1400" dirty="0"/>
              <a:t>的配置启动</a:t>
            </a:r>
            <a:r>
              <a:rPr lang="en-US" altLang="zh-CN" sz="1400" dirty="0" err="1"/>
              <a:t>taosd</a:t>
            </a:r>
            <a:r>
              <a:rPr lang="zh-CN" altLang="en-US" sz="1400" dirty="0"/>
              <a:t>，该节点会自动加入进群，并且</a:t>
            </a:r>
            <a:r>
              <a:rPr lang="en-US" altLang="zh-CN" sz="1400" dirty="0" err="1"/>
              <a:t>dnode</a:t>
            </a:r>
            <a:r>
              <a:rPr lang="zh-CN" altLang="en-US" sz="1400" dirty="0"/>
              <a:t>显示为</a:t>
            </a:r>
            <a:r>
              <a:rPr lang="en-US" altLang="zh-CN" sz="1400" dirty="0"/>
              <a:t>ready</a:t>
            </a:r>
            <a:r>
              <a:rPr lang="zh-CN" altLang="en-US" sz="1400" dirty="0"/>
              <a:t>，即</a:t>
            </a:r>
            <a:r>
              <a:rPr lang="en-US" altLang="zh-CN" sz="1400" dirty="0"/>
              <a:t>online</a:t>
            </a:r>
            <a:r>
              <a:rPr lang="zh-CN" altLang="en-US" sz="1400" dirty="0"/>
              <a:t>状态。</a:t>
            </a:r>
            <a:endParaRPr lang="en-US" altLang="zh-CN" sz="1400" dirty="0"/>
          </a:p>
          <a:p>
            <a:pPr lvl="1" eaLnBrk="1" hangingPunct="1"/>
            <a:r>
              <a:rPr lang="zh-CN" altLang="en-US" sz="1400" dirty="0"/>
              <a:t>在节点变为</a:t>
            </a:r>
            <a:r>
              <a:rPr lang="en-US" altLang="zh-CN" sz="1400" dirty="0"/>
              <a:t>online</a:t>
            </a:r>
            <a:r>
              <a:rPr lang="zh-CN" altLang="en-US" sz="1400" dirty="0"/>
              <a:t>后，通过命令可恢复全部</a:t>
            </a:r>
            <a:r>
              <a:rPr lang="en-US" altLang="zh-CN" sz="1400" dirty="0" err="1"/>
              <a:t>mnode</a:t>
            </a:r>
            <a:r>
              <a:rPr lang="zh-CN" altLang="en-US" sz="1400" dirty="0"/>
              <a:t>，</a:t>
            </a:r>
            <a:r>
              <a:rPr lang="en-US" altLang="zh-CN" sz="1400" dirty="0" err="1"/>
              <a:t>vnode</a:t>
            </a:r>
            <a:r>
              <a:rPr lang="zh-CN" altLang="en-US" sz="1400" dirty="0"/>
              <a:t>，</a:t>
            </a:r>
            <a:r>
              <a:rPr lang="en-US" altLang="zh-CN" sz="1400" dirty="0" err="1"/>
              <a:t>qnode</a:t>
            </a:r>
            <a:r>
              <a:rPr lang="zh-CN" altLang="en-US" sz="1400" dirty="0"/>
              <a:t>，也可以分别恢复。</a:t>
            </a:r>
            <a:endParaRPr lang="en-US" altLang="zh-CN" sz="1400" dirty="0"/>
          </a:p>
          <a:p>
            <a:pPr eaLnBrk="1" hangingPunct="1"/>
            <a:r>
              <a:rPr lang="zh-CN" altLang="en-US" sz="1800" b="1" dirty="0"/>
              <a:t>功能限制</a:t>
            </a:r>
            <a:endParaRPr lang="en-US" altLang="zh-CN" sz="1800" b="1" dirty="0"/>
          </a:p>
          <a:p>
            <a:pPr lvl="1" eaLnBrk="1" hangingPunct="1"/>
            <a:r>
              <a:rPr lang="zh-CN" altLang="en-US" sz="1400" dirty="0"/>
              <a:t>该功能是基于已有的复制功能的恢复，不是灾难恢复或者备份恢复，所以对于</a:t>
            </a:r>
            <a:r>
              <a:rPr lang="en-US" altLang="zh-CN" sz="1400" dirty="0" err="1"/>
              <a:t>mnode</a:t>
            </a:r>
            <a:r>
              <a:rPr lang="zh-CN" altLang="en-US" sz="1400" dirty="0"/>
              <a:t>和</a:t>
            </a:r>
            <a:r>
              <a:rPr lang="en-US" altLang="zh-CN" sz="1400" dirty="0" err="1"/>
              <a:t>vnode</a:t>
            </a:r>
            <a:r>
              <a:rPr lang="zh-CN" altLang="en-US" sz="1400" dirty="0"/>
              <a:t>，使用该命令一定是还存在其他</a:t>
            </a:r>
            <a:r>
              <a:rPr lang="en-US" altLang="zh-CN" sz="1400" dirty="0" err="1"/>
              <a:t>mnode</a:t>
            </a:r>
            <a:r>
              <a:rPr lang="zh-CN" altLang="en-US" sz="1400" dirty="0"/>
              <a:t>和</a:t>
            </a:r>
            <a:r>
              <a:rPr lang="en-US" altLang="zh-CN" sz="1400" dirty="0" err="1"/>
              <a:t>vnode</a:t>
            </a:r>
            <a:r>
              <a:rPr lang="zh-CN" altLang="en-US" sz="1400" dirty="0"/>
              <a:t>的其他副本。</a:t>
            </a:r>
            <a:endParaRPr lang="en-US" altLang="zh-CN" sz="1400" dirty="0"/>
          </a:p>
          <a:p>
            <a:pPr lvl="1" eaLnBrk="1" hangingPunct="1"/>
            <a:r>
              <a:rPr lang="zh-CN" altLang="en-US" sz="1400" dirty="0"/>
              <a:t>该命令不能修复数据目录中的个别文件的损坏或者丢失，是整体的恢复一个</a:t>
            </a:r>
            <a:r>
              <a:rPr lang="en-US" altLang="zh-CN" sz="1400" dirty="0" err="1"/>
              <a:t>mnode</a:t>
            </a:r>
            <a:r>
              <a:rPr lang="zh-CN" altLang="en-US" sz="1400" dirty="0"/>
              <a:t>或者</a:t>
            </a:r>
            <a:r>
              <a:rPr lang="en-US" altLang="zh-CN" sz="1400" dirty="0" err="1"/>
              <a:t>vnode</a:t>
            </a:r>
            <a:r>
              <a:rPr lang="zh-CN" altLang="en-US" sz="1400" dirty="0"/>
              <a:t>。</a:t>
            </a:r>
            <a:endParaRPr lang="en-US" altLang="zh-CN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Force drop </a:t>
            </a:r>
            <a:r>
              <a:rPr lang="en-US" altLang="zh-CN" dirty="0" err="1"/>
              <a:t>dnode</a:t>
            </a:r>
            <a:endParaRPr lang="zh-CN" altLang="en-US" dirty="0"/>
          </a:p>
        </p:txBody>
      </p:sp>
      <p:sp>
        <p:nvSpPr>
          <p:cNvPr id="19459" name="内容占位符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z="1800" b="1" dirty="0"/>
              <a:t>命令</a:t>
            </a:r>
            <a:endParaRPr lang="en-US" altLang="zh-CN" sz="1800" b="1" dirty="0"/>
          </a:p>
          <a:p>
            <a:pPr lvl="1" eaLnBrk="1" hangingPunct="1"/>
            <a:r>
              <a:rPr lang="en-US" altLang="zh-CN" sz="1400" dirty="0"/>
              <a:t>drop </a:t>
            </a:r>
            <a:r>
              <a:rPr lang="en-US" altLang="zh-CN" sz="1400" dirty="0" err="1"/>
              <a:t>dnode</a:t>
            </a:r>
            <a:r>
              <a:rPr lang="en-US" altLang="zh-CN" sz="1400" dirty="0"/>
              <a:t> &lt;</a:t>
            </a:r>
            <a:r>
              <a:rPr lang="en-US" altLang="zh-CN" sz="1400" dirty="0" err="1"/>
              <a:t>dnodeid</a:t>
            </a:r>
            <a:r>
              <a:rPr lang="en-US" altLang="zh-CN" sz="1400" dirty="0"/>
              <a:t>&gt; force; #</a:t>
            </a:r>
            <a:r>
              <a:rPr lang="zh-CN" altLang="en-US" sz="1400" dirty="0"/>
              <a:t>如果该</a:t>
            </a:r>
            <a:r>
              <a:rPr lang="en-US" altLang="zh-CN" sz="1400" dirty="0" err="1"/>
              <a:t>dnode</a:t>
            </a:r>
            <a:r>
              <a:rPr lang="zh-CN" altLang="en-US" sz="1400" dirty="0"/>
              <a:t>上存在单副本的</a:t>
            </a:r>
            <a:r>
              <a:rPr lang="en-US" altLang="zh-CN" sz="1400" dirty="0" err="1"/>
              <a:t>vnode</a:t>
            </a:r>
            <a:r>
              <a:rPr lang="zh-CN" altLang="en-US" sz="1400" dirty="0"/>
              <a:t>，则给出数据将会丢失的报错，并且建议用户使用</a:t>
            </a:r>
            <a:r>
              <a:rPr lang="en-US" altLang="zh-CN" sz="1400" dirty="0"/>
              <a:t>unsafe drop</a:t>
            </a:r>
            <a:r>
              <a:rPr lang="zh-CN" altLang="en-US" sz="1400" dirty="0"/>
              <a:t>执行</a:t>
            </a:r>
          </a:p>
          <a:p>
            <a:pPr lvl="1" eaLnBrk="1" hangingPunct="1"/>
            <a:r>
              <a:rPr lang="en-US" altLang="zh-CN" sz="1400" dirty="0"/>
              <a:t>drop </a:t>
            </a:r>
            <a:r>
              <a:rPr lang="en-US" altLang="zh-CN" sz="1400" dirty="0" err="1"/>
              <a:t>dnode</a:t>
            </a:r>
            <a:r>
              <a:rPr lang="en-US" altLang="zh-CN" sz="1400" dirty="0"/>
              <a:t> &lt;</a:t>
            </a:r>
            <a:r>
              <a:rPr lang="en-US" altLang="zh-CN" sz="1400" dirty="0" err="1"/>
              <a:t>dnodeid</a:t>
            </a:r>
            <a:r>
              <a:rPr lang="en-US" altLang="zh-CN" sz="1400" dirty="0"/>
              <a:t>&gt; unsafe; #</a:t>
            </a:r>
            <a:r>
              <a:rPr lang="zh-CN" altLang="en-US" sz="1400" dirty="0"/>
              <a:t>功能和</a:t>
            </a:r>
            <a:r>
              <a:rPr lang="en-US" altLang="zh-CN" sz="1400" dirty="0"/>
              <a:t>force drop</a:t>
            </a:r>
            <a:r>
              <a:rPr lang="zh-CN" altLang="en-US" sz="1400" dirty="0"/>
              <a:t>完全一致，只是不会有数据丢失的报错</a:t>
            </a:r>
            <a:endParaRPr lang="en-US" altLang="zh-CN" sz="1400" dirty="0"/>
          </a:p>
          <a:p>
            <a:pPr eaLnBrk="1" hangingPunct="1"/>
            <a:r>
              <a:rPr lang="zh-CN" altLang="en-US" sz="2200" b="1" dirty="0"/>
              <a:t>适用场景</a:t>
            </a:r>
            <a:endParaRPr lang="en-US" altLang="zh-CN" sz="2200" b="1" dirty="0"/>
          </a:p>
          <a:p>
            <a:pPr lvl="1" eaLnBrk="1" hangingPunct="1"/>
            <a:r>
              <a:rPr lang="zh-CN" altLang="en-US" sz="1400" dirty="0"/>
              <a:t>当一个</a:t>
            </a:r>
            <a:r>
              <a:rPr lang="en-US" altLang="zh-CN" sz="1400" dirty="0" err="1"/>
              <a:t>dnode</a:t>
            </a:r>
            <a:r>
              <a:rPr lang="zh-CN" altLang="en-US" sz="1400" dirty="0"/>
              <a:t>处</a:t>
            </a:r>
            <a:r>
              <a:rPr lang="en-US" altLang="zh-CN" sz="1400" dirty="0"/>
              <a:t>offline</a:t>
            </a:r>
            <a:r>
              <a:rPr lang="zh-CN" altLang="en-US" sz="1400" dirty="0"/>
              <a:t>的状态，强制</a:t>
            </a:r>
            <a:r>
              <a:rPr lang="en-US" altLang="zh-CN" sz="1400" dirty="0"/>
              <a:t>drop</a:t>
            </a:r>
            <a:r>
              <a:rPr lang="zh-CN" altLang="en-US" sz="1400" dirty="0"/>
              <a:t>这个节点。</a:t>
            </a:r>
            <a:endParaRPr lang="en-US" altLang="zh-CN" sz="1400" dirty="0"/>
          </a:p>
          <a:p>
            <a:pPr eaLnBrk="1" hangingPunct="1"/>
            <a:r>
              <a:rPr lang="zh-CN" altLang="en-US" sz="1800" b="1" dirty="0"/>
              <a:t>使用效果</a:t>
            </a:r>
            <a:endParaRPr lang="en-US" altLang="zh-CN" sz="1800" b="1" dirty="0"/>
          </a:p>
          <a:p>
            <a:pPr lvl="1" eaLnBrk="1" hangingPunct="1"/>
            <a:r>
              <a:rPr lang="zh-CN" altLang="en-US" sz="1400" dirty="0"/>
              <a:t>对于有</a:t>
            </a:r>
            <a:r>
              <a:rPr lang="en-US" altLang="zh-CN" sz="1400" dirty="0"/>
              <a:t>3</a:t>
            </a:r>
            <a:r>
              <a:rPr lang="zh-CN" altLang="en-US" sz="1400" dirty="0"/>
              <a:t>副本的，例如</a:t>
            </a:r>
            <a:r>
              <a:rPr lang="en-US" altLang="zh-CN" sz="1400" dirty="0"/>
              <a:t>3</a:t>
            </a:r>
            <a:r>
              <a:rPr lang="zh-CN" altLang="en-US" sz="1400" dirty="0"/>
              <a:t>个</a:t>
            </a:r>
            <a:r>
              <a:rPr lang="en-US" altLang="zh-CN" sz="1400" dirty="0" err="1"/>
              <a:t>mnode</a:t>
            </a:r>
            <a:r>
              <a:rPr lang="zh-CN" altLang="en-US" sz="1400" dirty="0"/>
              <a:t>，</a:t>
            </a:r>
            <a:r>
              <a:rPr lang="en-US" altLang="zh-CN" sz="1400" dirty="0" err="1"/>
              <a:t>vnode</a:t>
            </a:r>
            <a:r>
              <a:rPr lang="zh-CN" altLang="en-US" sz="1400" dirty="0"/>
              <a:t>设置为</a:t>
            </a:r>
            <a:r>
              <a:rPr lang="en-US" altLang="zh-CN" sz="1400" dirty="0"/>
              <a:t>3</a:t>
            </a:r>
            <a:r>
              <a:rPr lang="zh-CN" altLang="en-US" sz="1400" dirty="0"/>
              <a:t>副本，</a:t>
            </a:r>
            <a:r>
              <a:rPr lang="en-US" altLang="zh-CN" sz="1400" dirty="0"/>
              <a:t>force drop </a:t>
            </a:r>
            <a:r>
              <a:rPr lang="en-US" altLang="zh-CN" sz="1400" dirty="0" err="1"/>
              <a:t>dnode</a:t>
            </a:r>
            <a:r>
              <a:rPr lang="zh-CN" altLang="en-US" sz="1400" dirty="0"/>
              <a:t>会强制删除这个</a:t>
            </a:r>
            <a:r>
              <a:rPr lang="en-US" altLang="zh-CN" sz="1400" dirty="0" err="1"/>
              <a:t>dnode</a:t>
            </a:r>
            <a:r>
              <a:rPr lang="zh-CN" altLang="en-US" sz="1400" dirty="0"/>
              <a:t>，并且重建</a:t>
            </a:r>
            <a:r>
              <a:rPr lang="en-US" altLang="zh-CN" sz="1400" dirty="0" err="1"/>
              <a:t>mnode</a:t>
            </a:r>
            <a:r>
              <a:rPr lang="zh-CN" altLang="en-US" sz="1400" dirty="0"/>
              <a:t>和</a:t>
            </a:r>
            <a:r>
              <a:rPr lang="en-US" altLang="zh-CN" sz="1400" dirty="0" err="1"/>
              <a:t>vnode</a:t>
            </a:r>
            <a:r>
              <a:rPr lang="zh-CN" altLang="en-US" sz="1400" dirty="0"/>
              <a:t>的一个副本，重建的这个副本基于现有的复制功能，将数据复制到这个新建的副本。</a:t>
            </a:r>
            <a:endParaRPr lang="en-US" altLang="zh-CN" sz="1400" dirty="0"/>
          </a:p>
          <a:p>
            <a:pPr lvl="1" eaLnBrk="1" hangingPunct="1"/>
            <a:r>
              <a:rPr lang="zh-CN" altLang="en-US" sz="1400" dirty="0"/>
              <a:t>对于只有单副本的，例如</a:t>
            </a:r>
            <a:r>
              <a:rPr lang="en-US" altLang="zh-CN" sz="1400" dirty="0" err="1"/>
              <a:t>vnode</a:t>
            </a:r>
            <a:r>
              <a:rPr lang="zh-CN" altLang="en-US" sz="1400" dirty="0"/>
              <a:t>的</a:t>
            </a:r>
            <a:r>
              <a:rPr lang="en-US" altLang="zh-CN" sz="1400" dirty="0"/>
              <a:t>replica</a:t>
            </a:r>
            <a:r>
              <a:rPr lang="zh-CN" altLang="en-US" sz="1400" dirty="0"/>
              <a:t>设置为</a:t>
            </a:r>
            <a:r>
              <a:rPr lang="en-US" altLang="zh-CN" sz="1400" dirty="0"/>
              <a:t>1</a:t>
            </a:r>
            <a:r>
              <a:rPr lang="zh-CN" altLang="en-US" sz="1400" dirty="0"/>
              <a:t>的，会提示用户使用</a:t>
            </a:r>
            <a:r>
              <a:rPr lang="en-US" altLang="zh-CN" sz="1400" dirty="0"/>
              <a:t>drop unsafe</a:t>
            </a:r>
            <a:r>
              <a:rPr lang="zh-CN" altLang="en-US" sz="1400" dirty="0"/>
              <a:t>，</a:t>
            </a:r>
            <a:r>
              <a:rPr lang="en-US" altLang="zh-CN" sz="1400" dirty="0"/>
              <a:t>drop unsafe</a:t>
            </a:r>
            <a:r>
              <a:rPr lang="zh-CN" altLang="en-US" sz="1400" dirty="0"/>
              <a:t>的功能和</a:t>
            </a:r>
            <a:r>
              <a:rPr lang="en-US" altLang="zh-CN" sz="1400" dirty="0"/>
              <a:t>drop force</a:t>
            </a:r>
            <a:r>
              <a:rPr lang="zh-CN" altLang="en-US" sz="1400" dirty="0"/>
              <a:t>没有区别，只是给用户一个强提示，让用户确认做了这个决定</a:t>
            </a:r>
            <a:r>
              <a:rPr lang="en-US" altLang="zh-CN" sz="1400" dirty="0"/>
              <a:t>drop unsafe</a:t>
            </a:r>
            <a:r>
              <a:rPr lang="zh-CN" altLang="en-US" sz="1400" dirty="0"/>
              <a:t>会直接删除掉原有的</a:t>
            </a:r>
            <a:r>
              <a:rPr lang="en-US" altLang="zh-CN" sz="1400" dirty="0" err="1"/>
              <a:t>dnode</a:t>
            </a:r>
            <a:r>
              <a:rPr lang="zh-CN" altLang="en-US" sz="1400" dirty="0"/>
              <a:t>，并且在其他</a:t>
            </a:r>
            <a:r>
              <a:rPr lang="en-US" altLang="zh-CN" sz="1400" dirty="0" err="1"/>
              <a:t>dnode</a:t>
            </a:r>
            <a:r>
              <a:rPr lang="zh-CN" altLang="en-US" sz="1400" dirty="0"/>
              <a:t>上重新创建</a:t>
            </a:r>
            <a:r>
              <a:rPr lang="en-US" altLang="zh-CN" sz="1400" dirty="0" err="1"/>
              <a:t>vnode</a:t>
            </a:r>
            <a:r>
              <a:rPr lang="zh-CN" altLang="en-US" sz="1400" dirty="0"/>
              <a:t>，但是因为没有其他副本，所以创建出来的只是一个空的</a:t>
            </a:r>
            <a:r>
              <a:rPr lang="en-US" altLang="zh-CN" sz="1400" dirty="0" err="1"/>
              <a:t>vnode</a:t>
            </a:r>
            <a:r>
              <a:rPr lang="zh-CN" altLang="en-US" sz="1400" dirty="0"/>
              <a:t>。</a:t>
            </a:r>
            <a:endParaRPr lang="en-US" altLang="zh-CN" sz="1400" dirty="0"/>
          </a:p>
          <a:p>
            <a:pPr eaLnBrk="1" hangingPunct="1"/>
            <a:r>
              <a:rPr lang="zh-CN" altLang="en-US" sz="1800" b="1" dirty="0"/>
              <a:t>功能限制</a:t>
            </a:r>
            <a:endParaRPr lang="en-US" altLang="zh-CN" sz="1800" b="1" dirty="0"/>
          </a:p>
          <a:p>
            <a:pPr lvl="1" eaLnBrk="1" hangingPunct="1"/>
            <a:r>
              <a:rPr lang="en-US" altLang="zh-CN" sz="1400" dirty="0"/>
              <a:t>Force drop</a:t>
            </a:r>
            <a:r>
              <a:rPr lang="zh-CN" altLang="en-US" sz="1400" dirty="0"/>
              <a:t>会重建副本，并且通过恢复数据，但是这个恢复是基于数据复制的，能否恢复成功要看其他副本的是否正常工作。</a:t>
            </a:r>
            <a:endParaRPr lang="en-US" altLang="zh-CN" sz="14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ef087705-7f27-4d61-b04a-6a0864740197"/>
  <p:tag name="COMMONDATA" val="eyJoZGlkIjoiMmVhYjIwYTFkMDUyN2RmOGI2OTNiMWRjYmY5MjBlYTU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2704</Words>
  <Application>Microsoft Office PowerPoint</Application>
  <PresentationFormat>全屏显示(4:3)</PresentationFormat>
  <Paragraphs>201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3" baseType="lpstr">
      <vt:lpstr>黑体</vt:lpstr>
      <vt:lpstr>Arial</vt:lpstr>
      <vt:lpstr>Consolas</vt:lpstr>
      <vt:lpstr>DejaVu Sans Mono</vt:lpstr>
      <vt:lpstr>默认设计模板</vt:lpstr>
      <vt:lpstr>TDengine 3.0.5.0</vt:lpstr>
      <vt:lpstr>概述 - 新功能/特性</vt:lpstr>
      <vt:lpstr>概述 - 稳定性和性能优化</vt:lpstr>
      <vt:lpstr>第一部分</vt:lpstr>
      <vt:lpstr>消息队列</vt:lpstr>
      <vt:lpstr>消息队列</vt:lpstr>
      <vt:lpstr>消息队列</vt:lpstr>
      <vt:lpstr>消息队列</vt:lpstr>
      <vt:lpstr>流计算 – Pause/Resume</vt:lpstr>
      <vt:lpstr>流计算 – 资源优化</vt:lpstr>
      <vt:lpstr>第二部分</vt:lpstr>
      <vt:lpstr>Python UDF – 更新</vt:lpstr>
      <vt:lpstr>Interp支持超级表运算</vt:lpstr>
      <vt:lpstr>INTERP 支持忽略NULL</vt:lpstr>
      <vt:lpstr>最大行长度 – 64K</vt:lpstr>
      <vt:lpstr>表级权限控制 - 1</vt:lpstr>
      <vt:lpstr>表级权限控制 - 2</vt:lpstr>
      <vt:lpstr>记录长查询</vt:lpstr>
      <vt:lpstr>客户端缓存控制</vt:lpstr>
      <vt:lpstr>第三部分</vt:lpstr>
      <vt:lpstr>原始问题</vt:lpstr>
      <vt:lpstr>解决方案</vt:lpstr>
      <vt:lpstr>last()/last_row() 性能优化</vt:lpstr>
      <vt:lpstr>last()/last_row() 性能优化</vt:lpstr>
      <vt:lpstr>第三部分</vt:lpstr>
      <vt:lpstr>RAFT Learner</vt:lpstr>
      <vt:lpstr>恢复数据节点</vt:lpstr>
      <vt:lpstr>Force drop dnode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Tdengine 3.0.5.0</dc:title>
  <dc:creator>wade zhang</dc:creator>
  <cp:lastModifiedBy>zhang wade</cp:lastModifiedBy>
  <cp:revision>14</cp:revision>
  <dcterms:created xsi:type="dcterms:W3CDTF">2016-12-02T08:56:00Z</dcterms:created>
  <dcterms:modified xsi:type="dcterms:W3CDTF">2023-06-02T08:48:40Z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2052-11.1.0.14309</vt:lpwstr>
  </property>
  <property fmtid="{D5CDD505-2E9C-101B-9397-08002B2CF9AE}" pid="3" name="ICV">
    <vt:lpwstr>B3521A72B27644D08538046741D0A096_12</vt:lpwstr>
  </property>
</Properties>
</file>