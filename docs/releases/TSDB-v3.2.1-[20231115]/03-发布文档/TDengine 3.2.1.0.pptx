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580" r:id="rId2"/>
    <p:sldId id="268" r:id="rId3"/>
    <p:sldId id="261" r:id="rId4"/>
    <p:sldId id="3572" r:id="rId5"/>
    <p:sldId id="262" r:id="rId6"/>
    <p:sldId id="3573" r:id="rId7"/>
    <p:sldId id="263" r:id="rId8"/>
    <p:sldId id="3574" r:id="rId9"/>
    <p:sldId id="3575" r:id="rId10"/>
    <p:sldId id="3576" r:id="rId11"/>
    <p:sldId id="3577" r:id="rId12"/>
    <p:sldId id="3578" r:id="rId13"/>
    <p:sldId id="3579" r:id="rId14"/>
    <p:sldId id="256" r:id="rId15"/>
    <p:sldId id="257" r:id="rId16"/>
    <p:sldId id="258" r:id="rId17"/>
    <p:sldId id="259" r:id="rId18"/>
    <p:sldId id="11088237" r:id="rId19"/>
    <p:sldId id="11088278" r:id="rId20"/>
    <p:sldId id="11088298" r:id="rId21"/>
    <p:sldId id="11088299" r:id="rId22"/>
    <p:sldId id="11088300" r:id="rId23"/>
    <p:sldId id="11088301" r:id="rId24"/>
    <p:sldId id="11088305" r:id="rId25"/>
    <p:sldId id="11088304" r:id="rId26"/>
    <p:sldId id="11088307" r:id="rId27"/>
    <p:sldId id="11088309" r:id="rId28"/>
    <p:sldId id="11088302" r:id="rId29"/>
    <p:sldId id="11088306" r:id="rId30"/>
    <p:sldId id="11088308" r:id="rId31"/>
    <p:sldId id="11088313" r:id="rId32"/>
    <p:sldId id="11088314" r:id="rId33"/>
    <p:sldId id="11088312" r:id="rId34"/>
    <p:sldId id="11088311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3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786A3-11F9-465F-BF42-2F5052C6746F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C8D78-1EE6-4292-AD6E-92729FC281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3FDC7-DF8C-AA49-B775-CBFD5AAC982D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77520" y="523240"/>
            <a:ext cx="9728200" cy="65464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700" b="1">
                <a:solidFill>
                  <a:srgbClr val="18B2E8"/>
                </a:solidFill>
                <a:latin typeface="MicrosoftYaHeiSemibold"/>
                <a:ea typeface="MicrosoftYaHeiSemibold"/>
                <a:cs typeface="MicrosoftYaHeiSemibold"/>
                <a:sym typeface="MicrosoftYaHeiSemibold"/>
              </a:defRPr>
            </a:lvl1pPr>
          </a:lstStyle>
          <a:p>
            <a:r>
              <a:rPr dirty="0"/>
              <a:t>标题文本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5884" y="6189544"/>
            <a:ext cx="1605767" cy="7494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500" y="438150"/>
            <a:ext cx="5905500" cy="5918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40DE-2065-4153-8AD1-5FE010AA5904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FA7F-CC1C-483C-9F3F-C1D8C9DEA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taosdata.com/tdinternal/arch/#%E5%A4%9A%E7%BA%A7%E5%AD%98%E5%82%A8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taosdata.feishu.cn/wiki/ZBcTwjydAiO3tTknCkkcVC3znFc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taosdata.feishu.cn/wiki/Am6Jws1Aii06GRkTcAHceNAEnSf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aosdata.feishu.cn/wiki/HVybw5NWli3GVMkPYgdc4w1Sn8f" TargetMode="External"/><Relationship Id="rId5" Type="http://schemas.openxmlformats.org/officeDocument/2006/relationships/hyperlink" Target="https://taosdata.feishu.cn/wiki/YJe3wuQZuiuGfgkqK7ucXGXenSg" TargetMode="External"/><Relationship Id="rId4" Type="http://schemas.openxmlformats.org/officeDocument/2006/relationships/hyperlink" Target="https://taosdata.feishu.cn/wiki/LHnfwfG8CiiAn6kdgF7c7F0znge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TDengine</a:t>
            </a:r>
            <a:r>
              <a:rPr lang="en-US" altLang="zh-CN" dirty="0"/>
              <a:t> 3.2.1.0 </a:t>
            </a:r>
            <a:r>
              <a:rPr lang="zh-CN" altLang="en-US" dirty="0"/>
              <a:t>简介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5" y="1825625"/>
            <a:ext cx="11704955" cy="484378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zh-CN" altLang="en-US" sz="1400" dirty="0">
                <a:sym typeface="+mn-ea"/>
              </a:rPr>
              <a:t>查询类优化 （主讲：潘魏；开发者：潘魏，王加明）</a:t>
            </a:r>
            <a:endParaRPr lang="en-US" altLang="zh-CN" sz="1400" dirty="0">
              <a:sym typeface="+mn-ea"/>
            </a:endParaRPr>
          </a:p>
          <a:p>
            <a:pPr marL="800100" lvl="1" indent="-342900">
              <a:buAutoNum type="arabicPeriod"/>
            </a:pPr>
            <a:r>
              <a:rPr lang="zh-CN" altLang="en-US" sz="1000" dirty="0">
                <a:sym typeface="+mn-ea"/>
              </a:rPr>
              <a:t>时间转换函数</a:t>
            </a:r>
            <a:endParaRPr lang="en-US" altLang="zh-CN" sz="1000" dirty="0">
              <a:sym typeface="+mn-ea"/>
            </a:endParaRPr>
          </a:p>
          <a:p>
            <a:pPr marL="800100" lvl="1" indent="-342900">
              <a:buAutoNum type="arabicPeriod"/>
            </a:pPr>
            <a:r>
              <a:rPr lang="zh-CN" altLang="en-US" sz="1000" dirty="0">
                <a:sym typeface="+mn-ea"/>
              </a:rPr>
              <a:t>通过超级表写入数据</a:t>
            </a:r>
            <a:endParaRPr lang="en-US" altLang="zh-CN" sz="1000" dirty="0">
              <a:sym typeface="+mn-ea"/>
            </a:endParaRPr>
          </a:p>
          <a:p>
            <a:pPr marL="800100" lvl="1" indent="-342900">
              <a:buAutoNum type="arabicPeriod"/>
            </a:pPr>
            <a:r>
              <a:rPr lang="en-US" altLang="zh-CN" sz="1000" dirty="0">
                <a:sym typeface="+mn-ea"/>
              </a:rPr>
              <a:t>Last </a:t>
            </a:r>
            <a:r>
              <a:rPr lang="zh-CN" altLang="en-US" sz="1000" dirty="0">
                <a:sym typeface="+mn-ea"/>
              </a:rPr>
              <a:t>缓存查询性能优化</a:t>
            </a:r>
            <a:endParaRPr lang="en-US" altLang="zh-CN" sz="1000" dirty="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sym typeface="+mn-ea"/>
              </a:rPr>
              <a:t>视图 （主讲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开发者：潘魏；开发者）</a:t>
            </a:r>
            <a:endParaRPr lang="en-US" altLang="zh-CN" sz="1400" dirty="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sym typeface="+mn-ea"/>
              </a:rPr>
              <a:t>多级存储故障恢复 （主讲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开发者：赵本光）</a:t>
            </a:r>
            <a:endParaRPr lang="en-US" altLang="zh-CN" sz="1400" dirty="0"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zh-CN" sz="1400" dirty="0">
                <a:sym typeface="+mn-ea"/>
              </a:rPr>
              <a:t>BI </a:t>
            </a:r>
            <a:r>
              <a:rPr lang="zh-CN" altLang="en-US" sz="1400" dirty="0">
                <a:sym typeface="+mn-ea"/>
              </a:rPr>
              <a:t>与 </a:t>
            </a:r>
            <a:r>
              <a:rPr lang="en-US" altLang="zh-CN" sz="1400" dirty="0" err="1">
                <a:sym typeface="+mn-ea"/>
              </a:rPr>
              <a:t>TDengine</a:t>
            </a:r>
            <a:r>
              <a:rPr lang="en-US" altLang="zh-CN" sz="1400" dirty="0">
                <a:sym typeface="+mn-ea"/>
              </a:rPr>
              <a:t> </a:t>
            </a:r>
            <a:r>
              <a:rPr lang="zh-CN" altLang="en-US" sz="1400" dirty="0">
                <a:sym typeface="+mn-ea"/>
              </a:rPr>
              <a:t>的集成 （主讲：关胜亮；开发者：周升连，霍立波，佘彦杰）</a:t>
            </a:r>
            <a:endParaRPr lang="en-US" altLang="zh-CN" sz="14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8095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支持时间转换函数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王加明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时间转换函数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5" y="1825625"/>
            <a:ext cx="11704955" cy="4843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函数</a:t>
            </a:r>
          </a:p>
          <a:p>
            <a:r>
              <a:rPr lang="zh-CN" altLang="en-US" sz="2400" dirty="0"/>
              <a:t>to_timestamp('2023-10-10 10:10:10.123', 'YYYY-MM-DD HH:MI:SS.MS');</a:t>
            </a:r>
          </a:p>
          <a:p>
            <a:r>
              <a:rPr lang="zh-CN" altLang="en-US" sz="2400" dirty="0"/>
              <a:t>to_char(ts, 'YYYY-MM-DD HH:MI:SS.MS');</a:t>
            </a:r>
          </a:p>
          <a:p>
            <a:pPr marL="0" indent="0">
              <a:buNone/>
            </a:pPr>
            <a:r>
              <a:rPr lang="zh-CN" altLang="en-US" dirty="0"/>
              <a:t>说明</a:t>
            </a:r>
          </a:p>
          <a:p>
            <a:r>
              <a:rPr lang="zh-CN" altLang="en-US" sz="2400" dirty="0"/>
              <a:t>to_timestamp</a:t>
            </a:r>
            <a:r>
              <a:rPr lang="en-US" altLang="zh-CN" sz="2400" dirty="0"/>
              <a:t>: </a:t>
            </a:r>
            <a:r>
              <a:rPr lang="zh-CN" altLang="en-US" sz="2400" dirty="0"/>
              <a:t>从字符串中按照时间格式提取时间并转为timestamp类型的数据.</a:t>
            </a:r>
          </a:p>
          <a:p>
            <a:r>
              <a:rPr lang="zh-CN" altLang="en-US" sz="2400" dirty="0"/>
              <a:t>to_char</a:t>
            </a:r>
            <a:r>
              <a:rPr lang="en-US" altLang="zh-CN" sz="2400" dirty="0"/>
              <a:t>: </a:t>
            </a:r>
            <a:r>
              <a:rPr lang="zh-CN" altLang="en-US" sz="2400" dirty="0"/>
              <a:t>将时间戳按照指定的格式转换为字符串.</a:t>
            </a:r>
          </a:p>
          <a:p>
            <a:pPr marL="0" indent="0">
              <a:buNone/>
            </a:pPr>
            <a:r>
              <a:rPr lang="zh-CN" altLang="en-US" sz="2400" dirty="0"/>
              <a:t>示例</a:t>
            </a:r>
          </a:p>
          <a:p>
            <a:r>
              <a:rPr lang="en-US" altLang="zh-CN" sz="1400" dirty="0"/>
              <a:t>to_timestamp(‘This year is 2023, today is 10-10, it’s 10:10:10.123 now’, ‘”</a:t>
            </a:r>
            <a:r>
              <a:rPr lang="en-US" altLang="zh-CN" sz="1400" dirty="0">
                <a:sym typeface="+mn-ea"/>
              </a:rPr>
              <a:t>This </a:t>
            </a:r>
            <a:r>
              <a:rPr lang="en-US" altLang="zh-CN" sz="1400" dirty="0"/>
              <a:t>year is” YYYY, </a:t>
            </a:r>
            <a:r>
              <a:rPr lang="en-US" altLang="zh-CN" sz="1400" dirty="0">
                <a:sym typeface="+mn-ea"/>
              </a:rPr>
              <a:t>”</a:t>
            </a:r>
            <a:r>
              <a:rPr lang="en-US" altLang="zh-CN" sz="1400" dirty="0"/>
              <a:t>today is” MM-DD, “it’s” </a:t>
            </a:r>
            <a:r>
              <a:rPr lang="zh-CN" altLang="en-US" sz="1400" dirty="0">
                <a:sym typeface="+mn-ea"/>
              </a:rPr>
              <a:t>HH:MI:SS.MS</a:t>
            </a:r>
            <a:r>
              <a:rPr lang="en-US" altLang="zh-CN" sz="1400" dirty="0">
                <a:sym typeface="+mn-ea"/>
              </a:rPr>
              <a:t> “now”</a:t>
            </a:r>
            <a:r>
              <a:rPr lang="en-US" altLang="zh-CN" sz="1400" dirty="0"/>
              <a:t>’</a:t>
            </a:r>
            <a:r>
              <a:rPr lang="zh-CN" altLang="en-US" sz="1400" dirty="0"/>
              <a:t>）</a:t>
            </a:r>
          </a:p>
          <a:p>
            <a:pPr marL="0" indent="0">
              <a:buNone/>
            </a:pPr>
            <a:r>
              <a:rPr lang="en-US" altLang="zh-CN" sz="1400" dirty="0"/>
              <a:t>    =&gt; 1696903810123</a:t>
            </a:r>
          </a:p>
          <a:p>
            <a:r>
              <a:rPr lang="en-US" altLang="zh-CN" sz="1400" dirty="0"/>
              <a:t>to_char(</a:t>
            </a:r>
            <a:r>
              <a:rPr lang="en-US" altLang="zh-CN" sz="1400" dirty="0">
                <a:sym typeface="+mn-ea"/>
              </a:rPr>
              <a:t>1696903810123, ‘”Today is” Mon </a:t>
            </a:r>
            <a:r>
              <a:rPr lang="zh-CN" altLang="en-US" sz="1400" dirty="0">
                <a:sym typeface="+mn-ea"/>
              </a:rPr>
              <a:t>DD</a:t>
            </a:r>
            <a:r>
              <a:rPr lang="en-US" altLang="zh-CN" sz="1400" dirty="0">
                <a:sym typeface="+mn-ea"/>
              </a:rPr>
              <a:t>, </a:t>
            </a:r>
            <a:r>
              <a:rPr lang="zh-CN" altLang="en-US" sz="1400" dirty="0">
                <a:sym typeface="+mn-ea"/>
              </a:rPr>
              <a:t>YYYY</a:t>
            </a:r>
            <a:r>
              <a:rPr lang="en-US" altLang="zh-CN" sz="1400" dirty="0">
                <a:sym typeface="+mn-ea"/>
              </a:rPr>
              <a:t>, “now it’s”</a:t>
            </a:r>
            <a:r>
              <a:rPr lang="zh-CN" altLang="en-US" sz="1400" dirty="0">
                <a:sym typeface="+mn-ea"/>
              </a:rPr>
              <a:t> HH:MI:SS.MS</a:t>
            </a:r>
            <a:r>
              <a:rPr lang="en-US" altLang="zh-CN" sz="1400" dirty="0">
                <a:sym typeface="+mn-ea"/>
              </a:rPr>
              <a:t>PM’)</a:t>
            </a:r>
          </a:p>
          <a:p>
            <a:pPr marL="0" indent="0">
              <a:buNone/>
            </a:pPr>
            <a:r>
              <a:rPr lang="en-US" altLang="zh-CN" sz="1400" dirty="0"/>
              <a:t>    =&gt; </a:t>
            </a:r>
            <a:r>
              <a:rPr lang="en-US" altLang="zh-CN" sz="1400" dirty="0">
                <a:sym typeface="+mn-ea"/>
              </a:rPr>
              <a:t>Today is Oct 10, 2023, now it’s 10:10:10.123AM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支持通过超级表写入数据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周升连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通过超级表写入数据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3360"/>
            <a:ext cx="10618470" cy="4962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语法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sz="1400" dirty="0"/>
              <a:t>INSERT INTO  stb1_name [(field1_name, ...)] VALUES (field1_value, ...) [(field1_value2, ...) ...] | FILE csv_file_path</a:t>
            </a:r>
          </a:p>
          <a:p>
            <a:pPr marL="0" lvl="0" indent="0">
              <a:buNone/>
            </a:pPr>
            <a:r>
              <a:rPr lang="en-US" altLang="zh-CN" sz="1400" dirty="0"/>
              <a:t>                     [stb2_name [(field1_name, ...)] VALUES (field1_value, ...) [(field1_value2, ...) ...] | FILE csv_file_path ...];</a:t>
            </a:r>
          </a:p>
          <a:p>
            <a:pPr marL="0" lvl="0" algn="l">
              <a:buClrTx/>
              <a:buSzTx/>
              <a:buNone/>
            </a:pPr>
            <a:r>
              <a:rPr lang="zh-CN" altLang="en-US" sz="2800" dirty="0"/>
              <a:t>说明</a:t>
            </a:r>
          </a:p>
          <a:p>
            <a:pPr marL="0" lvl="0" indent="0">
              <a:buNone/>
            </a:pPr>
            <a:r>
              <a:rPr lang="zh-CN" altLang="en-US" sz="1400" dirty="0"/>
              <a:t>- field_name 列表中必须指定 tbname 列，tbname列值是字符串且不做转换处理。</a:t>
            </a:r>
          </a:p>
          <a:p>
            <a:pPr marL="0" lvl="0" indent="0">
              <a:buNone/>
            </a:pPr>
            <a:r>
              <a:rPr lang="zh-CN" altLang="en-US" sz="1400" dirty="0"/>
              <a:t>- 在批量写入语句中，支持多个超级表写入，支持同一个超级表不同的子表写入。</a:t>
            </a:r>
          </a:p>
          <a:p>
            <a:pPr marL="0" lvl="0" indent="0">
              <a:buNone/>
            </a:pPr>
            <a:r>
              <a:rPr lang="zh-CN" altLang="en-US" sz="1400" dirty="0"/>
              <a:t>- 支持自动建表：</a:t>
            </a:r>
          </a:p>
          <a:p>
            <a:pPr marL="0" lvl="0" indent="457200">
              <a:buNone/>
            </a:pPr>
            <a:r>
              <a:rPr lang="zh-CN" altLang="en-US" sz="1400" dirty="0">
                <a:sym typeface="+mn-ea"/>
              </a:rPr>
              <a:t>当 tbname 对应的子表不存在时，触发自动建子表功能：</a:t>
            </a:r>
          </a:p>
          <a:p>
            <a:pPr marL="457200" lvl="1" indent="457200">
              <a:buNone/>
            </a:pPr>
            <a:r>
              <a:rPr lang="zh-CN" altLang="en-US" sz="1400" dirty="0">
                <a:sym typeface="+mn-ea"/>
              </a:rPr>
              <a:t>如果</a:t>
            </a:r>
            <a:r>
              <a:rPr lang="en-US" altLang="zh-CN" sz="1400" dirty="0">
                <a:sym typeface="+mn-ea"/>
              </a:rPr>
              <a:t> </a:t>
            </a:r>
            <a:r>
              <a:rPr lang="zh-CN" altLang="en-US" sz="1400" dirty="0">
                <a:sym typeface="+mn-ea"/>
              </a:rPr>
              <a:t>field_name 列表指定了标签列，则使用所指定的标签值自动建表。</a:t>
            </a:r>
          </a:p>
          <a:p>
            <a:pPr marL="457200" lvl="1" indent="457200">
              <a:buNone/>
            </a:pPr>
            <a:r>
              <a:rPr lang="zh-CN" altLang="en-US" sz="1400" dirty="0">
                <a:sym typeface="+mn-ea"/>
              </a:rPr>
              <a:t>如果</a:t>
            </a:r>
            <a:r>
              <a:rPr lang="en-US" altLang="zh-CN" sz="1400" dirty="0">
                <a:sym typeface="+mn-ea"/>
              </a:rPr>
              <a:t> </a:t>
            </a:r>
            <a:r>
              <a:rPr lang="zh-CN" altLang="en-US" sz="1400" dirty="0">
                <a:sym typeface="+mn-ea"/>
              </a:rPr>
              <a:t>field_name 列表没有指定任何标签列，则所有标签列的值设置为NULL。</a:t>
            </a:r>
            <a:endParaRPr lang="zh-CN" altLang="en-US" sz="1400" dirty="0"/>
          </a:p>
          <a:p>
            <a:pPr marL="0" lvl="0" indent="457200">
              <a:buNone/>
            </a:pPr>
            <a:r>
              <a:rPr lang="zh-CN" altLang="en-US" sz="1400" dirty="0">
                <a:sym typeface="+mn-ea"/>
              </a:rPr>
              <a:t>当 tbname 对应的子表存在时，</a:t>
            </a:r>
            <a:r>
              <a:rPr lang="zh-CN" altLang="en-US" sz="1400" dirty="0"/>
              <a:t>如果 field_name 列表指定了标签列，则标签值被自动忽略。</a:t>
            </a:r>
          </a:p>
          <a:p>
            <a:pPr marL="0" lvl="0" indent="0">
              <a:buNone/>
            </a:pPr>
            <a:r>
              <a:rPr lang="en-US" altLang="zh-CN" sz="1400" dirty="0"/>
              <a:t>- </a:t>
            </a:r>
            <a:r>
              <a:rPr lang="zh-CN" altLang="en-US" sz="1400" dirty="0"/>
              <a:t>因为解析成本的增加，性能略低于子表写入方式，推荐优先使用子表写入方式。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LAST</a:t>
            </a:r>
            <a:r>
              <a:rPr lang="zh-CN" altLang="en-US" dirty="0"/>
              <a:t>缓存查询性能优化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王加明、潘魏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LAST</a:t>
            </a:r>
            <a:r>
              <a:rPr lang="zh-CN" altLang="en-US" dirty="0"/>
              <a:t>缓存性能优化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570" y="1326515"/>
            <a:ext cx="11212830" cy="5446395"/>
          </a:xfrm>
        </p:spPr>
        <p:txBody>
          <a:bodyPr/>
          <a:lstStyle/>
          <a:p>
            <a:r>
              <a:rPr lang="zh-CN" altLang="en-US" dirty="0"/>
              <a:t>场景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sz="2000" dirty="0"/>
              <a:t>SELECT ts, column1, last(column1) from table_name;</a:t>
            </a:r>
          </a:p>
          <a:p>
            <a:pPr algn="l">
              <a:buClrTx/>
              <a:buSzTx/>
            </a:pPr>
            <a:r>
              <a:rPr lang="zh-CN" altLang="en-US" sz="2800" dirty="0">
                <a:sym typeface="+mn-ea"/>
              </a:rPr>
              <a:t>场景2</a:t>
            </a:r>
            <a:endParaRPr lang="zh-CN" altLang="en-US" sz="2800" dirty="0"/>
          </a:p>
          <a:p>
            <a:pPr marL="0" indent="0">
              <a:buNone/>
            </a:pPr>
            <a:r>
              <a:rPr lang="en-US" altLang="zh-CN" sz="2000" dirty="0"/>
              <a:t>SELECT avg(column1), count(*), last(column1) from table_name;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SELECT avg(column1), count(*), last_row(column1) from table_name;</a:t>
            </a:r>
            <a:endParaRPr lang="en-US" altLang="zh-CN" sz="2000" dirty="0"/>
          </a:p>
          <a:p>
            <a:pPr algn="l">
              <a:buClrTx/>
              <a:buSzTx/>
            </a:pPr>
            <a:r>
              <a:rPr lang="zh-CN" altLang="en-US" dirty="0"/>
              <a:t>主要逻辑</a:t>
            </a:r>
          </a:p>
          <a:p>
            <a:pPr marL="0" indent="0">
              <a:buNone/>
            </a:pPr>
            <a:r>
              <a:rPr lang="zh-CN" altLang="en-US" sz="1600" dirty="0"/>
              <a:t>在</a:t>
            </a:r>
            <a:r>
              <a:rPr lang="en-US" altLang="zh-CN" sz="1600" dirty="0"/>
              <a:t>LAST/LAST_ROW</a:t>
            </a:r>
            <a:r>
              <a:rPr lang="zh-CN" altLang="en-US" sz="1600" dirty="0"/>
              <a:t>缓存开启的前提下：</a:t>
            </a:r>
          </a:p>
          <a:p>
            <a:pPr marL="0" indent="0">
              <a:buNone/>
            </a:pPr>
            <a:r>
              <a:rPr lang="zh-CN" altLang="en-US" sz="1600" dirty="0"/>
              <a:t>优化前上述两种场景都不会使用</a:t>
            </a:r>
            <a:r>
              <a:rPr lang="en-US" altLang="zh-CN" sz="1600" dirty="0"/>
              <a:t>LAST/LAST_ROW</a:t>
            </a:r>
            <a:r>
              <a:rPr lang="zh-CN" altLang="en-US" sz="1600" dirty="0"/>
              <a:t>缓存的数据。</a:t>
            </a:r>
          </a:p>
          <a:p>
            <a:pPr marL="0" indent="0">
              <a:buNone/>
            </a:pPr>
            <a:r>
              <a:rPr lang="zh-CN" altLang="en-US" sz="1600" dirty="0"/>
              <a:t>优化后</a:t>
            </a:r>
            <a:r>
              <a:rPr lang="zh-CN" altLang="en-US" sz="1600" dirty="0">
                <a:sym typeface="+mn-ea"/>
              </a:rPr>
              <a:t>上述两种场景都会使用</a:t>
            </a:r>
            <a:r>
              <a:rPr lang="en-US" altLang="zh-CN" sz="1600" dirty="0">
                <a:sym typeface="+mn-ea"/>
              </a:rPr>
              <a:t>LAST/LAST_ROW</a:t>
            </a:r>
            <a:r>
              <a:rPr lang="zh-CN" altLang="en-US" sz="1600" dirty="0">
                <a:sym typeface="+mn-ea"/>
              </a:rPr>
              <a:t>缓存的数据，其中场景</a:t>
            </a:r>
            <a:r>
              <a:rPr lang="en-US" altLang="zh-CN" sz="1600" dirty="0">
                <a:sym typeface="+mn-ea"/>
              </a:rPr>
              <a:t>2</a:t>
            </a:r>
            <a:r>
              <a:rPr lang="zh-CN" altLang="en-US" sz="1600" dirty="0">
                <a:sym typeface="+mn-ea"/>
              </a:rPr>
              <a:t>下对于非</a:t>
            </a:r>
            <a:r>
              <a:rPr lang="en-US" altLang="zh-CN" sz="1600" dirty="0">
                <a:sym typeface="+mn-ea"/>
              </a:rPr>
              <a:t>LAST/LAST_ROW</a:t>
            </a:r>
            <a:r>
              <a:rPr lang="zh-CN" altLang="en-US" sz="1600" dirty="0">
                <a:sym typeface="+mn-ea"/>
              </a:rPr>
              <a:t>查询部分会拆分为单独的子查询然后合并结果，暂不支持分组场景。</a:t>
            </a:r>
          </a:p>
          <a:p>
            <a:pPr algn="l">
              <a:buClrTx/>
              <a:buSzTx/>
            </a:pPr>
            <a:r>
              <a:rPr lang="zh-CN" altLang="en-US" sz="2800" dirty="0">
                <a:sym typeface="+mn-ea"/>
              </a:rPr>
              <a:t>性能验证</a:t>
            </a:r>
          </a:p>
          <a:p>
            <a:pPr marL="0" indent="0" algn="l">
              <a:buClrTx/>
              <a:buSzTx/>
              <a:buNone/>
            </a:pPr>
            <a:r>
              <a:rPr lang="zh-CN" altLang="en-US" sz="1600" dirty="0">
                <a:sym typeface="+mn-ea"/>
              </a:rPr>
              <a:t>场景</a:t>
            </a:r>
            <a:r>
              <a:rPr lang="en-US" altLang="zh-CN" sz="1600" dirty="0">
                <a:sym typeface="+mn-ea"/>
              </a:rPr>
              <a:t>1</a:t>
            </a:r>
            <a:r>
              <a:rPr lang="zh-CN" altLang="en-US" sz="1600" dirty="0">
                <a:sym typeface="+mn-ea"/>
              </a:rPr>
              <a:t>：相比与不使用缓存大幅提升，优化幅度等同于不带缓存查询与带缓存查询的差异。</a:t>
            </a:r>
          </a:p>
          <a:p>
            <a:pPr marL="0" indent="0" algn="l">
              <a:buClrTx/>
              <a:buSzTx/>
              <a:buNone/>
            </a:pPr>
            <a:r>
              <a:rPr lang="zh-CN" altLang="en-US" sz="1600" dirty="0">
                <a:sym typeface="+mn-ea"/>
              </a:rPr>
              <a:t>场景</a:t>
            </a:r>
            <a:r>
              <a:rPr lang="en-US" altLang="zh-CN" sz="1600" dirty="0">
                <a:sym typeface="+mn-ea"/>
              </a:rPr>
              <a:t>2</a:t>
            </a:r>
            <a:r>
              <a:rPr lang="zh-CN" altLang="en-US" sz="1600" dirty="0">
                <a:sym typeface="+mn-ea"/>
              </a:rPr>
              <a:t>：优化后的性能等于带缓存的</a:t>
            </a:r>
            <a:r>
              <a:rPr lang="en-US" altLang="zh-CN" sz="1600" dirty="0">
                <a:sym typeface="+mn-ea"/>
              </a:rPr>
              <a:t>LAST/LAST_ROW</a:t>
            </a:r>
            <a:r>
              <a:rPr lang="zh-CN" altLang="en-US" sz="1600" dirty="0">
                <a:sym typeface="+mn-ea"/>
              </a:rPr>
              <a:t>查询与单独子查询的最慢者，实测从几倍到几万倍都可能。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视图功能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潘魏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视图功能</a:t>
            </a:r>
            <a:r>
              <a:rPr lang="en-US" altLang="zh-CN" dirty="0"/>
              <a:t> - 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570" y="1412240"/>
            <a:ext cx="10542270" cy="4826635"/>
          </a:xfrm>
        </p:spPr>
        <p:txBody>
          <a:bodyPr/>
          <a:lstStyle/>
          <a:p>
            <a:r>
              <a:rPr lang="zh-CN" altLang="en-US" sz="2000" dirty="0">
                <a:sym typeface="+mn-ea"/>
              </a:rPr>
              <a:t>企业版功能，便于用户简化操作，提升用户间的分享能力。</a:t>
            </a:r>
          </a:p>
          <a:p>
            <a:r>
              <a:rPr lang="zh-CN" altLang="en-US" sz="2000" dirty="0">
                <a:sym typeface="+mn-ea"/>
              </a:rPr>
              <a:t>视图（View）本质上是一个存储在数据库中的查询语句。视图（非物化视图）本身不包含数据，只有在从视图读取数据时才动态执行视图所指定的查询语句。</a:t>
            </a:r>
          </a:p>
          <a:p>
            <a:r>
              <a:rPr lang="zh-CN" altLang="en-US" sz="2000" dirty="0">
                <a:sym typeface="+mn-ea"/>
              </a:rPr>
              <a:t>我们在创建视图时为视图指定一个名称，然后可以像使用普通表一样对其进行查询等操作。</a:t>
            </a:r>
          </a:p>
          <a:p>
            <a:r>
              <a:rPr lang="zh-CN" altLang="en-US" sz="2000" dirty="0">
                <a:sym typeface="+mn-ea"/>
              </a:rPr>
              <a:t>视图的使用需遵循以下规则：</a:t>
            </a:r>
          </a:p>
          <a:p>
            <a:pPr marL="0" indent="457200">
              <a:buNone/>
            </a:pPr>
            <a:r>
              <a:rPr lang="zh-CN" altLang="en-US" sz="2000" dirty="0">
                <a:sym typeface="+mn-ea"/>
              </a:rPr>
              <a:t>- 视图可以嵌套定义和使用，视图与创建时指定的或当前数据库绑定使用。</a:t>
            </a:r>
          </a:p>
          <a:p>
            <a:pPr marL="0" indent="457200">
              <a:buNone/>
            </a:pPr>
            <a:r>
              <a:rPr lang="zh-CN" altLang="en-US" sz="2000" dirty="0">
                <a:sym typeface="+mn-ea"/>
              </a:rPr>
              <a:t>- 在同一个数据库内，视图名称不允许重名，视图名跟表名也推荐不重名（不强制）。当出现视图与表名重名时，写入、查询、授权、回收权限等操作优先使用同名表。</a:t>
            </a:r>
          </a:p>
          <a:p>
            <a:pPr marL="0" indent="457200">
              <a:buNone/>
            </a:pP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目前只支持从视图查询和订阅。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视图功能</a:t>
            </a:r>
            <a:r>
              <a:rPr lang="en-US" altLang="zh-CN" dirty="0"/>
              <a:t> - </a:t>
            </a:r>
            <a:r>
              <a:rPr lang="zh-CN" dirty="0"/>
              <a:t>创建删除视图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570" y="1412240"/>
            <a:ext cx="10542270" cy="4826635"/>
          </a:xfrm>
        </p:spPr>
        <p:txBody>
          <a:bodyPr/>
          <a:lstStyle/>
          <a:p>
            <a:r>
              <a:rPr lang="zh-CN" altLang="en-US" sz="2000" dirty="0">
                <a:sym typeface="+mn-ea"/>
              </a:rPr>
              <a:t>创建（更新）视图</a:t>
            </a:r>
          </a:p>
          <a:p>
            <a:pPr marL="0" indent="457200">
              <a:buNone/>
            </a:pPr>
            <a:r>
              <a:rPr lang="zh-CN" altLang="en-US" sz="2000" i="1" dirty="0">
                <a:sym typeface="+mn-ea"/>
              </a:rPr>
              <a:t>CREATE [ OR REPLACE ] VIEW [db_name.]view_name AS query</a:t>
            </a:r>
          </a:p>
          <a:p>
            <a:r>
              <a:rPr lang="zh-CN" altLang="en-US" sz="2000" dirty="0">
                <a:sym typeface="+mn-ea"/>
              </a:rPr>
              <a:t>说明</a:t>
            </a:r>
          </a:p>
          <a:p>
            <a:pPr marL="0" indent="457200">
              <a:buNone/>
            </a:pPr>
            <a:r>
              <a:rPr lang="zh-CN" altLang="en-US" sz="2000" dirty="0">
                <a:sym typeface="+mn-ea"/>
              </a:rPr>
              <a:t>- 创建视图时可以指定视图绑定的数据库名（db_name），未明确指定时默认为当前连接绑定的数据库；</a:t>
            </a:r>
          </a:p>
          <a:p>
            <a:pPr marL="0" indent="457200">
              <a:buNone/>
            </a:pPr>
            <a:r>
              <a:rPr lang="zh-CN" altLang="en-US" sz="2000" dirty="0">
                <a:sym typeface="+mn-ea"/>
              </a:rPr>
              <a:t>- 查询语句（query）中推荐指定数据库名，支持跨库视图，未指定时默认为与视图绑定的数据库(有可能非当前连接指定的数据库)；</a:t>
            </a:r>
          </a:p>
          <a:p>
            <a:pPr algn="l">
              <a:buClrTx/>
              <a:buSzTx/>
            </a:pPr>
            <a:r>
              <a:rPr lang="zh-CN" altLang="en-US" sz="2000" dirty="0">
                <a:sym typeface="+mn-ea"/>
              </a:rPr>
              <a:t>删除视图</a:t>
            </a:r>
          </a:p>
          <a:p>
            <a:pPr marL="0" indent="457200">
              <a:buNone/>
            </a:pPr>
            <a:r>
              <a:rPr lang="en-US" altLang="zh-CN" sz="2000" i="1" dirty="0">
                <a:sym typeface="+mn-ea"/>
              </a:rPr>
              <a:t>DROP VIEW [IF EXISTS] [db_name.]view_name;</a:t>
            </a:r>
          </a:p>
          <a:p>
            <a:pPr marL="0" indent="457200">
              <a:buNone/>
            </a:pPr>
            <a:endParaRPr lang="zh-CN" altLang="en-US" sz="2000" dirty="0">
              <a:sym typeface="+mn-ea"/>
            </a:endParaRPr>
          </a:p>
          <a:p>
            <a:pPr algn="l">
              <a:buClrTx/>
              <a:buSzTx/>
            </a:pPr>
            <a:r>
              <a:rPr lang="zh-CN" altLang="en-US" sz="2000" dirty="0">
                <a:sym typeface="+mn-ea"/>
              </a:rPr>
              <a:t>举例</a:t>
            </a:r>
          </a:p>
          <a:p>
            <a:pPr marL="457200" lvl="1" indent="0" algn="l">
              <a:buClrTx/>
              <a:buSzTx/>
              <a:buNone/>
            </a:pPr>
            <a:r>
              <a:rPr lang="en-US" altLang="zh-CN" sz="1600" dirty="0">
                <a:sym typeface="+mn-ea"/>
              </a:rPr>
              <a:t>USE db1;</a:t>
            </a:r>
            <a:endParaRPr lang="zh-CN" altLang="en-US" sz="1600" dirty="0">
              <a:sym typeface="+mn-ea"/>
            </a:endParaRPr>
          </a:p>
          <a:p>
            <a:pPr marL="0" indent="457200">
              <a:buNone/>
            </a:pPr>
            <a:r>
              <a:rPr lang="en-US" altLang="zh-CN" sz="1800" dirty="0">
                <a:sym typeface="+mn-ea"/>
              </a:rPr>
              <a:t>CREATE VIEW db2.view1 AS SELECT count(*) FROM stable1 PARTITION BY TBNAME INTERVAL(1s);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视图功能</a:t>
            </a:r>
            <a:r>
              <a:rPr lang="en-US" altLang="zh-CN" dirty="0"/>
              <a:t> - </a:t>
            </a:r>
            <a:r>
              <a:rPr lang="zh-CN" dirty="0"/>
              <a:t>查看视图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570" y="1412240"/>
            <a:ext cx="10542270" cy="4826635"/>
          </a:xfrm>
        </p:spPr>
        <p:txBody>
          <a:bodyPr/>
          <a:lstStyle/>
          <a:p>
            <a:r>
              <a:rPr lang="en-US" altLang="zh-CN" sz="1800" dirty="0">
                <a:sym typeface="+mn-ea"/>
              </a:rPr>
              <a:t>查看某个数据库下的所有视图</a:t>
            </a:r>
          </a:p>
          <a:p>
            <a:pPr marL="0" indent="457200">
              <a:buNone/>
            </a:pPr>
            <a:r>
              <a:rPr lang="en-US" altLang="zh-CN" sz="1800" dirty="0">
                <a:sym typeface="+mn-ea"/>
              </a:rPr>
              <a:t>SHOW [db_name.]VIEWS;</a:t>
            </a:r>
          </a:p>
          <a:p>
            <a:r>
              <a:rPr lang="en-US" altLang="zh-CN" sz="1800" dirty="0">
                <a:sym typeface="+mn-ea"/>
              </a:rPr>
              <a:t>查看视图的创建语句</a:t>
            </a:r>
          </a:p>
          <a:p>
            <a:pPr marL="0" indent="457200">
              <a:buNone/>
            </a:pPr>
            <a:r>
              <a:rPr lang="en-US" altLang="zh-CN" sz="1800" dirty="0">
                <a:sym typeface="+mn-ea"/>
              </a:rPr>
              <a:t>SHOW CREATE VIEW [db_name.]view_name;</a:t>
            </a:r>
          </a:p>
          <a:p>
            <a:r>
              <a:rPr lang="en-US" altLang="zh-CN" sz="1800" dirty="0">
                <a:sym typeface="+mn-ea"/>
              </a:rPr>
              <a:t>查看视图列信息</a:t>
            </a:r>
          </a:p>
          <a:p>
            <a:pPr marL="0" indent="457200">
              <a:buNone/>
            </a:pPr>
            <a:r>
              <a:rPr lang="en-US" altLang="zh-CN" sz="1800" dirty="0">
                <a:sym typeface="+mn-ea"/>
              </a:rPr>
              <a:t>DESCRIBE [db_name.]view_name;</a:t>
            </a:r>
          </a:p>
          <a:p>
            <a:r>
              <a:rPr lang="en-US" altLang="zh-CN" sz="1800" dirty="0">
                <a:sym typeface="+mn-ea"/>
              </a:rPr>
              <a:t>查看所有视图信息</a:t>
            </a:r>
          </a:p>
          <a:p>
            <a:pPr marL="0" indent="457200">
              <a:buNone/>
            </a:pPr>
            <a:r>
              <a:rPr lang="en-US" altLang="zh-CN" sz="1800" dirty="0">
                <a:sym typeface="+mn-ea"/>
              </a:rPr>
              <a:t>SELECT ... FROM information_schema.ins_views;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视图功能</a:t>
            </a:r>
            <a:r>
              <a:rPr lang="en-US" altLang="zh-CN" dirty="0"/>
              <a:t> - </a:t>
            </a:r>
            <a:r>
              <a:rPr lang="zh-CN" dirty="0"/>
              <a:t>视图权限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570" y="1412240"/>
            <a:ext cx="10542270" cy="5206365"/>
          </a:xfrm>
        </p:spPr>
        <p:txBody>
          <a:bodyPr>
            <a:normAutofit fontScale="90000"/>
          </a:bodyPr>
          <a:lstStyle/>
          <a:p>
            <a:r>
              <a:rPr lang="en-US" altLang="zh-CN" sz="2400" dirty="0">
                <a:sym typeface="+mn-ea"/>
              </a:rPr>
              <a:t>说明</a:t>
            </a:r>
          </a:p>
          <a:p>
            <a:pPr marL="0" indent="0">
              <a:buNone/>
            </a:pPr>
            <a:r>
              <a:rPr lang="en-US" altLang="zh-CN" sz="1800" dirty="0">
                <a:sym typeface="+mn-ea"/>
              </a:rPr>
              <a:t>视图的权限分为 READ、WRITE、ALTER 三种，查询操作需要具备 READ 权限，写入操作需要具备 WRITE 权限，对视图本身的删改操作需要具备 ALTER 权限。</a:t>
            </a:r>
          </a:p>
          <a:p>
            <a:r>
              <a:rPr lang="en-US" altLang="zh-CN" sz="2400" dirty="0">
                <a:sym typeface="+mn-ea"/>
              </a:rPr>
              <a:t>规则</a:t>
            </a:r>
          </a:p>
          <a:p>
            <a:pPr marL="457200" lvl="1" indent="0">
              <a:buNone/>
            </a:pPr>
            <a:r>
              <a:rPr lang="en-US" altLang="zh-CN" sz="2000" dirty="0">
                <a:sym typeface="+mn-ea"/>
              </a:rPr>
              <a:t>- 视图的创建者和 root 用户默认具备所有权限。</a:t>
            </a:r>
          </a:p>
          <a:p>
            <a:pPr marL="457200" lvl="1" indent="0">
              <a:buNone/>
            </a:pPr>
            <a:r>
              <a:rPr lang="en-US" altLang="zh-CN" sz="2000" dirty="0">
                <a:sym typeface="+mn-ea"/>
              </a:rPr>
              <a:t>- 对其他用户进行授权与回收权限</a:t>
            </a:r>
            <a:r>
              <a:rPr lang="zh-CN" altLang="en-US" sz="2000" dirty="0">
                <a:sym typeface="+mn-ea"/>
              </a:rPr>
              <a:t>需</a:t>
            </a:r>
            <a:r>
              <a:rPr lang="en-US" altLang="zh-CN" sz="2000" dirty="0">
                <a:sym typeface="+mn-ea"/>
              </a:rPr>
              <a:t>通过 GRANT 和 REVOKE 语句进行，该操作只能由 root 用户进行。</a:t>
            </a:r>
          </a:p>
          <a:p>
            <a:pPr marL="457200" lvl="1" indent="0">
              <a:buNone/>
            </a:pPr>
            <a:r>
              <a:rPr lang="en-US" altLang="zh-CN" sz="2000" dirty="0">
                <a:sym typeface="+mn-ea"/>
              </a:rPr>
              <a:t>- 视图权限需单独授权与回收，通过db.*进行的授权与回收不含视图权限。</a:t>
            </a:r>
          </a:p>
          <a:p>
            <a:pPr marL="457200" lvl="1" indent="0">
              <a:buNone/>
            </a:pPr>
            <a:r>
              <a:rPr lang="en-US" altLang="zh-CN" sz="2000" dirty="0">
                <a:sym typeface="+mn-ea"/>
              </a:rPr>
              <a:t>- 视图可以嵌套定义与使用，同理对视图权限的校验也是递归进行的。</a:t>
            </a:r>
          </a:p>
          <a:p>
            <a:pPr marL="457200" lvl="1" indent="0">
              <a:buNone/>
            </a:pPr>
            <a:r>
              <a:rPr lang="en-US" altLang="zh-CN" sz="2000" dirty="0">
                <a:sym typeface="+mn-ea"/>
              </a:rPr>
              <a:t>- 为了方便视图的分享与使用，引入视图有效用户（即视图的创建用户）的概念，被授权用户可以使用视图有效用户的库、表及嵌套视图的读写权限。注：视图被 REPLACE 后有效用户也会被更新。</a:t>
            </a:r>
          </a:p>
          <a:p>
            <a:pPr lvl="0" algn="l">
              <a:buClrTx/>
              <a:buSzTx/>
            </a:pPr>
            <a:r>
              <a:rPr lang="en-US" altLang="zh-CN" sz="2400" dirty="0">
                <a:sym typeface="+mn-ea"/>
              </a:rPr>
              <a:t>授权与回收</a:t>
            </a:r>
          </a:p>
          <a:p>
            <a:pPr marL="457200" lvl="1" indent="0">
              <a:buNone/>
            </a:pPr>
            <a:r>
              <a:rPr lang="en-US" altLang="zh-CN" sz="2000" i="1" dirty="0">
                <a:sym typeface="+mn-ea"/>
              </a:rPr>
              <a:t>GRANT privileges ON [db_name.]view_name TO user_name</a:t>
            </a:r>
          </a:p>
          <a:p>
            <a:pPr marL="457200" lvl="1" indent="0">
              <a:buNone/>
            </a:pPr>
            <a:r>
              <a:rPr lang="en-US" altLang="zh-CN" sz="2000" i="1" dirty="0">
                <a:sym typeface="+mn-ea"/>
              </a:rPr>
              <a:t>REVOKE privileges ON [db_name.]view_name FROM user_name</a:t>
            </a:r>
          </a:p>
          <a:p>
            <a:pPr marL="457200" lvl="1" indent="0">
              <a:buNone/>
            </a:pPr>
            <a:r>
              <a:rPr lang="en-US" altLang="zh-CN" sz="2000" i="1" dirty="0">
                <a:sym typeface="+mn-ea"/>
              </a:rPr>
              <a:t>privileges:  { ALL,  | priv_type [, priv_type] ...}</a:t>
            </a:r>
          </a:p>
          <a:p>
            <a:pPr marL="457200" lvl="1" indent="0">
              <a:buNone/>
            </a:pPr>
            <a:r>
              <a:rPr lang="en-US" altLang="zh-CN" sz="2000" i="1" dirty="0">
                <a:sym typeface="+mn-ea"/>
              </a:rPr>
              <a:t>priv_type:  {  READ | WRITE | ALTER }</a:t>
            </a:r>
          </a:p>
          <a:p>
            <a:pPr marL="457200" lvl="1" indent="0">
              <a:buNone/>
            </a:pPr>
            <a:endParaRPr lang="en-US" altLang="zh-CN" sz="2000" i="1" dirty="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视图功能</a:t>
            </a:r>
            <a:r>
              <a:rPr lang="en-US" altLang="zh-CN" dirty="0"/>
              <a:t> - </a:t>
            </a:r>
            <a:r>
              <a:rPr lang="zh-CN" dirty="0"/>
              <a:t>典型使用场景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570" y="1412240"/>
            <a:ext cx="10542270" cy="5206365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ym typeface="+mn-ea"/>
              </a:rPr>
              <a:t>说明</a:t>
            </a:r>
          </a:p>
          <a:p>
            <a:pPr marL="0" indent="0">
              <a:buNone/>
            </a:pPr>
            <a:r>
              <a:rPr lang="zh-CN" altLang="en-US" sz="1800" dirty="0">
                <a:sym typeface="+mn-ea"/>
              </a:rPr>
              <a:t>用户</a:t>
            </a:r>
            <a:r>
              <a:rPr lang="en-US" altLang="zh-CN" sz="1800" dirty="0">
                <a:sym typeface="+mn-ea"/>
              </a:rPr>
              <a:t>user1</a:t>
            </a:r>
            <a:r>
              <a:rPr lang="zh-CN" altLang="en-US" sz="1800" dirty="0">
                <a:sym typeface="+mn-ea"/>
              </a:rPr>
              <a:t>在云上创建了一个库</a:t>
            </a:r>
            <a:r>
              <a:rPr lang="en-US" altLang="zh-CN" sz="1800" dirty="0">
                <a:sym typeface="+mn-ea"/>
              </a:rPr>
              <a:t>db1</a:t>
            </a:r>
            <a:r>
              <a:rPr lang="zh-CN" altLang="en-US" sz="1800" dirty="0">
                <a:sym typeface="+mn-ea"/>
              </a:rPr>
              <a:t>和表</a:t>
            </a:r>
            <a:r>
              <a:rPr lang="en-US" altLang="zh-CN" sz="1800" dirty="0">
                <a:sym typeface="+mn-ea"/>
              </a:rPr>
              <a:t>st1</a:t>
            </a:r>
            <a:r>
              <a:rPr lang="zh-CN" altLang="en-US" sz="1800" dirty="0">
                <a:sym typeface="+mn-ea"/>
              </a:rPr>
              <a:t>，表</a:t>
            </a:r>
            <a:r>
              <a:rPr lang="en-US" altLang="zh-CN" sz="1800" dirty="0">
                <a:sym typeface="+mn-ea"/>
              </a:rPr>
              <a:t>st1</a:t>
            </a:r>
            <a:r>
              <a:rPr lang="zh-CN" altLang="en-US" sz="1800" dirty="0">
                <a:sym typeface="+mn-ea"/>
              </a:rPr>
              <a:t>中含有</a:t>
            </a:r>
            <a:r>
              <a:rPr lang="en-US" altLang="zh-CN" sz="1800" dirty="0">
                <a:sym typeface="+mn-ea"/>
              </a:rPr>
              <a:t>ts, col1, col2, col3...</a:t>
            </a:r>
            <a:r>
              <a:rPr lang="zh-CN" altLang="en-US" sz="1800" dirty="0">
                <a:sym typeface="+mn-ea"/>
              </a:rPr>
              <a:t>等多列数据，用户</a:t>
            </a:r>
            <a:r>
              <a:rPr lang="en-US" altLang="zh-CN" sz="1800" dirty="0">
                <a:sym typeface="+mn-ea"/>
              </a:rPr>
              <a:t>user1</a:t>
            </a:r>
            <a:r>
              <a:rPr lang="zh-CN" altLang="en-US" sz="1800" dirty="0">
                <a:sym typeface="+mn-ea"/>
              </a:rPr>
              <a:t>想分享部分列数据（</a:t>
            </a:r>
            <a:r>
              <a:rPr lang="en-US" altLang="zh-CN" sz="1800" dirty="0">
                <a:sym typeface="+mn-ea"/>
              </a:rPr>
              <a:t>ts, col1, col2) </a:t>
            </a:r>
            <a:r>
              <a:rPr lang="zh-CN" altLang="en-US" sz="1800" dirty="0">
                <a:sym typeface="+mn-ea"/>
              </a:rPr>
              <a:t>给用户</a:t>
            </a:r>
            <a:r>
              <a:rPr lang="en-US" altLang="zh-CN" sz="1800" dirty="0">
                <a:sym typeface="+mn-ea"/>
              </a:rPr>
              <a:t>user2</a:t>
            </a:r>
            <a:r>
              <a:rPr lang="zh-CN" altLang="en-US" sz="1800" dirty="0">
                <a:sym typeface="+mn-ea"/>
              </a:rPr>
              <a:t>可读但不可写。</a:t>
            </a:r>
          </a:p>
          <a:p>
            <a:r>
              <a:rPr lang="zh-CN" altLang="en-US" sz="2400" dirty="0">
                <a:sym typeface="+mn-ea"/>
              </a:rPr>
              <a:t>操作步骤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用户</a:t>
            </a:r>
            <a:r>
              <a:rPr lang="en-US" altLang="zh-CN" sz="2000" dirty="0">
                <a:sym typeface="+mn-ea"/>
              </a:rPr>
              <a:t>user1</a:t>
            </a:r>
            <a:r>
              <a:rPr lang="zh-CN" altLang="en-US" sz="2000" dirty="0">
                <a:sym typeface="+mn-ea"/>
              </a:rPr>
              <a:t>执行：</a:t>
            </a:r>
            <a:r>
              <a:rPr lang="en-US" altLang="zh-CN" sz="2000" dirty="0">
                <a:sym typeface="+mn-ea"/>
              </a:rPr>
              <a:t>CREATE VIEW db1.view1 AS SELECT ts, col1, col2 FROM db1.st1;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用户</a:t>
            </a:r>
            <a:r>
              <a:rPr lang="en-US" altLang="zh-CN" sz="2000" dirty="0">
                <a:sym typeface="+mn-ea"/>
              </a:rPr>
              <a:t>root</a:t>
            </a:r>
            <a:r>
              <a:rPr lang="zh-CN" altLang="en-US" sz="2000" dirty="0">
                <a:sym typeface="+mn-ea"/>
              </a:rPr>
              <a:t>执行：</a:t>
            </a:r>
            <a:r>
              <a:rPr lang="en-US" altLang="zh-CN" sz="2000" dirty="0">
                <a:sym typeface="+mn-ea"/>
              </a:rPr>
              <a:t>  GRANT READ ON db1.view1 TO user2;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用户</a:t>
            </a:r>
            <a:r>
              <a:rPr lang="en-US" altLang="zh-CN" sz="2000" dirty="0">
                <a:sym typeface="+mn-ea"/>
              </a:rPr>
              <a:t>user2</a:t>
            </a:r>
            <a:r>
              <a:rPr lang="zh-CN" altLang="en-US" sz="2000" dirty="0">
                <a:sym typeface="+mn-ea"/>
              </a:rPr>
              <a:t>执行：</a:t>
            </a:r>
            <a:r>
              <a:rPr lang="en-US" altLang="zh-CN" sz="2000" dirty="0">
                <a:sym typeface="+mn-ea"/>
              </a:rPr>
              <a:t>SELECT * FROM db1.view1; </a:t>
            </a:r>
            <a:r>
              <a:rPr lang="zh-CN" altLang="en-US" sz="2000" dirty="0">
                <a:sym typeface="+mn-ea"/>
              </a:rPr>
              <a:t>或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                   CREATE TOPIC topic1 AS SELECT * FROM db1.view1 WHERE col1 &gt; 1;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78" y="1111127"/>
            <a:ext cx="9144000" cy="2387600"/>
          </a:xfrm>
        </p:spPr>
        <p:txBody>
          <a:bodyPr>
            <a:normAutofit/>
          </a:bodyPr>
          <a:lstStyle/>
          <a:p>
            <a:r>
              <a:rPr kumimoji="1" lang="zh-CN" altLang="en-US"/>
              <a:t>多级存储</a:t>
            </a:r>
            <a:r>
              <a:rPr kumimoji="1" lang="en-US" altLang="zh-CN"/>
              <a:t> </a:t>
            </a:r>
            <a:r>
              <a:rPr kumimoji="1" lang="zh-CN" altLang="en-US"/>
              <a:t>磁盘损坏恢复 功能介绍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>
                <a:solidFill>
                  <a:schemeClr val="tx1"/>
                </a:solidFill>
              </a:rPr>
              <a:t>赵本光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79" y="1461204"/>
            <a:ext cx="10515600" cy="4351338"/>
          </a:xfrm>
        </p:spPr>
        <p:txBody>
          <a:bodyPr>
            <a:noAutofit/>
          </a:bodyPr>
          <a:lstStyle/>
          <a:p>
            <a:r>
              <a:rPr lang="zh-CN" altLang="en-US"/>
              <a:t>优化之前：在配置了多级存储的节点上，包含多块磁盘，如果其中一块磁盘发生了磁盘故障，更换磁盘后，因为该节点上每个</a:t>
            </a:r>
            <a:r>
              <a:rPr lang="en-US" altLang="zh-CN"/>
              <a:t>vnode</a:t>
            </a:r>
            <a:r>
              <a:rPr lang="zh-CN" altLang="en-US"/>
              <a:t>均丢失一部分数据，因无法仅进行丢失的部分数据文件恢复，故需要清空当前节点上所有</a:t>
            </a:r>
            <a:r>
              <a:rPr lang="en-US" altLang="zh-CN"/>
              <a:t>vnode</a:t>
            </a:r>
            <a:r>
              <a:rPr lang="zh-CN" altLang="en-US"/>
              <a:t>的全部磁盘数据，整个节点进行全量恢复。</a:t>
            </a:r>
          </a:p>
          <a:p>
            <a:pPr>
              <a:buFont typeface="Wingdings" panose="05000000000000000000" charset="0"/>
              <a:buChar char="•"/>
            </a:pPr>
            <a:r>
              <a:rPr lang="zh-CN" altLang="en-US"/>
              <a:t>当前优化之后：</a:t>
            </a:r>
          </a:p>
          <a:p>
            <a:pPr marL="514350" lvl="0" indent="-514350">
              <a:buAutoNum type="circleNumDbPlain"/>
            </a:pPr>
            <a:r>
              <a:rPr lang="zh-CN" altLang="en-US">
                <a:sym typeface="+mn-ea"/>
              </a:rPr>
              <a:t>节点上的</a:t>
            </a:r>
            <a:r>
              <a:rPr lang="en-US" altLang="zh-CN">
                <a:sym typeface="+mn-ea"/>
              </a:rPr>
              <a:t>vnode</a:t>
            </a:r>
            <a:r>
              <a:rPr lang="zh-CN" altLang="en-US">
                <a:sym typeface="+mn-ea"/>
              </a:rPr>
              <a:t>，</a:t>
            </a:r>
            <a:r>
              <a:rPr lang="zh-CN" altLang="en-US"/>
              <a:t>如果损坏的为非主目录磁盘，即非</a:t>
            </a:r>
            <a:r>
              <a:rPr lang="en-US" altLang="zh-CN"/>
              <a:t>tsdb/current</a:t>
            </a:r>
            <a:r>
              <a:rPr lang="zh-CN" altLang="en-US"/>
              <a:t>、</a:t>
            </a:r>
            <a:r>
              <a:rPr lang="en-US" altLang="zh-CN"/>
              <a:t>meta</a:t>
            </a:r>
            <a:r>
              <a:rPr lang="zh-CN" altLang="en-US"/>
              <a:t>等元信息文件所在磁盘</a:t>
            </a:r>
            <a:r>
              <a:rPr lang="en-US" altLang="zh-CN"/>
              <a:t>, </a:t>
            </a:r>
            <a:r>
              <a:rPr lang="zh-CN" altLang="en-US"/>
              <a:t>那么更换磁盘后，仅缺失部分的数据文件（包含</a:t>
            </a:r>
            <a:r>
              <a:rPr lang="en-US" altLang="zh-CN"/>
              <a:t>head</a:t>
            </a:r>
            <a:r>
              <a:rPr lang="zh-CN" altLang="en-US"/>
              <a:t>、</a:t>
            </a:r>
            <a:r>
              <a:rPr lang="en-US" altLang="zh-CN"/>
              <a:t>data</a:t>
            </a:r>
            <a:r>
              <a:rPr lang="zh-CN" altLang="en-US"/>
              <a:t>、</a:t>
            </a:r>
            <a:r>
              <a:rPr lang="en-US" altLang="zh-CN"/>
              <a:t>sma</a:t>
            </a:r>
            <a:r>
              <a:rPr lang="zh-CN" altLang="en-US"/>
              <a:t>、</a:t>
            </a:r>
            <a:r>
              <a:rPr lang="en-US" altLang="zh-CN"/>
              <a:t>tomb</a:t>
            </a:r>
            <a:r>
              <a:rPr lang="zh-CN" altLang="en-US"/>
              <a:t>、</a:t>
            </a:r>
            <a:r>
              <a:rPr lang="en-US" altLang="zh-CN"/>
              <a:t>stt</a:t>
            </a:r>
            <a:r>
              <a:rPr lang="zh-CN" altLang="en-US"/>
              <a:t>等等文件类型），那么这些缺失数据文件可按需恢复；</a:t>
            </a:r>
          </a:p>
          <a:p>
            <a:pPr marL="514350" indent="-514350">
              <a:buAutoNum type="circleNumDbPlain"/>
            </a:pPr>
            <a:r>
              <a:rPr lang="zh-CN" altLang="en-US"/>
              <a:t>如果损坏的为主目录磁盘，即元信息文件（包括</a:t>
            </a:r>
            <a:r>
              <a:rPr lang="en-US" altLang="zh-CN"/>
              <a:t>tsdb/current</a:t>
            </a:r>
            <a:r>
              <a:rPr lang="zh-CN" altLang="en-US"/>
              <a:t>、</a:t>
            </a:r>
            <a:r>
              <a:rPr lang="en-US" altLang="zh-CN"/>
              <a:t>meta</a:t>
            </a:r>
            <a:r>
              <a:rPr lang="zh-CN" altLang="en-US"/>
              <a:t>等等文件）所在磁盘，那么该</a:t>
            </a:r>
            <a:r>
              <a:rPr lang="en-US" altLang="zh-CN"/>
              <a:t>vnode</a:t>
            </a:r>
            <a:r>
              <a:rPr lang="zh-CN" altLang="en-US"/>
              <a:t>目前仍需全量恢复。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更换故障磁盘，假设被更换的磁盘，文件目录清空；</a:t>
            </a:r>
          </a:p>
          <a:p>
            <a:pPr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启动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taosd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；</a:t>
            </a:r>
          </a:p>
          <a:p>
            <a:pPr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在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taos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中，执行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restore dnode &lt;did&gt;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；其中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&lt;did&gt;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为对应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dnode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的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ID</a:t>
            </a:r>
            <a:r>
              <a:rPr lang="en-US" altLang="zh-CN">
                <a:uFill>
                  <a:solidFill>
                    <a:srgbClr val="000000"/>
                  </a:solidFill>
                </a:uFill>
                <a:sym typeface="+mn-ea"/>
              </a:rPr>
              <a:t>.</a:t>
            </a:r>
            <a:endParaRPr lang="zh-CN" altLang="en-US">
              <a:uFill>
                <a:solidFill>
                  <a:srgbClr val="000000"/>
                </a:solidFill>
              </a:uFill>
            </a:endParaRPr>
          </a:p>
          <a:p>
            <a:pPr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通过命令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show vnodes on dnode &lt;did&gt;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；检查恢复进度。</a:t>
            </a:r>
          </a:p>
          <a:p>
            <a:pPr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当全部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vnode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的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restored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状态为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true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时，节点恢复完成。</a:t>
            </a:r>
          </a:p>
          <a:p>
            <a:pPr marL="0" indent="0">
              <a:buNone/>
            </a:pPr>
            <a:r>
              <a:rPr lang="zh-CN" altLang="en-US" u="sng">
                <a:uFill>
                  <a:solidFill>
                    <a:srgbClr val="000000"/>
                  </a:solidFill>
                </a:uFill>
              </a:rPr>
              <a:t>参考：</a:t>
            </a:r>
            <a:r>
              <a:rPr lang="zh-CN" altLang="en-US" u="sng">
                <a:uFill>
                  <a:solidFill>
                    <a:srgbClr val="000000"/>
                  </a:solidFill>
                </a:uFill>
                <a:hlinkClick r:id="rId2"/>
              </a:rPr>
              <a:t>整体架构 - 多级存储 </a:t>
            </a:r>
            <a:r>
              <a:rPr lang="en-US" altLang="zh-CN" u="sng">
                <a:uFill>
                  <a:solidFill>
                    <a:srgbClr val="000000"/>
                  </a:solidFill>
                </a:uFill>
                <a:hlinkClick r:id="rId2"/>
              </a:rPr>
              <a:t>| TDengine </a:t>
            </a:r>
            <a:r>
              <a:rPr lang="zh-CN" altLang="en-US" u="sng">
                <a:uFill>
                  <a:solidFill>
                    <a:srgbClr val="000000"/>
                  </a:solidFill>
                </a:uFill>
                <a:hlinkClick r:id="rId2"/>
              </a:rPr>
              <a:t>文档 </a:t>
            </a:r>
            <a:r>
              <a:rPr lang="en-US" altLang="zh-CN" u="sng">
                <a:uFill>
                  <a:solidFill>
                    <a:srgbClr val="000000"/>
                  </a:solidFill>
                </a:uFill>
                <a:hlinkClick r:id="rId2"/>
              </a:rPr>
              <a:t>| </a:t>
            </a:r>
            <a:r>
              <a:rPr lang="zh-CN" altLang="en-US" u="sng">
                <a:uFill>
                  <a:solidFill>
                    <a:srgbClr val="000000"/>
                  </a:solidFill>
                </a:uFill>
                <a:hlinkClick r:id="rId2"/>
              </a:rPr>
              <a:t>涛思数据 </a:t>
            </a:r>
            <a:r>
              <a:rPr lang="en-US" altLang="zh-CN" u="sng">
                <a:uFill>
                  <a:solidFill>
                    <a:srgbClr val="000000"/>
                  </a:solidFill>
                </a:uFill>
                <a:hlinkClick r:id="rId2"/>
              </a:rPr>
              <a:t>(taosdata.com)</a:t>
            </a:r>
            <a:endParaRPr lang="zh-CN" altLang="en-US" b="0" u="sng">
              <a:uFill>
                <a:solidFill>
                  <a:srgbClr val="000000"/>
                </a:solidFill>
              </a:uFill>
              <a:hlinkClick r:id="rId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实现机制和基本原理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10000"/>
          </a:bodyPr>
          <a:lstStyle/>
          <a:p>
            <a:pPr marL="0" indent="0">
              <a:buNone/>
            </a:pPr>
            <a:r>
              <a:rPr lang="zh-CN" altLang="en-US" sz="3300">
                <a:solidFill>
                  <a:schemeClr val="tx1"/>
                </a:solidFill>
              </a:rPr>
              <a:t>基本原理：更换磁盘后，缺失的时序数据文件，通过可按照文件组描述数据范围的快照复制机制，从主节点副本复制恢复。</a:t>
            </a:r>
          </a:p>
          <a:p>
            <a:pPr marL="0" indent="0">
              <a:buNone/>
            </a:pPr>
            <a:endParaRPr lang="zh-CN" altLang="en-US" sz="33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参考：</a:t>
            </a:r>
            <a:r>
              <a:rPr>
                <a:hlinkClick r:id="rId2"/>
              </a:rPr>
              <a:t>‍⁡⁣⁣‍‌﻿​‌​⁣​‌⁣﻿​‬⁣‍‬⁤​‍⁡‬﻿​‬﻿⁡‌⁡⁡​​‬‍⁣​⁢﻿​⁣﻿⁣‬⁤‌多级存储部分磁盘故障恢复及其机制详细设计（初稿） - 飞书云文档 (feishu.cn)</a:t>
            </a:r>
            <a:endParaRPr lang="zh-CN" altLang="en-US" b="0" u="sng">
              <a:uFill>
                <a:solidFill>
                  <a:srgbClr val="000000"/>
                </a:solidFill>
              </a:uFill>
              <a:hlinkClick r:id="rId2"/>
            </a:endParaRPr>
          </a:p>
        </p:txBody>
      </p:sp>
      <p:pic>
        <p:nvPicPr>
          <p:cNvPr id="5" name="图片 4" descr="upload_post_object_v2_6113014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270" y="2105379"/>
            <a:ext cx="6931738" cy="3493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/>
        </p:nvSpPr>
        <p:spPr>
          <a:xfrm>
            <a:off x="352540" y="1908280"/>
            <a:ext cx="11486920" cy="12744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1503" tIns="21503" rIns="21503" bIns="21503" numCol="1" spcCol="38100" rtlCol="0" anchor="ctr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50000"/>
              </a:lnSpc>
            </a:pPr>
            <a:r>
              <a:rPr lang="en-US" altLang="zh-CN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TDengine </a:t>
            </a:r>
            <a:r>
              <a:rPr lang="zh-CN" altLang="en-US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适配</a:t>
            </a:r>
            <a:r>
              <a:rPr lang="zh-CN" altLang="en-US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永洪</a:t>
            </a:r>
            <a:r>
              <a:rPr lang="en-US" altLang="zh-CN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BI </a:t>
            </a:r>
            <a:r>
              <a:rPr lang="zh-CN" altLang="en-US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5333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PowerBI </a:t>
            </a:r>
          </a:p>
        </p:txBody>
      </p:sp>
      <p:sp>
        <p:nvSpPr>
          <p:cNvPr id="3" name="Google Shape;160;p36"/>
          <p:cNvSpPr txBox="1"/>
          <p:nvPr/>
        </p:nvSpPr>
        <p:spPr>
          <a:xfrm>
            <a:off x="-397" y="5347938"/>
            <a:ext cx="12216503" cy="30484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  <a:scene3d>
              <a:camera prst="orthographicFront"/>
              <a:lightRig rig="threePt" dir="t"/>
            </a:scene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 algn="ctr">
              <a:lnSpc>
                <a:spcPct val="100000"/>
              </a:lnSpc>
              <a:buSzPts val="2100"/>
              <a:buNone/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20231120</a:t>
            </a:r>
          </a:p>
        </p:txBody>
      </p:sp>
      <p:sp>
        <p:nvSpPr>
          <p:cNvPr id="4" name="Google Shape;160;p36"/>
          <p:cNvSpPr txBox="1"/>
          <p:nvPr/>
        </p:nvSpPr>
        <p:spPr>
          <a:xfrm>
            <a:off x="30481" y="4814994"/>
            <a:ext cx="12216553" cy="49699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  <a:scene3d>
              <a:camera prst="orthographicFront"/>
              <a:lightRig rig="threePt" dir="t"/>
            </a:scene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 algn="ctr">
              <a:lnSpc>
                <a:spcPts val="3467"/>
              </a:lnSpc>
              <a:buSzPts val="2100"/>
              <a:buNone/>
            </a:pPr>
            <a:r>
              <a:rPr lang="zh-CN" altLang="en-US" sz="2667" spc="133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关胜亮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977" y="1266562"/>
            <a:ext cx="11095087" cy="2962734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Tableau、PowerBI、永洪、帆软等 BI 软件通过 JDBC 或者 ODBC 驱动程序连接数据库，并按照关系数据库的 SQL 语法操作数据。由于 TDengine 引入了超级表以及子表这些在传统关系型数据库里不存在的概念，导致有一定的适配工作，阻碍了 BI 工具与 TDengine 的集成。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ODBC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，也可在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taosc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中显示设置）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优化表和视图的显示效果：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 tables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不显示子表，只显示超级表和普通表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在数据库列表中不显示系统数据库：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show database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不显示系统库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information_schema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performance_schema)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在超级表查询结果中增加子表名称</a:t>
            </a:r>
          </a:p>
          <a:p>
            <a:pPr marL="1447764" lvl="2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describe supert table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时显示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tbname</a:t>
            </a:r>
          </a:p>
          <a:p>
            <a:pPr marL="1447764" lvl="2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from super table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时显示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tbname</a:t>
            </a:r>
          </a:p>
          <a:p>
            <a:pPr marL="1447764" lvl="2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last(*) first(*)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时增加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tbname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3" y="522393"/>
            <a:ext cx="7699587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GB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19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13833" y="4287521"/>
            <a:ext cx="6096000" cy="19932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增强查询语法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_wstart, _wend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tbname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等伪列可在外层查询中使用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增加时间转换函数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让 interval 参数支持字符并提供默认单位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中文别名在无法引号时生效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73994" y="4287520"/>
            <a:ext cx="4225713" cy="19932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优化查询性能</a:t>
            </a:r>
          </a:p>
          <a:p>
            <a:pPr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优化通过子表查询超级表的性能</a:t>
            </a:r>
          </a:p>
          <a:p>
            <a:pPr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标签查询不进行全表扫描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增强写入语法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支持通过超极表写入数据</a:t>
            </a:r>
          </a:p>
          <a:p>
            <a:pPr>
              <a:lnSpc>
                <a:spcPct val="150000"/>
              </a:lnSpc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977" y="1266561"/>
            <a:ext cx="11095087" cy="2639569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sp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JDBC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链接中，增加参数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bi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，目前仅支持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websocket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连接方式，不支持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native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连接方式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jdbc:TAOS-RS://192.168.1.98:7541/?user=root&amp;password=taosdata&amp;batchfetch=true&amp;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conmode=1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ODBC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的配置管理器中，增加选项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BI Support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（下个版本发布）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同时修改了一些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ODBC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对话框的显示效果（下个版本发布）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taosc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中，增加函数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int taos_set_conn_mode(TAOS* taos, int mode, int value);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只有企业版有效, 开源版忽略</a:t>
            </a:r>
          </a:p>
          <a:p>
            <a:pPr>
              <a:lnSpc>
                <a:spcPct val="150000"/>
              </a:lnSpc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3" y="522393"/>
            <a:ext cx="7699587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BI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20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5863167" cy="4630420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在位置一：显示超级表，显示普通表，不显示子表，不显示视图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在位置二：不显示超级表，不显示普通表，不显示子表，只显示视图（下个版本完成）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如何实现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引擎支持语法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SHOW [NORMAL|CHILD] TABLES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taosc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taos_set_conn_mode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onnector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把模式传递给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taosadapter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3" y="522393"/>
            <a:ext cx="7699587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模式：表和视图</a:t>
            </a: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21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54" y="1266614"/>
            <a:ext cx="3506893" cy="51926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5863167" cy="4630420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在红色方框中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不显示 information_schema、performance_schema 这两个系统库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显示 test 等用户创建的其他数据库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如何实现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引擎支持语法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SHOW [SYSTEM|USER] DATABASES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taosc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taos_set_conn_mode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onnector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把模式传递给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taosadapter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3" y="522393"/>
            <a:ext cx="7699587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模式：数据库列表</a:t>
            </a: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22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074" y="1266613"/>
            <a:ext cx="2993813" cy="48700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5863167" cy="289136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在预览数据时，显示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tbname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如何实现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引擎在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describe super table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时返回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tbname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引擎对一些查询进行改写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taosc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taos_set_conn_mode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onnector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把模式传递给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taosadapter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3" y="522393"/>
            <a:ext cx="7699587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模式：超级表查询返回</a:t>
            </a: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tbname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23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4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833120" y="3545841"/>
          <a:ext cx="4514427" cy="259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BI的查询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查询的改写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last(*)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last(*), last(tbname)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first(*)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first(*), first(tbname)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*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*,tbname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last_row(*)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last_row(*),tbname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954" y="2204721"/>
            <a:ext cx="6054513" cy="43865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954" y="1143000"/>
            <a:ext cx="2440093" cy="7196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3"/>
            <a:ext cx="10883053" cy="331554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在永洪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中如下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SQL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语句中会被嵌套查询转写，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之前不支持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tbname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_wstart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_wend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、函数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在外层查询引用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tbname, ts, speed, vin from test.vehicles;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1447764" lvl="2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-&gt;  SELECT tbname, ts, speed, vin FROM (select tbname, ts, speed, vin from test.vehicles) SUB_QRY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_wstart, avg(phase) from test.d_0 interval(1d);</a:t>
            </a:r>
          </a:p>
          <a:p>
            <a:pPr marL="1447764" lvl="2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-&gt;  SELECT `_wstart`, `avg(phase)` FROM (select _wstart, avg(phase) from test.d_0 interval(1d) ) SUB_QRY 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增强查询语法：</a:t>
            </a:r>
            <a:r>
              <a:rPr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外查询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可用反引号引用内查询的列</a:t>
            </a:r>
            <a:endParaRPr sz="3467" dirty="0" err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24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114" y="3121660"/>
            <a:ext cx="5671820" cy="3144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3"/>
            <a:ext cx="10883053" cy="331554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语法支持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to_timestamp('2023-10-10 10:10:10.123', 'YYYY-MM-DD HH:MI:SS.MS');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to_char(ts, 'YYYY-MM-DD HH:MI:SS.MS');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94682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增强查询语法：增加时间转换函数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25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840" y="2363893"/>
            <a:ext cx="5525347" cy="1854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840" y="4502573"/>
            <a:ext cx="5718387" cy="1854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b="37312"/>
          <a:stretch>
            <a:fillRect/>
          </a:stretch>
        </p:blipFill>
        <p:spPr>
          <a:xfrm>
            <a:off x="613834" y="2363893"/>
            <a:ext cx="5133340" cy="3992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3"/>
            <a:ext cx="10883053" cy="331554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在永洪适配时想要做曲线图，曲线时间间隔根据输入参数动态调整，输入 SQL 语句如下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_wstart ws, avg(val) v from opcdemo.stb_double where tbname=?{metric01} and _c0 &gt;= ?{from} and _c0 &lt; ?{to} interval(?{interval}) fill(null)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有四个变量： metric01、from、to、interval，在具体运行时会序列化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_wstart ws, avg(val) v from opcdemo.stb_double where tbname= 'd_1008'  and _c0 &gt;=  '2023-09-14 00:00:00.000'  and _c0 &lt;  '2023-09-15 00:00:00.000'  interval( '3600' ) fill(null) LIMIT 2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语法支持：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让 interval 关键字的参数支持更多输入形式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支持使用单引号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允许数字和单位之间存在空格，例如 1d -&gt; 1 d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avg(val) from opcdemo.stb_double interval( '3600d' )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avg(val) from opcdemo.stb_double interval( 3600 s )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avg(val) from opcdemo.stb_double interval( 3600 )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增强查询语法：让 </a:t>
            </a: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interval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参数支持字符并提供默认单位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26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3"/>
            <a:ext cx="10883053" cy="331554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永洪 BI 软件支持使用中文作为列的别名，并下推到数据库中查询。在 TDengine 中，中文必须使用反引号包含起来，才能被使用。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val as 中文 from opcdemo.stb_double limit 1 ;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DB error: unrecognized token: "中文 from opcdemo.stb_double limit 1 ;" (0.000078s)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增强后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v_int as 中国 from st_common  order by  中国 limit 5;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增强查询语法：中文别名在无反引号时生效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27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10883900" cy="289136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软件中，不会特别强调子表的概念，所以查询都是通过超级表进行的，如下语法，之前会把查询广播到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vnode1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smeters where tbname = 'd1001'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存在 “tbname = 'd1001'” 或者 “tbname = 'd1001' or tbname = 'd1002'” 类似筛选条件的情况下，查询请求只发给可能存储此 tbname 的超级表。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优化查询性能：优化通过子表查询超级表的性能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28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841" y="3257127"/>
            <a:ext cx="5289127" cy="309964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10883900" cy="289136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point_id 是一个标签，当把标签拖动到表格上时，一定会触发如下 SQL 语句，用来获得 point_id 的所有可能取值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select point_id from opcdemo.stb_double group by point_id order by point_id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这个 SQL 语句能返回正确结果，但是看执行计划，是对全表进行了扫描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给标签列增加一种查询前缀（例如 fields），查询时可以用两种前缀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select tags point_id from opcdemo.stb_double group by point_id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Tags：不进行 table scan，只进行 tag scan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Fields：强制进行 table scan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全表扫描不返回没有数据的表，不全表扫描则返回所有的表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模式下，默认为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tags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关键字的行为，在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模式下，默认为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fields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关键字的行为</a:t>
            </a: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优化查询性能：BI 模式下，标签查询不进行全表扫描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29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47" y="2372361"/>
            <a:ext cx="8957733" cy="20853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10883900" cy="5592233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 BI 模式下，超级表的 schema 已经包括 tbname 字段。使用 BI 软件的用户，并不了解 TDengine 有关超级表、子表的概念，以官网的智能电表场景为例，用户向名为 d1001 的电表写入数据时，一定是通过超级表进行的，会执行如下的 SQL 语句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INSERT INTO smeters (ts, current, voltage, phase, tbname) VALUES (now, 10.27, 0.31, 3.16, 'd1001');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新的语法（性能衰减约为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10%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INSERT INTO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stb1_name [(field1_name, ...)]       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    VALUES (field1_value, ...) [(field1_value2, ...) ...] | FILE csv_file_path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[stb2_name [(field1_name, ...)]  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    VALUES (field1_value, ...) [(field1_value2, ...) ...] | FILE csv_file_path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...];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执行写入语句时，insert into 支持超级表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 field_name 列表中必须指定 tbname 列，否则报错. tbname列是字符串, 其中字符不用转义, 不能包含点‘.‘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在批量写入语句中，对于同一个超级表，支持不同的 tbname 列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在批量写入语句中，支持不同的超级表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在 field_name 列表中支持标签列，当子表已经存在时，指定标签值并不会触发标签值的修改；当子表不存在时会使用所指定的标签值建立子表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当 tbname 对应的子表不存在时，触发自动建子表功能，如果没有指定任何标签列，则把所有标签列的值设置为NUL</a:t>
            </a: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优化写入语法：支持通过超级表写入数据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30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PowerBI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31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87" y="1306408"/>
            <a:ext cx="9975427" cy="55515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永洪</a:t>
            </a:r>
            <a:r>
              <a:rPr lang="en-US" altLang="zh-CN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BI </a:t>
            </a: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32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3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647" y="1426634"/>
            <a:ext cx="6789420" cy="543136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6"/>
          <p:cNvSpPr txBox="1"/>
          <p:nvPr/>
        </p:nvSpPr>
        <p:spPr>
          <a:xfrm>
            <a:off x="580814" y="1266614"/>
            <a:ext cx="10883900" cy="2891367"/>
          </a:xfrm>
          <a:prstGeom prst="rect">
            <a:avLst/>
          </a:prstGeom>
          <a:ln w="12700">
            <a:noFill/>
            <a:miter lim="400000"/>
          </a:ln>
        </p:spPr>
        <p:txBody>
          <a:bodyPr wrap="square" lIns="45719" rIns="45719" rtlCol="0">
            <a:noAutofit/>
          </a:bodyPr>
          <a:lstStyle/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通过对查询语法的增强，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TD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能够支持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PowerBI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永洪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软件的基本使用</a:t>
            </a:r>
          </a:p>
          <a:p>
            <a:pPr marL="228594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限于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TD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还不能支持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SQL92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的全集，因此在使用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BI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软件时，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仍然会遇到不支持的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SQL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语法，在遇到时我们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case by case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去改进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file"/>
              </a:rPr>
              <a:t>PowerBI 手册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file"/>
              </a:rPr>
              <a:t>博客 - 手把手教你使用 PowerBI + TDengine 制作智能电表场景分析报告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file"/>
              </a:rPr>
              <a:t>永洪 BI 手册</a:t>
            </a:r>
          </a:p>
          <a:p>
            <a:pPr marL="838179" lvl="1" indent="-228594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file"/>
              </a:rPr>
              <a:t>博客 - 手把手教你使用永洪 BI + TDengine 制作烟草生产监测页面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Straight Connector 2"/>
          <p:cNvCxnSpPr/>
          <p:nvPr/>
        </p:nvCxnSpPr>
        <p:spPr>
          <a:xfrm flipH="1">
            <a:off x="0" y="821899"/>
            <a:ext cx="487680" cy="0"/>
          </a:xfrm>
          <a:prstGeom prst="line">
            <a:avLst/>
          </a:prstGeom>
          <a:ln w="12700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3;p38"/>
          <p:cNvSpPr txBox="1"/>
          <p:nvPr/>
        </p:nvSpPr>
        <p:spPr>
          <a:xfrm>
            <a:off x="613834" y="522393"/>
            <a:ext cx="11424073" cy="6231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ts val="4987"/>
              </a:lnSpc>
              <a:buClr>
                <a:srgbClr val="000000"/>
              </a:buClr>
              <a:buSzPts val="3000"/>
            </a:pPr>
            <a:r>
              <a:rPr lang="zh-CN" altLang="en-US" sz="3467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4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33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  <p:pic>
        <p:nvPicPr>
          <p:cNvPr id="30" name="Picture 127"/>
          <p:cNvPicPr>
            <a:picLocks noChangeAspect="1"/>
          </p:cNvPicPr>
          <p:nvPr/>
        </p:nvPicPr>
        <p:blipFill rotWithShape="1">
          <a:blip r:embed="rId7"/>
          <a:srcRect r="90937" b="70661"/>
          <a:stretch>
            <a:fillRect/>
          </a:stretch>
        </p:blipFill>
        <p:spPr>
          <a:xfrm rot="16200000">
            <a:off x="9505112" y="-173121"/>
            <a:ext cx="666161" cy="10653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 txBox="1"/>
          <p:nvPr/>
        </p:nvSpPr>
        <p:spPr>
          <a:xfrm>
            <a:off x="550863" y="2622466"/>
            <a:ext cx="11125200" cy="49244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19" rIns="45719" b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Calibri" panose="020F0502020204030204" pitchFamily="34" charset="0"/>
              </a:rPr>
              <a:t>总要有个结尾，我们开始演示吧</a:t>
            </a:r>
          </a:p>
        </p:txBody>
      </p:sp>
      <p:sp>
        <p:nvSpPr>
          <p:cNvPr id="8" name="Slide Number Placeholder 1"/>
          <p:cNvSpPr txBox="1"/>
          <p:nvPr/>
        </p:nvSpPr>
        <p:spPr>
          <a:xfrm>
            <a:off x="11464034" y="6356351"/>
            <a:ext cx="574349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1AF515-A5C4-D04B-B092-CAB901CD21CE}" type="slidenum">
              <a:rPr lang="en-US" sz="1067">
                <a:solidFill>
                  <a:srgbClr val="272A34"/>
                </a:solidFill>
                <a:latin typeface="IBM Plex Sans" panose="020B0503050203000203" pitchFamily="34" charset="0"/>
              </a:rPr>
              <a:t>34</a:t>
            </a:fld>
            <a:endParaRPr lang="en-US" sz="1067" dirty="0">
              <a:solidFill>
                <a:srgbClr val="272A34"/>
              </a:solidFill>
              <a:latin typeface="IBM Plex Sans" panose="020B0503050203000203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M3YTFhMmI0ZTliZDcyNjk3YjM0NzBiOTI2OWZlMD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66*153"/>
  <p:tag name="TABLE_ENDDRAG_RECT" val="49*209*266*15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3317</Words>
  <Application>Microsoft Office PowerPoint</Application>
  <PresentationFormat>宽屏</PresentationFormat>
  <Paragraphs>314</Paragraphs>
  <Slides>34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Microsoft YaHei Light</vt:lpstr>
      <vt:lpstr>MicrosoftYaHeiSemibold</vt:lpstr>
      <vt:lpstr>等线</vt:lpstr>
      <vt:lpstr>等线 Light</vt:lpstr>
      <vt:lpstr>微软雅黑</vt:lpstr>
      <vt:lpstr>Arial</vt:lpstr>
      <vt:lpstr>IBM Plex Sans</vt:lpstr>
      <vt:lpstr>Wingdings</vt:lpstr>
      <vt:lpstr>Office 主题​​</vt:lpstr>
      <vt:lpstr>TDengine 3.2.1.0 简介</vt:lpstr>
      <vt:lpstr>支持时间转换函数</vt:lpstr>
      <vt:lpstr>时间转换函数</vt:lpstr>
      <vt:lpstr>支持通过超级表写入数据</vt:lpstr>
      <vt:lpstr>通过超级表写入数据</vt:lpstr>
      <vt:lpstr>LAST缓存查询性能优化</vt:lpstr>
      <vt:lpstr>LAST缓存性能优化</vt:lpstr>
      <vt:lpstr>视图功能</vt:lpstr>
      <vt:lpstr>视图功能 - 简介</vt:lpstr>
      <vt:lpstr>视图功能 - 创建删除视图</vt:lpstr>
      <vt:lpstr>视图功能 - 查看视图</vt:lpstr>
      <vt:lpstr>视图功能 - 视图权限</vt:lpstr>
      <vt:lpstr>视图功能 - 典型使用场景</vt:lpstr>
      <vt:lpstr>多级存储 磁盘损坏恢复 功能介绍</vt:lpstr>
      <vt:lpstr>功能简介</vt:lpstr>
      <vt:lpstr>使用方式</vt:lpstr>
      <vt:lpstr>实现机制和基本原理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TDengine 3.2.0.0 产品简介</dc:title>
  <dc:creator>wade zhang</dc:creator>
  <cp:lastModifiedBy>wade zhang</cp:lastModifiedBy>
  <cp:revision>8</cp:revision>
  <dcterms:created xsi:type="dcterms:W3CDTF">2023-10-16T09:45:00Z</dcterms:created>
  <dcterms:modified xsi:type="dcterms:W3CDTF">2023-11-21T07:37:37Z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73209235AB134D4BA6833B674D3B61EF_12</vt:lpwstr>
  </property>
</Properties>
</file>