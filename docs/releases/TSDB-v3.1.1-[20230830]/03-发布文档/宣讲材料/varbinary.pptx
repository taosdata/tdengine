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>
                <a:solidFill>
                  <a:srgbClr val="FFFFFF"/>
                </a:solidFill>
              </a:defRPr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740627569_2880x1920.jpg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136959463_1989x1321.jpg"/>
          <p:cNvSpPr/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617931575_1991x1322.jpg"/>
          <p:cNvSpPr/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7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幻灯片标题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0" name="幻灯片副标题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议程标题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89" name="议程副标题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9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0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属性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属性</a:t>
            </a:r>
          </a:p>
        </p:txBody>
      </p:sp>
      <p:sp>
        <p:nvSpPr>
          <p:cNvPr id="11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617931575_1991x1322.jpg"/>
          <p:cNvSpPr/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740627569_2880x1920.jpg"/>
          <p:cNvSpPr/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996267730_2880x1920.jpg"/>
          <p:cNvSpPr/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996267730_2880x1920.jpg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王明明 2023.9.1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王明明 2023.9.1</a:t>
            </a:r>
          </a:p>
        </p:txBody>
      </p:sp>
      <p:sp>
        <p:nvSpPr>
          <p:cNvPr id="152" name="VARBINARY 数据类型"/>
          <p:cNvSpPr txBox="1"/>
          <p:nvPr>
            <p:ph type="ctrTitle"/>
          </p:nvPr>
        </p:nvSpPr>
        <p:spPr>
          <a:xfrm>
            <a:off x="1206496" y="2574991"/>
            <a:ext cx="21971004" cy="4984476"/>
          </a:xfrm>
          <a:prstGeom prst="rect">
            <a:avLst/>
          </a:prstGeom>
        </p:spPr>
        <p:txBody>
          <a:bodyPr/>
          <a:lstStyle/>
          <a:p>
            <a:pPr defTabSz="2413955">
              <a:defRPr spc="-229" sz="11484"/>
            </a:pPr>
            <a:r>
              <a:t>VARBINARY 数据类型</a:t>
            </a:r>
          </a:p>
          <a:p>
            <a:pPr defTabSz="2413955">
              <a:defRPr spc="-229" sz="11484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类型说明…"/>
          <p:cNvSpPr txBox="1"/>
          <p:nvPr/>
        </p:nvSpPr>
        <p:spPr>
          <a:xfrm>
            <a:off x="873436" y="496049"/>
            <a:ext cx="22637128" cy="1219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825500">
              <a:defRPr b="1" sz="5500">
                <a:solidFill>
                  <a:srgbClr val="942192"/>
                </a:solidFill>
              </a:defRPr>
            </a:pPr>
            <a:r>
              <a:t>类型说明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VARBINARY 是一种存储二进制数据的数据类型，类似postgre sql 的 bytea。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VARBINARY类型的长度是可变的，在创建表时指定了最大的字节长度，其长度可以在0到最大长度之间，在这个最大值范围内使用多少就分配多少。</a:t>
            </a:r>
          </a:p>
          <a:p>
            <a: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FFFFFF"/>
                </a:solidFill>
              </a:defRPr>
            </a:pPr>
          </a:p>
          <a:p>
            <a:pPr algn="l" defTabSz="825500">
              <a:defRPr b="1" sz="5500">
                <a:solidFill>
                  <a:srgbClr val="942192"/>
                </a:solidFill>
              </a:defRPr>
            </a:pPr>
            <a:r>
              <a:t>长度限制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VARBINARY 数据列最大长度为 65517 个字节（约等于 64 KB），VARBINARY 标签列最大长度为 16382 个字节（约等于 16 KB）因为需要满足每行数据总长度不超过 64 KB，标签总长度不超过 16 KB的约束</a:t>
            </a:r>
          </a:p>
          <a:p>
            <a: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建表 ( column和tag 都可以是varbinary类型)…"/>
          <p:cNvSpPr txBox="1"/>
          <p:nvPr/>
        </p:nvSpPr>
        <p:spPr>
          <a:xfrm>
            <a:off x="873436" y="869504"/>
            <a:ext cx="22637128" cy="11450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825500">
              <a:defRPr b="1" sz="5500">
                <a:solidFill>
                  <a:srgbClr val="942192"/>
                </a:solidFill>
              </a:defRPr>
            </a:pPr>
            <a:r>
              <a:t>建表 ( column和tag 都可以是varbinary类型)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create stable stb (ts timestamp, c1 nchar(32), </a:t>
            </a:r>
            <a:r>
              <a:rPr>
                <a:solidFill>
                  <a:srgbClr val="FF0809"/>
                </a:solidFill>
              </a:rPr>
              <a:t>c2 varbinary(16)</a:t>
            </a:r>
            <a:r>
              <a:t>, c3 float) tags (t1 int, t2 binary(8), </a:t>
            </a:r>
            <a:r>
              <a:rPr>
                <a:solidFill>
                  <a:srgbClr val="FF3155"/>
                </a:solidFill>
              </a:rPr>
              <a:t>t3 varbinary(8)</a:t>
            </a:r>
            <a:r>
              <a:t>)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c2可以存储数据长度为在[0,16]个字节之间的二进制数据</a:t>
            </a:r>
          </a:p>
          <a:p>
            <a:pPr algn="l" defTabSz="825500">
              <a:defRPr b="1" sz="5500">
                <a:solidFill>
                  <a:srgbClr val="942192"/>
                </a:solidFill>
              </a:defRPr>
            </a:pPr>
          </a:p>
          <a:p>
            <a:pPr algn="l" defTabSz="825500">
              <a:defRPr b="1" sz="5500">
                <a:solidFill>
                  <a:srgbClr val="942192"/>
                </a:solidFill>
              </a:defRPr>
            </a:pPr>
            <a:r>
              <a:t>插入数据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写入16进制表示的二进制数据，以 \x 开头，必须是16进制合法的字符，必须偶数个字符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insert into tb3 using stb tags (3, 'tb3_bin1', </a:t>
            </a:r>
            <a:r>
              <a:rPr>
                <a:solidFill>
                  <a:srgbClr val="FF2600"/>
                </a:solidFill>
              </a:rPr>
              <a:t>'\x7f8290'</a:t>
            </a:r>
            <a:r>
              <a:t>) values (now + 2s, 'nchar1', </a:t>
            </a:r>
            <a:r>
              <a:rPr>
                <a:solidFill>
                  <a:srgbClr val="FF2600"/>
                </a:solidFill>
              </a:rPr>
              <a:t>'\x7f8290'</a:t>
            </a:r>
            <a:r>
              <a:t>, 0.3)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插入数据…"/>
          <p:cNvSpPr txBox="1"/>
          <p:nvPr/>
        </p:nvSpPr>
        <p:spPr>
          <a:xfrm>
            <a:off x="873436" y="1588000"/>
            <a:ext cx="22637128" cy="10013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825500">
              <a:defRPr b="1" sz="5500">
                <a:solidFill>
                  <a:srgbClr val="942192"/>
                </a:solidFill>
              </a:defRPr>
            </a:pPr>
            <a:r>
              <a:t>插入数据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写入字符串，数据库里将存储字符串相应编码的二进制内容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insert into tb1 using stb tags (1, 'tb1_bin1', '</a:t>
            </a:r>
            <a:r>
              <a:rPr>
                <a:solidFill>
                  <a:srgbClr val="FF2600"/>
                </a:solidFill>
              </a:rPr>
              <a:t>vart1</a:t>
            </a:r>
            <a:r>
              <a:t>') values (now, 'nchar1', '</a:t>
            </a:r>
            <a:r>
              <a:rPr>
                <a:solidFill>
                  <a:srgbClr val="FF2600"/>
                </a:solidFill>
              </a:rPr>
              <a:t>varc1</a:t>
            </a:r>
            <a:r>
              <a:t>', 0.3)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其他写入类型报错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taos&gt; insert into tb2 using stb tags (2, 'tb2_bin1', </a:t>
            </a:r>
            <a:r>
              <a:rPr>
                <a:solidFill>
                  <a:srgbClr val="FF2600"/>
                </a:solidFill>
              </a:rPr>
              <a:t>093</a:t>
            </a:r>
            <a:r>
              <a:t>) values (now + 2s, 'nchar1', </a:t>
            </a:r>
            <a:r>
              <a:rPr>
                <a:solidFill>
                  <a:srgbClr val="FF2600"/>
                </a:solidFill>
              </a:rPr>
              <a:t>892</a:t>
            </a:r>
            <a:r>
              <a:t>, 0.3);</a:t>
            </a:r>
          </a:p>
          <a:p>
            <a:pPr lvl="1" algn="l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FFFFFF"/>
                </a:solidFill>
              </a:defRPr>
            </a:pPr>
            <a:r>
              <a:t>     DB error: Invalid varbinary value: t3 (0.001733s)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查询（结果以16进制 \x开头显示）…"/>
          <p:cNvSpPr txBox="1"/>
          <p:nvPr/>
        </p:nvSpPr>
        <p:spPr>
          <a:xfrm>
            <a:off x="873436" y="2124193"/>
            <a:ext cx="22637128" cy="8940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825500">
              <a:defRPr b="1" sz="5500">
                <a:solidFill>
                  <a:srgbClr val="942192"/>
                </a:solidFill>
              </a:defRPr>
            </a:pPr>
            <a:r>
              <a:t>查询（结果以16进制 \x开头显示）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taos&gt; select * from stb;</a:t>
            </a:r>
          </a:p>
          <a:p>
            <a: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FFFFFF"/>
                </a:solidFill>
              </a:defRPr>
            </a:pPr>
          </a:p>
          <a:p>
            <a:pPr algn="l" defTabSz="457200">
              <a:lnSpc>
                <a:spcPct val="200000"/>
              </a:lnSpc>
              <a:defRPr sz="17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ts            |               c1               |               c2               |          c3          |     t1      |     t2     |          t3          |</a:t>
            </a:r>
          </a:p>
          <a:p>
            <a:pPr algn="l" defTabSz="457200">
              <a:lnSpc>
                <a:spcPct val="200000"/>
              </a:lnSpc>
              <a:defRPr sz="17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=====================================================================================================================================================================</a:t>
            </a:r>
          </a:p>
          <a:p>
            <a:pPr algn="l" defTabSz="457200">
              <a:lnSpc>
                <a:spcPct val="200000"/>
              </a:lnSpc>
              <a:defRPr sz="17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2023-09-01 15:11:22.854 | nchar1                         | \x7F8290                       |            0.3000000 |           3 | tb3_bin1   | \x7F8290             |</a:t>
            </a:r>
          </a:p>
          <a:p>
            <a:pPr algn="l" defTabSz="457200">
              <a:lnSpc>
                <a:spcPct val="200000"/>
              </a:lnSpc>
              <a:defRPr sz="17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2023-09-01 15:11:23.856 | nchar1                         | \x7F829000                     |            0.3000000 |           3 | tb3_bin1   | \x7F8290             |</a:t>
            </a:r>
          </a:p>
          <a:p>
            <a:pPr algn="l" defTabSz="457200">
              <a:lnSpc>
                <a:spcPct val="200000"/>
              </a:lnSpc>
              <a:defRPr sz="17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2023-09-01 15:11:20.849 | nchar1                         | \x7661726331                   |            0.3000000 |           1 | tb1_bin1   | \x7661727431         |</a:t>
            </a:r>
          </a:p>
          <a:p>
            <a:pPr algn="l" defTabSz="457200">
              <a:lnSpc>
                <a:spcPct val="200000"/>
              </a:lnSpc>
              <a:defRPr sz="17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2023-09-01 15:11:21.852 | nchar2                         | NULL                           |            0.4000000 |           1 | tb1_bin1   | \x7661727431         |</a:t>
            </a:r>
          </a:p>
          <a:p>
            <a:pPr algn="l" defTabSz="457200">
              <a:lnSpc>
                <a:spcPct val="200000"/>
              </a:lnSpc>
              <a:defRPr sz="17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2023-09-01 15:11:24.858 | nchar1                         | \x                             |            0.3000000 |           2 | tb2_bin1   | \x                   |</a:t>
            </a:r>
          </a:p>
          <a:p>
            <a:pPr algn="l" defTabSz="457200">
              <a:lnSpc>
                <a:spcPct val="200000"/>
              </a:lnSpc>
              <a:defRPr sz="17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2023-09-01 15:11:25.860 | nchar1                         | \x00000000                     |            0.3000000 |           2 | tb2_bin1   | \x                   |</a:t>
            </a:r>
          </a:p>
          <a:p>
            <a:pPr algn="l" defTabSz="457200">
              <a:lnSpc>
                <a:spcPct val="200000"/>
              </a:lnSpc>
              <a:defRPr sz="17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Query OK, 6 row(s) in set (0.028570s)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VARBINARY  操作符和谓词…"/>
          <p:cNvSpPr txBox="1"/>
          <p:nvPr/>
        </p:nvSpPr>
        <p:spPr>
          <a:xfrm>
            <a:off x="873436" y="143607"/>
            <a:ext cx="22637128" cy="12901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825500">
              <a:defRPr b="1" sz="5500">
                <a:solidFill>
                  <a:srgbClr val="942192"/>
                </a:solidFill>
              </a:defRPr>
            </a:pPr>
            <a:r>
              <a:t>VARBINARY  操作符和谓词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不支持的操作符和谓词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算术运算符，位运算符，[NOT] LIKE / MATCH / NMATCH / -&gt; / CONTAINS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支持的操作符和谓词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比较运算符（按字节从左到右比较，相同时更长的大）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IS [NOT] NULL / [NOT] BETWEEN AND / [NOT] IN</a:t>
            </a:r>
            <a:br/>
          </a:p>
          <a:p>
            <a:pPr algn="l" defTabSz="825500">
              <a:defRPr b="1" sz="5500">
                <a:solidFill>
                  <a:srgbClr val="942192"/>
                </a:solidFill>
              </a:defRPr>
            </a:pPr>
            <a:r>
              <a:t>VARBINARY 函数操作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仅支持 first/last/last_row/count/hyperloglog/sample/tail/mode/cast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cast函数不支持 VARBINARY 转成其他类型；其他类型只有 varchar 可以转换为VARBINARY（和写入一致）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VARBINARY 类型支持 schemaless 方式写入…"/>
          <p:cNvSpPr txBox="1"/>
          <p:nvPr/>
        </p:nvSpPr>
        <p:spPr>
          <a:xfrm>
            <a:off x="873436" y="2109400"/>
            <a:ext cx="22637128" cy="897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825500">
              <a:defRPr b="1" sz="5500">
                <a:solidFill>
                  <a:srgbClr val="942192"/>
                </a:solidFill>
              </a:defRPr>
            </a:pPr>
            <a:r>
              <a:t>VARBINARY 类型支持 schemaless 方式写入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同sql写入一样，可以写入16进制表示的二进制数据，以 \x 开头，或者写入字符串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FFFFFF"/>
                </a:solidFill>
              </a:defRPr>
            </a:pPr>
            <a:r>
              <a:t>VARBINARY类型需以 b/B 开头</a:t>
            </a:r>
          </a:p>
          <a:p>
            <a: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FFFFFF"/>
                </a:solidFill>
              </a:defRPr>
            </a:pPr>
          </a:p>
          <a:p>
            <a:pPr algn="l" defTabSz="457200">
              <a:defRPr sz="46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vbin,t1=1 f1=283i32,</a:t>
            </a:r>
            <a:r>
              <a:rPr>
                <a:solidFill>
                  <a:srgbClr val="FF2600"/>
                </a:solidFill>
              </a:rPr>
              <a:t>f2=b"hello"</a:t>
            </a:r>
            <a:r>
              <a:t> 1632299372000</a:t>
            </a:r>
          </a:p>
          <a:p>
            <a:pPr algn="l" defTabSz="457200">
              <a:defRPr sz="46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vbin,t1=1 </a:t>
            </a:r>
            <a:r>
              <a:rPr>
                <a:solidFill>
                  <a:srgbClr val="FF2600"/>
                </a:solidFill>
              </a:rPr>
              <a:t>f2=B"\x98f46e"</a:t>
            </a:r>
            <a:r>
              <a:t>,f1=106i32 1632299373000</a:t>
            </a:r>
          </a:p>
          <a:p>
            <a:pPr algn="l" defTabSz="457200">
              <a:defRPr sz="460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algn="l" defTabSz="825500">
              <a:defRPr b="1" sz="5500">
                <a:solidFill>
                  <a:srgbClr val="942192"/>
                </a:solidFill>
              </a:defRPr>
            </a:pPr>
            <a:r>
              <a:t>VARBINARY 类型支持 stmt 方式写入</a:t>
            </a:r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5E5E5E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