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80" r:id="rId3"/>
    <p:sldId id="283" r:id="rId4"/>
    <p:sldId id="314" r:id="rId5"/>
    <p:sldId id="311" r:id="rId6"/>
    <p:sldId id="342" r:id="rId7"/>
    <p:sldId id="344" r:id="rId8"/>
    <p:sldId id="343" r:id="rId9"/>
    <p:sldId id="345" r:id="rId10"/>
    <p:sldId id="347" r:id="rId11"/>
    <p:sldId id="348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6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tags" Target="../tags/tag4.xml"/><Relationship Id="rId2" Type="http://schemas.openxmlformats.org/officeDocument/2006/relationships/image" Target="../media/image3.png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TDengine 3.1.1.0 </a:t>
            </a:r>
            <a:r>
              <a:rPr lang="zh-CN" altLang="en-US"/>
              <a:t>功能简介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624070"/>
            <a:ext cx="9144000" cy="633730"/>
          </a:xfrm>
        </p:spPr>
        <p:txBody>
          <a:bodyPr/>
          <a:lstStyle/>
          <a:p>
            <a:r>
              <a:rPr lang="zh-CN" altLang="en-US"/>
              <a:t>研发部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主要功能与优化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查询性能优化</a:t>
            </a:r>
            <a:endParaRPr lang="zh-CN" altLang="en-US" dirty="0"/>
          </a:p>
          <a:p>
            <a:pPr lvl="1"/>
            <a:r>
              <a:rPr lang="en-US" altLang="zh-CN" sz="2400" dirty="0" err="1"/>
              <a:t>aggregate + partition</a:t>
            </a:r>
            <a:r>
              <a:rPr lang="en-US" altLang="zh-CN" sz="2400" dirty="0"/>
              <a:t> by </a:t>
            </a:r>
            <a:r>
              <a:rPr lang="en-US" altLang="zh-CN" sz="2400" dirty="0" err="1"/>
              <a:t>tag </a:t>
            </a:r>
            <a:r>
              <a:rPr lang="en-US" altLang="zh-CN" sz="2400" dirty="0"/>
              <a:t>+ </a:t>
            </a:r>
            <a:r>
              <a:rPr lang="en-US" altLang="zh-CN" sz="2400" dirty="0" err="1"/>
              <a:t>slimit</a:t>
            </a:r>
            <a:r>
              <a:rPr lang="en-US" altLang="zh-CN" sz="2400" dirty="0"/>
              <a:t> </a:t>
            </a:r>
            <a:r>
              <a:rPr lang="zh-CN" altLang="en-US" sz="2400" dirty="0"/>
              <a:t>（王加明）</a:t>
            </a:r>
            <a:endParaRPr lang="zh-CN" altLang="en-US" sz="2400" dirty="0"/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tag scan </a:t>
            </a:r>
            <a:r>
              <a:rPr lang="zh-CN" altLang="en-US" dirty="0">
                <a:solidFill>
                  <a:schemeClr val="tx1"/>
                </a:solidFill>
              </a:rPr>
              <a:t>（周升连）</a:t>
            </a:r>
            <a:endParaRPr lang="zh-CN" altLang="en-US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超级表</a:t>
            </a:r>
            <a:r>
              <a:rPr lang="en-US" altLang="zh-CN" dirty="0">
                <a:solidFill>
                  <a:schemeClr val="tx1"/>
                </a:solidFill>
              </a:rPr>
              <a:t>join </a:t>
            </a:r>
            <a:r>
              <a:rPr lang="zh-CN" altLang="en-US" dirty="0">
                <a:solidFill>
                  <a:schemeClr val="tx1"/>
                </a:solidFill>
              </a:rPr>
              <a:t>（潘魏）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>
                <a:sym typeface="+mn-ea"/>
              </a:rPr>
              <a:t>aggregate + parition</a:t>
            </a:r>
            <a:r>
              <a:rPr lang="en-US" altLang="zh-CN" dirty="0">
                <a:sym typeface="+mn-ea"/>
              </a:rPr>
              <a:t> by </a:t>
            </a:r>
            <a:r>
              <a:rPr lang="en-US" altLang="zh-CN" dirty="0" err="1">
                <a:sym typeface="+mn-ea"/>
              </a:rPr>
              <a:t>tag </a:t>
            </a:r>
            <a:r>
              <a:rPr lang="en-US" altLang="zh-CN" dirty="0">
                <a:sym typeface="+mn-ea"/>
              </a:rPr>
              <a:t>+ </a:t>
            </a:r>
            <a:r>
              <a:rPr lang="en-US" altLang="zh-CN" dirty="0" err="1">
                <a:sym typeface="+mn-ea"/>
              </a:rPr>
              <a:t>slimit</a:t>
            </a:r>
            <a:r>
              <a:rPr lang="zh-CN" altLang="en-US" dirty="0" err="1">
                <a:sym typeface="+mn-ea"/>
              </a:rPr>
              <a:t>性能优化（</a:t>
            </a:r>
            <a:r>
              <a:rPr lang="en-US" altLang="zh-CN" dirty="0" err="1">
                <a:sym typeface="+mn-ea"/>
              </a:rPr>
              <a:t>1</a:t>
            </a:r>
            <a:r>
              <a:rPr lang="zh-CN" altLang="en-US" dirty="0" err="1">
                <a:sym typeface="+mn-ea"/>
              </a:rPr>
              <a:t>）</a:t>
            </a:r>
            <a:endParaRPr lang="zh-CN" altLang="en-US" dirty="0" err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4925" y="1920875"/>
            <a:ext cx="8839200" cy="4228465"/>
          </a:xfrm>
        </p:spPr>
        <p:txBody>
          <a:bodyPr>
            <a:normAutofit fontScale="60000"/>
          </a:bodyPr>
          <a:lstStyle/>
          <a:p>
            <a:pPr lvl="0">
              <a:lnSpc>
                <a:spcPct val="160000"/>
              </a:lnSpc>
            </a:pPr>
            <a:r>
              <a:rPr lang="en-US" dirty="0"/>
              <a:t>SQL</a:t>
            </a:r>
            <a:r>
              <a:rPr lang="zh-CN" altLang="en-US" dirty="0"/>
              <a:t>形如select count(*) from </a:t>
            </a:r>
            <a:r>
              <a:rPr lang="en-US" altLang="zh-CN" dirty="0"/>
              <a:t>stableX </a:t>
            </a:r>
            <a:r>
              <a:rPr lang="zh-CN" altLang="en-US" dirty="0"/>
              <a:t>partition by </a:t>
            </a:r>
            <a:r>
              <a:rPr lang="en-US" altLang="zh-CN" dirty="0"/>
              <a:t>tagX</a:t>
            </a:r>
            <a:r>
              <a:rPr lang="zh-CN" altLang="en-US" dirty="0"/>
              <a:t> slimit 10;</a:t>
            </a:r>
            <a:endParaRPr lang="zh-CN" altLang="en-US" dirty="0"/>
          </a:p>
          <a:p>
            <a:pPr lvl="0">
              <a:lnSpc>
                <a:spcPct val="160000"/>
              </a:lnSpc>
            </a:pPr>
            <a:endParaRPr lang="zh-CN" altLang="en-US" dirty="0"/>
          </a:p>
          <a:p>
            <a:pPr lvl="0">
              <a:lnSpc>
                <a:spcPct val="160000"/>
              </a:lnSpc>
            </a:pPr>
            <a:r>
              <a:rPr lang="zh-CN" altLang="en-US" dirty="0"/>
              <a:t>优化方案：</a:t>
            </a:r>
            <a:r>
              <a:rPr lang="en-US" altLang="zh-CN" dirty="0"/>
              <a:t>full table scan + blocking aggragate + slimit   =&gt;</a:t>
            </a:r>
            <a:endParaRPr lang="en-US" altLang="zh-CN" dirty="0"/>
          </a:p>
          <a:p>
            <a:pPr marL="0" lvl="0" indent="0">
              <a:lnSpc>
                <a:spcPct val="160000"/>
              </a:lnSpc>
              <a:buNone/>
            </a:pPr>
            <a:r>
              <a:rPr lang="en-US" altLang="zh-CN" dirty="0"/>
              <a:t>                           group seq scan + pipeline aggragate + slimit</a:t>
            </a:r>
            <a:endParaRPr lang="en-US" altLang="zh-CN" dirty="0"/>
          </a:p>
          <a:p>
            <a:pPr marL="0" lvl="0" indent="0">
              <a:lnSpc>
                <a:spcPct val="160000"/>
              </a:lnSpc>
              <a:buNone/>
            </a:pPr>
            <a:endParaRPr lang="en-US" altLang="zh-CN" dirty="0"/>
          </a:p>
          <a:p>
            <a:pPr lvl="0">
              <a:lnSpc>
                <a:spcPct val="160000"/>
              </a:lnSpc>
            </a:pPr>
            <a:r>
              <a:rPr lang="zh-CN" altLang="en-US" dirty="0"/>
              <a:t>优化要点：全部扫描</a:t>
            </a:r>
            <a:r>
              <a:rPr lang="en-US" altLang="zh-CN" dirty="0"/>
              <a:t> =&gt; </a:t>
            </a:r>
            <a:r>
              <a:rPr lang="zh-CN" altLang="en-US" dirty="0"/>
              <a:t>部分表扫描；</a:t>
            </a:r>
            <a:endParaRPr lang="zh-CN" altLang="en-US" dirty="0"/>
          </a:p>
          <a:p>
            <a:pPr marL="0" lvl="0" indent="0">
              <a:lnSpc>
                <a:spcPct val="160000"/>
              </a:lnSpc>
              <a:buNone/>
            </a:pPr>
            <a:r>
              <a:rPr lang="en-US" altLang="zh-CN" dirty="0"/>
              <a:t>                          </a:t>
            </a:r>
            <a:r>
              <a:rPr lang="zh-CN" altLang="en-US" dirty="0"/>
              <a:t>全表计算</a:t>
            </a:r>
            <a:r>
              <a:rPr lang="en-US" altLang="zh-CN" dirty="0">
                <a:sym typeface="+mn-ea"/>
              </a:rPr>
              <a:t> =&gt; </a:t>
            </a:r>
            <a:r>
              <a:rPr lang="zh-CN" altLang="en-US" dirty="0"/>
              <a:t>部分表计算；</a:t>
            </a:r>
            <a:endParaRPr lang="zh-CN" altLang="en-US" dirty="0"/>
          </a:p>
          <a:p>
            <a:pPr marL="914400" lvl="2" indent="0">
              <a:lnSpc>
                <a:spcPct val="160000"/>
              </a:lnSpc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ym typeface="+mn-ea"/>
              </a:rPr>
              <a:t>agg + parition</a:t>
            </a:r>
            <a:r>
              <a:rPr lang="en-US" altLang="zh-CN" dirty="0">
                <a:sym typeface="+mn-ea"/>
              </a:rPr>
              <a:t> by </a:t>
            </a:r>
            <a:r>
              <a:rPr lang="en-US" altLang="zh-CN" dirty="0" err="1">
                <a:sym typeface="+mn-ea"/>
              </a:rPr>
              <a:t>tag </a:t>
            </a:r>
            <a:r>
              <a:rPr lang="en-US" altLang="zh-CN" dirty="0">
                <a:sym typeface="+mn-ea"/>
              </a:rPr>
              <a:t>+ </a:t>
            </a:r>
            <a:r>
              <a:rPr lang="en-US" altLang="zh-CN" dirty="0" err="1">
                <a:sym typeface="+mn-ea"/>
              </a:rPr>
              <a:t>slimit</a:t>
            </a:r>
            <a:r>
              <a:rPr lang="zh-CN" altLang="en-US" dirty="0" err="1">
                <a:sym typeface="+mn-ea"/>
              </a:rPr>
              <a:t>性能优化（</a:t>
            </a:r>
            <a:r>
              <a:rPr lang="en-US" altLang="zh-CN" dirty="0" err="1">
                <a:sym typeface="+mn-ea"/>
              </a:rPr>
              <a:t>2</a:t>
            </a:r>
            <a:r>
              <a:rPr lang="zh-CN" altLang="en-US" dirty="0" err="1">
                <a:sym typeface="+mn-ea"/>
              </a:rPr>
              <a:t>）</a:t>
            </a:r>
            <a:endParaRPr lang="zh-CN" altLang="en-US" dirty="0" err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457200" lvl="1" indent="0">
              <a:buNone/>
            </a:pPr>
            <a:r>
              <a:rPr lang="zh-CN" altLang="en-US" dirty="0"/>
              <a:t>性能测试结果：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  <a:p>
            <a:pPr marL="457200" lvl="1" indent="0">
              <a:buNone/>
            </a:pPr>
            <a:endParaRPr lang="zh-CN" altLang="en-US" dirty="0"/>
          </a:p>
          <a:p>
            <a:pPr marL="457200" lvl="1" indent="0">
              <a:lnSpc>
                <a:spcPct val="130000"/>
              </a:lnSpc>
              <a:buNone/>
            </a:pPr>
            <a:r>
              <a:rPr lang="zh-CN" altLang="en-US" dirty="0"/>
              <a:t>结论：</a:t>
            </a:r>
            <a:r>
              <a:rPr lang="zh-CN" altLang="en-US" sz="2000" dirty="0">
                <a:cs typeface="+mn-lt"/>
              </a:rPr>
              <a:t>当</a:t>
            </a:r>
            <a:r>
              <a:rPr lang="en-US" altLang="zh-CN" sz="2000" dirty="0">
                <a:cs typeface="+mn-lt"/>
              </a:rPr>
              <a:t>slimit</a:t>
            </a:r>
            <a:r>
              <a:rPr lang="zh-CN" altLang="en-US" sz="2000" dirty="0">
                <a:cs typeface="+mn-lt"/>
              </a:rPr>
              <a:t>数较少时，性能优化效果更显著；</a:t>
            </a:r>
            <a:endParaRPr lang="zh-CN" altLang="en-US" sz="2000" dirty="0">
              <a:cs typeface="+mn-lt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zh-CN" sz="2000" dirty="0">
                <a:cs typeface="+mn-lt"/>
              </a:rPr>
              <a:t>                </a:t>
            </a:r>
            <a:r>
              <a:rPr lang="zh-CN" altLang="en-US" sz="2000" dirty="0">
                <a:cs typeface="+mn-lt"/>
              </a:rPr>
              <a:t>当</a:t>
            </a:r>
            <a:r>
              <a:rPr lang="en-US" altLang="zh-CN" sz="2000" dirty="0">
                <a:cs typeface="+mn-lt"/>
              </a:rPr>
              <a:t>slimit</a:t>
            </a:r>
            <a:r>
              <a:rPr lang="zh-CN" altLang="en-US" sz="2000" dirty="0">
                <a:cs typeface="+mn-lt"/>
              </a:rPr>
              <a:t>数较大时，因为顺序读表的性能差异导致性能变差；</a:t>
            </a:r>
            <a:endParaRPr lang="zh-CN" altLang="en-US" sz="2000" dirty="0">
              <a:cs typeface="+mn-lt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zh-CN" sz="2000" dirty="0">
                <a:cs typeface="+mn-lt"/>
              </a:rPr>
              <a:t>                </a:t>
            </a:r>
            <a:r>
              <a:rPr lang="zh-CN" altLang="en-US" sz="2000" dirty="0">
                <a:cs typeface="+mn-lt"/>
              </a:rPr>
              <a:t>后续会根据用户提示选择最优路线；</a:t>
            </a:r>
            <a:endParaRPr lang="zh-CN" altLang="en-US" sz="2000" dirty="0">
              <a:cs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024313" y="1825625"/>
            <a:ext cx="4562475" cy="2800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ym typeface="+mn-ea"/>
              </a:rPr>
              <a:t>Tag </a:t>
            </a:r>
            <a:r>
              <a:rPr lang="en-US" altLang="zh-CN" dirty="0" err="1">
                <a:sym typeface="+mn-ea"/>
              </a:rPr>
              <a:t>scan </a:t>
            </a:r>
            <a:r>
              <a:rPr lang="zh-CN" altLang="en-US" dirty="0" err="1">
                <a:sym typeface="+mn-ea"/>
              </a:rPr>
              <a:t>性能优化（</a:t>
            </a:r>
            <a:r>
              <a:rPr lang="en-US" altLang="zh-CN" dirty="0" err="1">
                <a:sym typeface="+mn-ea"/>
              </a:rPr>
              <a:t>1</a:t>
            </a:r>
            <a:r>
              <a:rPr lang="zh-CN" altLang="en-US" dirty="0" err="1">
                <a:sym typeface="+mn-ea"/>
              </a:rPr>
              <a:t>）</a:t>
            </a:r>
            <a:endParaRPr lang="zh-CN" altLang="en-US" dirty="0" err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4925" y="1920875"/>
            <a:ext cx="8839200" cy="4228465"/>
          </a:xfrm>
        </p:spPr>
        <p:txBody>
          <a:bodyPr>
            <a:normAutofit fontScale="70000"/>
          </a:bodyPr>
          <a:lstStyle/>
          <a:p>
            <a:pPr lvl="0">
              <a:lnSpc>
                <a:spcPct val="160000"/>
              </a:lnSpc>
            </a:pPr>
            <a:r>
              <a:rPr lang="zh-CN" dirty="0"/>
              <a:t>查询超级表所有子表</a:t>
            </a:r>
            <a:r>
              <a:rPr lang="en-US" altLang="zh-CN" dirty="0"/>
              <a:t>tag</a:t>
            </a:r>
            <a:r>
              <a:rPr lang="zh-CN" altLang="en-US" dirty="0"/>
              <a:t>最新方式：</a:t>
            </a:r>
            <a:r>
              <a:rPr lang="en-US" altLang="zh-CN" dirty="0"/>
              <a:t>SELECT TAGS tag1, tag2... FROM stableX</a:t>
            </a:r>
            <a:endParaRPr lang="zh-CN" altLang="en-US" dirty="0"/>
          </a:p>
          <a:p>
            <a:pPr lvl="0">
              <a:lnSpc>
                <a:spcPct val="160000"/>
              </a:lnSpc>
            </a:pPr>
            <a:endParaRPr lang="zh-CN" altLang="en-US" dirty="0"/>
          </a:p>
          <a:p>
            <a:pPr lvl="0">
              <a:lnSpc>
                <a:spcPct val="160000"/>
              </a:lnSpc>
            </a:pPr>
            <a:r>
              <a:rPr lang="zh-CN" altLang="en-US" dirty="0"/>
              <a:t>优化方案：获取表列表和每个</a:t>
            </a:r>
            <a:r>
              <a:rPr lang="en-US" altLang="zh-CN" dirty="0"/>
              <a:t>tag</a:t>
            </a:r>
            <a:r>
              <a:rPr lang="zh-CN" altLang="en-US" dirty="0"/>
              <a:t>值</a:t>
            </a:r>
            <a:r>
              <a:rPr lang="en-US" altLang="zh-CN" dirty="0"/>
              <a:t> + </a:t>
            </a:r>
            <a:r>
              <a:rPr lang="zh-CN" altLang="en-US" dirty="0"/>
              <a:t>查找获取每个表的</a:t>
            </a:r>
            <a:r>
              <a:rPr lang="en-US" altLang="zh-CN" dirty="0"/>
              <a:t>tag  =&gt;</a:t>
            </a:r>
            <a:endParaRPr lang="en-US" altLang="zh-CN" dirty="0"/>
          </a:p>
          <a:p>
            <a:pPr marL="0" lvl="0" indent="0">
              <a:lnSpc>
                <a:spcPct val="160000"/>
              </a:lnSpc>
              <a:buNone/>
            </a:pPr>
            <a:r>
              <a:rPr lang="en-US" altLang="zh-CN" dirty="0"/>
              <a:t>                           </a:t>
            </a:r>
            <a:r>
              <a:rPr lang="zh-CN" altLang="en-US" dirty="0"/>
              <a:t>遍历获取超级表每个子表的</a:t>
            </a:r>
            <a:r>
              <a:rPr lang="en-US" altLang="zh-CN" dirty="0"/>
              <a:t>tag</a:t>
            </a:r>
            <a:endParaRPr lang="en-US" altLang="zh-CN" dirty="0"/>
          </a:p>
          <a:p>
            <a:pPr marL="0" lvl="0" indent="0">
              <a:lnSpc>
                <a:spcPct val="160000"/>
              </a:lnSpc>
              <a:buNone/>
            </a:pPr>
            <a:endParaRPr lang="en-US" altLang="zh-CN" dirty="0"/>
          </a:p>
          <a:p>
            <a:pPr lvl="0">
              <a:lnSpc>
                <a:spcPct val="160000"/>
              </a:lnSpc>
            </a:pPr>
            <a:r>
              <a:rPr lang="zh-CN" altLang="en-US" dirty="0"/>
              <a:t>优化要点：一次遍历</a:t>
            </a:r>
            <a:r>
              <a:rPr lang="en-US" altLang="zh-CN" dirty="0"/>
              <a:t> + </a:t>
            </a:r>
            <a:r>
              <a:rPr lang="zh-CN" altLang="en-US" dirty="0"/>
              <a:t>多次（表个数）查找</a:t>
            </a:r>
            <a:r>
              <a:rPr lang="en-US" altLang="zh-CN" dirty="0"/>
              <a:t> =&gt;  </a:t>
            </a:r>
            <a:r>
              <a:rPr lang="zh-CN" altLang="en-US" dirty="0"/>
              <a:t>一次遍历</a:t>
            </a:r>
            <a:endParaRPr lang="zh-CN" altLang="en-US" dirty="0"/>
          </a:p>
          <a:p>
            <a:pPr marL="914400" lvl="2" indent="0">
              <a:lnSpc>
                <a:spcPct val="160000"/>
              </a:lnSpc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ym typeface="+mn-ea"/>
              </a:rPr>
              <a:t>Tag </a:t>
            </a:r>
            <a:r>
              <a:rPr lang="en-US" altLang="zh-CN" dirty="0" err="1">
                <a:sym typeface="+mn-ea"/>
              </a:rPr>
              <a:t>scan </a:t>
            </a:r>
            <a:r>
              <a:rPr lang="zh-CN" altLang="en-US" dirty="0" err="1">
                <a:sym typeface="+mn-ea"/>
              </a:rPr>
              <a:t>性能优化（</a:t>
            </a:r>
            <a:r>
              <a:rPr lang="en-US" altLang="zh-CN" dirty="0" err="1">
                <a:sym typeface="+mn-ea"/>
              </a:rPr>
              <a:t>2</a:t>
            </a:r>
            <a:r>
              <a:rPr lang="zh-CN" altLang="en-US" dirty="0" err="1">
                <a:sym typeface="+mn-ea"/>
              </a:rPr>
              <a:t>）</a:t>
            </a:r>
            <a:endParaRPr lang="zh-CN" altLang="en-US" dirty="0" err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4925" y="1920875"/>
            <a:ext cx="8839200" cy="4228465"/>
          </a:xfrm>
        </p:spPr>
        <p:txBody>
          <a:bodyPr>
            <a:normAutofit/>
          </a:bodyPr>
          <a:lstStyle/>
          <a:p>
            <a:pPr marL="0" lvl="0" indent="0">
              <a:lnSpc>
                <a:spcPct val="160000"/>
              </a:lnSpc>
              <a:buNone/>
            </a:pPr>
            <a:r>
              <a:rPr lang="zh-CN" dirty="0"/>
              <a:t>性能优化验证</a:t>
            </a:r>
            <a:r>
              <a:rPr lang="en-US" altLang="zh-CN" dirty="0"/>
              <a:t> </a:t>
            </a:r>
            <a:endParaRPr lang="en-US" altLang="zh-CN" dirty="0"/>
          </a:p>
          <a:p>
            <a:pPr marL="0" lvl="0" indent="0">
              <a:lnSpc>
                <a:spcPct val="140000"/>
              </a:lnSpc>
              <a:buNone/>
            </a:pPr>
            <a:r>
              <a:rPr lang="zh-CN" altLang="en-US" sz="2000" dirty="0"/>
              <a:t>场景：</a:t>
            </a:r>
            <a:r>
              <a:rPr lang="zh-CN" sz="1600" dirty="0"/>
              <a:t>单</a:t>
            </a:r>
            <a:r>
              <a:rPr lang="en-US" altLang="zh-CN" sz="1600" dirty="0"/>
              <a:t>Vnode</a:t>
            </a:r>
            <a:r>
              <a:rPr lang="zh-CN" altLang="en-US" sz="1600" dirty="0"/>
              <a:t>，</a:t>
            </a:r>
            <a:r>
              <a:rPr lang="en-US" altLang="zh-CN" sz="1600" dirty="0"/>
              <a:t> 40</a:t>
            </a:r>
            <a:r>
              <a:rPr lang="zh-CN" altLang="en-US" sz="1600" dirty="0"/>
              <a:t>万子表，</a:t>
            </a:r>
            <a:r>
              <a:rPr lang="en-US" altLang="zh-CN" sz="1600" dirty="0"/>
              <a:t> </a:t>
            </a:r>
            <a:r>
              <a:rPr lang="zh-CN" altLang="en-US" sz="1600" dirty="0"/>
              <a:t>多个宽列</a:t>
            </a:r>
            <a:r>
              <a:rPr lang="en-US" altLang="zh-CN" sz="1600" dirty="0"/>
              <a:t>Tag</a:t>
            </a:r>
            <a:r>
              <a:rPr lang="zh-CN" altLang="en-US" sz="1600" dirty="0"/>
              <a:t>，</a:t>
            </a:r>
            <a:r>
              <a:rPr lang="en-US" altLang="zh-CN" sz="1600" dirty="0"/>
              <a:t> meta</a:t>
            </a:r>
            <a:r>
              <a:rPr lang="zh-CN" altLang="en-US" sz="1600" dirty="0"/>
              <a:t>缓存足够</a:t>
            </a:r>
            <a:endParaRPr lang="en-US" altLang="zh-CN" sz="1600" dirty="0"/>
          </a:p>
          <a:p>
            <a:pPr marL="0" lvl="0" indent="0">
              <a:lnSpc>
                <a:spcPct val="140000"/>
              </a:lnSpc>
              <a:buNone/>
            </a:pPr>
            <a:r>
              <a:rPr lang="zh-CN" altLang="en-US" sz="2000" dirty="0"/>
              <a:t>SQL:     </a:t>
            </a:r>
            <a:r>
              <a:rPr lang="en-US" altLang="zh-CN" sz="1600" dirty="0">
                <a:sym typeface="+mn-ea"/>
              </a:rPr>
              <a:t>SELECT TAGS tag1, tag2... FROM stableX</a:t>
            </a:r>
            <a:endParaRPr lang="zh-CN" altLang="en-US" sz="2000" dirty="0"/>
          </a:p>
          <a:p>
            <a:pPr marL="0" lvl="0" indent="0">
              <a:lnSpc>
                <a:spcPct val="160000"/>
              </a:lnSpc>
              <a:buNone/>
            </a:pPr>
            <a:r>
              <a:rPr lang="zh-CN" altLang="en-US" sz="2000" dirty="0"/>
              <a:t>查询耗时对比结果：</a:t>
            </a:r>
            <a:endParaRPr lang="zh-CN" altLang="en-US" sz="2000" dirty="0"/>
          </a:p>
          <a:p>
            <a:pPr marL="0" lvl="0" indent="0">
              <a:lnSpc>
                <a:spcPct val="160000"/>
              </a:lnSpc>
              <a:buNone/>
            </a:pPr>
            <a:endParaRPr lang="en-US" altLang="zh-CN" dirty="0"/>
          </a:p>
        </p:txBody>
      </p:sp>
      <p:graphicFrame>
        <p:nvGraphicFramePr>
          <p:cNvPr id="4" name="表格 3"/>
          <p:cNvGraphicFramePr/>
          <p:nvPr/>
        </p:nvGraphicFramePr>
        <p:xfrm>
          <a:off x="1466850" y="4577715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场景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优化后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查询单列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1.7s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0.4s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查询多列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3.9s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2.2s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 err="1">
                <a:sym typeface="+mn-ea"/>
              </a:rPr>
              <a:t>超级表</a:t>
            </a:r>
            <a:r>
              <a:rPr lang="en-US" altLang="zh-CN" dirty="0" err="1">
                <a:sym typeface="+mn-ea"/>
              </a:rPr>
              <a:t>join</a:t>
            </a:r>
            <a:r>
              <a:rPr lang="zh-CN" altLang="en-US" dirty="0" err="1">
                <a:sym typeface="+mn-ea"/>
              </a:rPr>
              <a:t>性能优化（</a:t>
            </a:r>
            <a:r>
              <a:rPr lang="en-US" altLang="zh-CN" dirty="0" err="1">
                <a:sym typeface="+mn-ea"/>
              </a:rPr>
              <a:t>1</a:t>
            </a:r>
            <a:r>
              <a:rPr lang="zh-CN" altLang="en-US" dirty="0" err="1">
                <a:sym typeface="+mn-ea"/>
              </a:rPr>
              <a:t>）</a:t>
            </a:r>
            <a:endParaRPr lang="zh-CN" altLang="en-US" dirty="0" err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4925" y="1691640"/>
            <a:ext cx="9267825" cy="4457700"/>
          </a:xfrm>
        </p:spPr>
        <p:txBody>
          <a:bodyPr>
            <a:normAutofit lnSpcReduction="20000"/>
          </a:bodyPr>
          <a:lstStyle/>
          <a:p>
            <a:pPr lvl="0">
              <a:lnSpc>
                <a:spcPct val="100000"/>
              </a:lnSpc>
            </a:pPr>
            <a:r>
              <a:rPr lang="zh-CN" sz="2000" dirty="0"/>
              <a:t>优化场景</a:t>
            </a:r>
            <a:endParaRPr sz="2000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两个超级表连接且连接条件包含Tag相等条件和主键列相等条件</a:t>
            </a:r>
            <a:endParaRPr sz="1800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主键列条件与其他</a:t>
            </a:r>
            <a:r>
              <a:rPr lang="zh-CN" altLang="en-US" sz="2000" dirty="0">
                <a:sym typeface="+mn-ea"/>
              </a:rPr>
              <a:t>连接条件和</a:t>
            </a:r>
            <a:r>
              <a:rPr lang="zh-CN" altLang="en-US" sz="2000" dirty="0"/>
              <a:t>之间是AND关系</a:t>
            </a:r>
            <a:endParaRPr lang="zh-CN" altLang="en-US" sz="2000" dirty="0"/>
          </a:p>
          <a:p>
            <a:pPr lvl="1">
              <a:lnSpc>
                <a:spcPct val="100000"/>
              </a:lnSpc>
            </a:pPr>
            <a:endParaRPr sz="1800" dirty="0"/>
          </a:p>
          <a:p>
            <a:pPr lvl="0">
              <a:lnSpc>
                <a:spcPct val="100000"/>
              </a:lnSpc>
            </a:pPr>
            <a:r>
              <a:rPr lang="zh-CN" sz="2000" dirty="0"/>
              <a:t>优化方案：</a:t>
            </a:r>
            <a:r>
              <a:rPr lang="en-US" altLang="zh-CN" sz="2000" dirty="0"/>
              <a:t> </a:t>
            </a:r>
            <a:r>
              <a:rPr lang="zh-CN" altLang="en-US" sz="2000" dirty="0"/>
              <a:t>全表排序</a:t>
            </a:r>
            <a:r>
              <a:rPr lang="en-US" altLang="zh-CN" sz="2000" dirty="0"/>
              <a:t> + merge join + tag</a:t>
            </a:r>
            <a:r>
              <a:rPr lang="zh-CN" altLang="en-US" sz="2000" dirty="0"/>
              <a:t>过滤</a:t>
            </a:r>
            <a:r>
              <a:rPr lang="en-US" altLang="zh-CN" sz="2000" dirty="0"/>
              <a:t> =&gt;</a:t>
            </a:r>
            <a:endParaRPr lang="en-US" altLang="zh-CN" sz="2000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zh-CN" sz="2000" dirty="0"/>
              <a:t>                           tag hash join + </a:t>
            </a:r>
            <a:r>
              <a:rPr lang="zh-CN" altLang="en-US" sz="2000" dirty="0"/>
              <a:t>子表</a:t>
            </a:r>
            <a:r>
              <a:rPr lang="en-US" altLang="zh-CN" sz="2000" dirty="0"/>
              <a:t>merge join</a:t>
            </a:r>
            <a:endParaRPr lang="en-US" altLang="zh-CN" sz="2000" dirty="0"/>
          </a:p>
          <a:p>
            <a:pPr marL="0" lvl="0" indent="0">
              <a:lnSpc>
                <a:spcPct val="100000"/>
              </a:lnSpc>
              <a:buNone/>
            </a:pPr>
            <a:endParaRPr lang="en-US" altLang="zh-CN" sz="2000" dirty="0"/>
          </a:p>
          <a:p>
            <a:pPr lvl="0">
              <a:lnSpc>
                <a:spcPct val="160000"/>
              </a:lnSpc>
            </a:pPr>
            <a:r>
              <a:rPr lang="zh-CN" altLang="en-US" sz="2000" dirty="0">
                <a:sym typeface="+mn-ea"/>
              </a:rPr>
              <a:t>优化要点：全表数据读取</a:t>
            </a:r>
            <a:r>
              <a:rPr lang="en-US" altLang="zh-CN" sz="2000" dirty="0">
                <a:sym typeface="+mn-ea"/>
              </a:rPr>
              <a:t> =&gt; </a:t>
            </a:r>
            <a:r>
              <a:rPr lang="zh-CN" altLang="en-US" sz="2000" dirty="0">
                <a:sym typeface="+mn-ea"/>
              </a:rPr>
              <a:t>部分表数据读取；</a:t>
            </a:r>
            <a:endParaRPr lang="zh-CN" altLang="en-US" sz="2000" dirty="0"/>
          </a:p>
          <a:p>
            <a:pPr marL="0" lvl="0" indent="0">
              <a:lnSpc>
                <a:spcPct val="160000"/>
              </a:lnSpc>
              <a:buNone/>
            </a:pPr>
            <a:r>
              <a:rPr lang="en-US" altLang="zh-CN" sz="2000" dirty="0">
                <a:sym typeface="+mn-ea"/>
              </a:rPr>
              <a:t>                          </a:t>
            </a:r>
            <a:r>
              <a:rPr lang="zh-CN" altLang="en-US" sz="2000" dirty="0">
                <a:sym typeface="+mn-ea"/>
              </a:rPr>
              <a:t>全表排序</a:t>
            </a:r>
            <a:r>
              <a:rPr lang="en-US" altLang="zh-CN" sz="2000" dirty="0">
                <a:sym typeface="+mn-ea"/>
              </a:rPr>
              <a:t> =&gt; </a:t>
            </a:r>
            <a:r>
              <a:rPr lang="zh-CN" altLang="en-US" sz="2000" dirty="0">
                <a:sym typeface="+mn-ea"/>
              </a:rPr>
              <a:t>不需要排序；</a:t>
            </a:r>
            <a:endParaRPr lang="zh-CN" altLang="en-US" sz="2000" dirty="0">
              <a:sym typeface="+mn-ea"/>
            </a:endParaRPr>
          </a:p>
          <a:p>
            <a:pPr marL="0" lvl="0" indent="0">
              <a:lnSpc>
                <a:spcPct val="160000"/>
              </a:lnSpc>
              <a:buNone/>
            </a:pP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                         </a:t>
            </a:r>
            <a:r>
              <a:rPr lang="zh-CN" altLang="en-US" sz="2000" dirty="0">
                <a:sym typeface="+mn-ea"/>
              </a:rPr>
              <a:t>全表</a:t>
            </a:r>
            <a:r>
              <a:rPr lang="en-US" altLang="zh-CN" sz="2000" dirty="0">
                <a:sym typeface="+mn-ea"/>
              </a:rPr>
              <a:t>merge join =&gt; </a:t>
            </a:r>
            <a:r>
              <a:rPr lang="zh-CN" altLang="en-US" sz="2000" dirty="0">
                <a:sym typeface="+mn-ea"/>
              </a:rPr>
              <a:t>部分数据</a:t>
            </a:r>
            <a:r>
              <a:rPr lang="en-US" altLang="zh-CN" sz="2000" dirty="0">
                <a:sym typeface="+mn-ea"/>
              </a:rPr>
              <a:t>merge join;</a:t>
            </a:r>
            <a:endParaRPr lang="zh-CN" altLang="en-US" sz="2000" dirty="0"/>
          </a:p>
          <a:p>
            <a:pPr lvl="0">
              <a:lnSpc>
                <a:spcPct val="100000"/>
              </a:lnSpc>
            </a:pPr>
            <a:endParaRPr lang="zh-CN" dirty="0"/>
          </a:p>
          <a:p>
            <a:pPr lvl="0">
              <a:lnSpc>
                <a:spcPct val="100000"/>
              </a:lnSpc>
            </a:pPr>
            <a:endParaRPr 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 err="1">
                <a:sym typeface="+mn-ea"/>
              </a:rPr>
              <a:t>超级表</a:t>
            </a:r>
            <a:r>
              <a:rPr lang="en-US" altLang="zh-CN" dirty="0" err="1">
                <a:sym typeface="+mn-ea"/>
              </a:rPr>
              <a:t>join</a:t>
            </a:r>
            <a:r>
              <a:rPr lang="zh-CN" altLang="en-US" dirty="0" err="1">
                <a:sym typeface="+mn-ea"/>
              </a:rPr>
              <a:t>性能优化（</a:t>
            </a:r>
            <a:r>
              <a:rPr lang="en-US" altLang="zh-CN" dirty="0" err="1">
                <a:sym typeface="+mn-ea"/>
              </a:rPr>
              <a:t>2</a:t>
            </a:r>
            <a:r>
              <a:rPr lang="zh-CN" altLang="en-US" dirty="0" err="1">
                <a:sym typeface="+mn-ea"/>
              </a:rPr>
              <a:t>）</a:t>
            </a:r>
            <a:endParaRPr lang="zh-CN" altLang="en-US" dirty="0" err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125" y="1415415"/>
            <a:ext cx="9953625" cy="5114925"/>
          </a:xfrm>
        </p:spPr>
        <p:txBody>
          <a:bodyPr>
            <a:normAutofit fontScale="50000"/>
          </a:bodyPr>
          <a:lstStyle/>
          <a:p>
            <a:pPr lvl="0">
              <a:lnSpc>
                <a:spcPct val="100000"/>
              </a:lnSpc>
            </a:pPr>
            <a:r>
              <a:rPr lang="zh-CN" dirty="0"/>
              <a:t>Hint功能</a:t>
            </a:r>
            <a:endParaRPr lang="zh-CN" dirty="0"/>
          </a:p>
          <a:p>
            <a:pPr lvl="1">
              <a:lnSpc>
                <a:spcPct val="100000"/>
              </a:lnSpc>
            </a:pPr>
            <a:r>
              <a:rPr lang="zh-CN" dirty="0"/>
              <a:t>当存在多种可选查询执行路径时，提供给用户的用于查询优化控制的手段</a:t>
            </a:r>
            <a:endParaRPr lang="zh-CN" dirty="0"/>
          </a:p>
          <a:p>
            <a:pPr lvl="1">
              <a:lnSpc>
                <a:spcPct val="100000"/>
              </a:lnSpc>
            </a:pPr>
            <a:r>
              <a:rPr lang="zh-CN" dirty="0"/>
              <a:t>用户可根据不同选项的性能优劣来选择合适的路径</a:t>
            </a:r>
            <a:endParaRPr lang="zh-CN" dirty="0"/>
          </a:p>
          <a:p>
            <a:pPr lvl="0">
              <a:lnSpc>
                <a:spcPct val="100000"/>
              </a:lnSpc>
            </a:pPr>
            <a:r>
              <a:rPr lang="zh-CN" dirty="0"/>
              <a:t>语法规则：</a:t>
            </a:r>
            <a:endParaRPr lang="zh-CN" dirty="0"/>
          </a:p>
          <a:p>
            <a:pPr marL="0" lvl="0" indent="0">
              <a:lnSpc>
                <a:spcPct val="100000"/>
              </a:lnSpc>
              <a:buNone/>
            </a:pPr>
            <a:endParaRPr lang="zh-CN" dirty="0"/>
          </a:p>
          <a:p>
            <a:pPr marL="0" lvl="0" indent="0">
              <a:lnSpc>
                <a:spcPct val="100000"/>
              </a:lnSpc>
              <a:buNone/>
            </a:pPr>
            <a:endParaRPr lang="zh-CN" dirty="0"/>
          </a:p>
          <a:p>
            <a:pPr marL="0" lvl="0" indent="0">
              <a:lnSpc>
                <a:spcPct val="100000"/>
              </a:lnSpc>
              <a:buNone/>
            </a:pPr>
            <a:endParaRPr lang="zh-CN" dirty="0"/>
          </a:p>
          <a:p>
            <a:pPr lvl="0">
              <a:lnSpc>
                <a:spcPct val="100000"/>
              </a:lnSpc>
            </a:pPr>
            <a:endParaRPr lang="zh-CN" dirty="0"/>
          </a:p>
          <a:p>
            <a:pPr lvl="0">
              <a:lnSpc>
                <a:spcPct val="100000"/>
              </a:lnSpc>
            </a:pPr>
            <a:endParaRPr lang="zh-CN" dirty="0"/>
          </a:p>
          <a:p>
            <a:pPr lvl="0">
              <a:lnSpc>
                <a:spcPct val="100000"/>
              </a:lnSpc>
            </a:pPr>
            <a:endParaRPr lang="zh-CN" dirty="0"/>
          </a:p>
          <a:p>
            <a:pPr lvl="0">
              <a:lnSpc>
                <a:spcPct val="100000"/>
              </a:lnSpc>
            </a:pPr>
            <a:endParaRPr lang="zh-CN" dirty="0"/>
          </a:p>
          <a:p>
            <a:pPr lvl="0">
              <a:lnSpc>
                <a:spcPct val="100000"/>
              </a:lnSpc>
            </a:pPr>
            <a:r>
              <a:rPr lang="zh-CN" dirty="0"/>
              <a:t>说明：</a:t>
            </a:r>
            <a:endParaRPr lang="zh-CN" dirty="0"/>
          </a:p>
          <a:p>
            <a:pPr lvl="1">
              <a:lnSpc>
                <a:spcPct val="100000"/>
              </a:lnSpc>
            </a:pPr>
            <a:r>
              <a:rPr lang="zh-CN" sz="2000" dirty="0"/>
              <a:t>Hints 语法从“/*+”开始，终于“*/”，前后可有空格；</a:t>
            </a:r>
            <a:endParaRPr lang="zh-CN" sz="2000" dirty="0"/>
          </a:p>
          <a:p>
            <a:pPr lvl="1">
              <a:lnSpc>
                <a:spcPct val="100000"/>
              </a:lnSpc>
            </a:pPr>
            <a:r>
              <a:rPr lang="zh-CN" sz="2000" dirty="0"/>
              <a:t>Hints 语法只能跟随在 SELECT 关键字后；</a:t>
            </a:r>
            <a:endParaRPr lang="zh-CN" sz="2000" dirty="0"/>
          </a:p>
          <a:p>
            <a:pPr lvl="1">
              <a:lnSpc>
                <a:spcPct val="100000"/>
              </a:lnSpc>
            </a:pPr>
            <a:r>
              <a:rPr lang="zh-CN" sz="2000" dirty="0"/>
              <a:t>每个 Hints 可以包含多个 Hint，Hint 间以空格分开，当多个 Hint 冲突或相同时以先出现的为准；</a:t>
            </a:r>
            <a:endParaRPr lang="zh-CN" sz="2000" dirty="0"/>
          </a:p>
          <a:p>
            <a:pPr lvl="1">
              <a:lnSpc>
                <a:spcPct val="100000"/>
              </a:lnSpc>
            </a:pPr>
            <a:r>
              <a:rPr lang="zh-CN" sz="2000" dirty="0"/>
              <a:t>当 Hints 中某个 Hint 出现错误时，错误出现之前的有效 Hint 仍然有效，当前及之后的 Hint 被忽略；</a:t>
            </a:r>
            <a:endParaRPr lang="zh-CN" sz="2000" dirty="0"/>
          </a:p>
          <a:p>
            <a:pPr lvl="1">
              <a:lnSpc>
                <a:spcPct val="100000"/>
              </a:lnSpc>
            </a:pPr>
            <a:r>
              <a:rPr lang="zh-CN" sz="2000" dirty="0"/>
              <a:t>hint_param_list 是每个 Hint 的参数，根据每个 Hint 的不同而不同；</a:t>
            </a:r>
            <a:endParaRPr lang="zh-CN" sz="2000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00910" y="2332355"/>
            <a:ext cx="7124065" cy="2545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 err="1">
                <a:sym typeface="+mn-ea"/>
              </a:rPr>
              <a:t>超级表</a:t>
            </a:r>
            <a:r>
              <a:rPr lang="en-US" altLang="zh-CN" dirty="0" err="1">
                <a:sym typeface="+mn-ea"/>
              </a:rPr>
              <a:t>join</a:t>
            </a:r>
            <a:r>
              <a:rPr lang="zh-CN" altLang="en-US" dirty="0" err="1">
                <a:sym typeface="+mn-ea"/>
              </a:rPr>
              <a:t>性能优化（</a:t>
            </a:r>
            <a:r>
              <a:rPr lang="en-US" altLang="zh-CN" dirty="0" err="1">
                <a:sym typeface="+mn-ea"/>
              </a:rPr>
              <a:t>3</a:t>
            </a:r>
            <a:r>
              <a:rPr lang="zh-CN" altLang="en-US" dirty="0" err="1">
                <a:sym typeface="+mn-ea"/>
              </a:rPr>
              <a:t>）</a:t>
            </a:r>
            <a:endParaRPr lang="zh-CN" altLang="en-US" dirty="0" err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125" y="1454150"/>
            <a:ext cx="9953625" cy="5076190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zh-CN" sz="2000" dirty="0"/>
              <a:t>JOIN两种读表方式</a:t>
            </a:r>
            <a:endParaRPr lang="zh-CN" sz="2000" dirty="0"/>
          </a:p>
          <a:p>
            <a:pPr lvl="0">
              <a:lnSpc>
                <a:spcPct val="100000"/>
              </a:lnSpc>
            </a:pPr>
            <a:endParaRPr lang="zh-CN" sz="2000" dirty="0"/>
          </a:p>
          <a:p>
            <a:pPr lvl="0">
              <a:lnSpc>
                <a:spcPct val="100000"/>
              </a:lnSpc>
            </a:pPr>
            <a:endParaRPr lang="zh-CN" sz="2000" dirty="0"/>
          </a:p>
          <a:p>
            <a:pPr lvl="0">
              <a:lnSpc>
                <a:spcPct val="100000"/>
              </a:lnSpc>
            </a:pPr>
            <a:endParaRPr lang="zh-CN" sz="2000" dirty="0"/>
          </a:p>
          <a:p>
            <a:pPr lvl="0">
              <a:lnSpc>
                <a:spcPct val="100000"/>
              </a:lnSpc>
            </a:pPr>
            <a:endParaRPr lang="zh-CN" sz="2000" dirty="0"/>
          </a:p>
          <a:p>
            <a:pPr lvl="0">
              <a:lnSpc>
                <a:spcPct val="100000"/>
              </a:lnSpc>
            </a:pPr>
            <a:endParaRPr lang="zh-CN" sz="2000" dirty="0"/>
          </a:p>
          <a:p>
            <a:pPr lvl="0">
              <a:lnSpc>
                <a:spcPct val="100000"/>
              </a:lnSpc>
            </a:pPr>
            <a:r>
              <a:rPr lang="zh-CN" sz="2000" dirty="0"/>
              <a:t>两种读表方式性能差异</a:t>
            </a:r>
            <a:endParaRPr lang="zh-CN" sz="2000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57275" y="1828800"/>
            <a:ext cx="8705850" cy="2095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57275" y="4500245"/>
            <a:ext cx="8705215" cy="2162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 err="1">
                <a:sym typeface="+mn-ea"/>
              </a:rPr>
              <a:t>超级表</a:t>
            </a:r>
            <a:r>
              <a:rPr lang="en-US" altLang="zh-CN" dirty="0" err="1">
                <a:sym typeface="+mn-ea"/>
              </a:rPr>
              <a:t>join</a:t>
            </a:r>
            <a:r>
              <a:rPr lang="zh-CN" altLang="en-US" dirty="0" err="1">
                <a:sym typeface="+mn-ea"/>
              </a:rPr>
              <a:t>性能优化（</a:t>
            </a:r>
            <a:r>
              <a:rPr lang="en-US" altLang="zh-CN" dirty="0" err="1">
                <a:sym typeface="+mn-ea"/>
              </a:rPr>
              <a:t>4</a:t>
            </a:r>
            <a:r>
              <a:rPr lang="zh-CN" altLang="en-US" dirty="0" err="1">
                <a:sym typeface="+mn-ea"/>
              </a:rPr>
              <a:t>）</a:t>
            </a:r>
            <a:endParaRPr lang="zh-CN" altLang="en-US" dirty="0" err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125" y="1758315"/>
            <a:ext cx="9953625" cy="4772025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zh-CN" sz="2000" dirty="0"/>
              <a:t>性能优化结果</a:t>
            </a:r>
            <a:endParaRPr lang="zh-CN" sz="2000" dirty="0"/>
          </a:p>
          <a:p>
            <a:pPr lvl="0">
              <a:lnSpc>
                <a:spcPct val="100000"/>
              </a:lnSpc>
            </a:pPr>
            <a:endParaRPr lang="zh-CN" sz="2000" dirty="0"/>
          </a:p>
          <a:p>
            <a:pPr lvl="0">
              <a:lnSpc>
                <a:spcPct val="100000"/>
              </a:lnSpc>
            </a:pPr>
            <a:endParaRPr lang="zh-CN" sz="2000" dirty="0"/>
          </a:p>
          <a:p>
            <a:pPr lvl="0">
              <a:lnSpc>
                <a:spcPct val="100000"/>
              </a:lnSpc>
            </a:pPr>
            <a:endParaRPr lang="zh-CN" sz="2000" dirty="0"/>
          </a:p>
          <a:p>
            <a:pPr lvl="0">
              <a:lnSpc>
                <a:spcPct val="100000"/>
              </a:lnSpc>
            </a:pPr>
            <a:endParaRPr lang="zh-CN" sz="2000" dirty="0"/>
          </a:p>
          <a:p>
            <a:pPr lvl="0">
              <a:lnSpc>
                <a:spcPct val="100000"/>
              </a:lnSpc>
            </a:pPr>
            <a:endParaRPr lang="zh-CN" sz="2000" dirty="0"/>
          </a:p>
          <a:p>
            <a:pPr lvl="0">
              <a:lnSpc>
                <a:spcPct val="100000"/>
              </a:lnSpc>
            </a:pPr>
            <a:endParaRPr lang="zh-CN" sz="2000" dirty="0"/>
          </a:p>
          <a:p>
            <a:pPr lvl="0">
              <a:lnSpc>
                <a:spcPct val="100000"/>
              </a:lnSpc>
            </a:pPr>
            <a:endParaRPr lang="zh-CN" sz="2000" dirty="0"/>
          </a:p>
          <a:p>
            <a:pPr lvl="0">
              <a:lnSpc>
                <a:spcPct val="100000"/>
              </a:lnSpc>
            </a:pPr>
            <a:endParaRPr lang="zh-CN" sz="2000" dirty="0"/>
          </a:p>
          <a:p>
            <a:pPr lvl="0">
              <a:lnSpc>
                <a:spcPct val="100000"/>
              </a:lnSpc>
            </a:pPr>
            <a:endParaRPr lang="zh-CN" sz="2000" dirty="0"/>
          </a:p>
          <a:p>
            <a:pPr lvl="0">
              <a:lnSpc>
                <a:spcPct val="100000"/>
              </a:lnSpc>
            </a:pPr>
            <a:r>
              <a:rPr lang="zh-CN" sz="2000" dirty="0"/>
              <a:t>结果报告：https://taosdata.feishu.cn/wiki/M2aHwDmGpicdHGkysRocIdE3nrg</a:t>
            </a:r>
            <a:endParaRPr lang="zh-CN" sz="2000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762250" y="1819275"/>
            <a:ext cx="7353300" cy="38290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PP_MARK_KEY" val="c9f109ae-acd0-4618-bf55-b834e1dd8914"/>
  <p:tag name="COMMONDATA" val="eyJoZGlkIjoiYzM3YTFhMmI0ZTliZDcyNjk3YjM0NzBiOTI2OWZlMD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1562</Words>
  <Application>WPS 演示</Application>
  <PresentationFormat>宽屏</PresentationFormat>
  <Paragraphs>133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TDengine 3.1.1.0 功能简介</vt:lpstr>
      <vt:lpstr>主要功能与优化</vt:lpstr>
      <vt:lpstr>agg + parition by tag + slimit性能优化（1）</vt:lpstr>
      <vt:lpstr>agg + parition by tag + slimit性能优化（2）</vt:lpstr>
      <vt:lpstr>Tag scan 性能优化（1）</vt:lpstr>
      <vt:lpstr>Tag scan 性能优化（2）</vt:lpstr>
      <vt:lpstr>超级表join性能优化（1）</vt:lpstr>
      <vt:lpstr>超级表join性能优化（2）</vt:lpstr>
      <vt:lpstr>超级表join性能优化（3）</vt:lpstr>
      <vt:lpstr>超级表join性能优化（4）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TDengine 3.1.0.0 功能简介</dc:title>
  <dc:creator>wade zhang</dc:creator>
  <cp:lastModifiedBy>omg</cp:lastModifiedBy>
  <cp:revision>14</cp:revision>
  <dcterms:created xsi:type="dcterms:W3CDTF">2023-06-30T10:46:00Z</dcterms:created>
  <dcterms:modified xsi:type="dcterms:W3CDTF">2023-09-03T11:21:38Z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3A503934589F468E8FE509E3E1BAC814_12</vt:lpwstr>
  </property>
  <property fmtid="{D5CDD505-2E9C-101B-9397-08002B2CF9AE}" pid="3" name="KSOProductBuildVer">
    <vt:lpwstr>2052-12.1.0.15374</vt:lpwstr>
  </property>
</Properties>
</file>