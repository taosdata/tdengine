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80" r:id="rId2"/>
    <p:sldId id="283" r:id="rId3"/>
    <p:sldId id="317" r:id="rId4"/>
    <p:sldId id="314" r:id="rId5"/>
    <p:sldId id="315" r:id="rId6"/>
    <p:sldId id="316" r:id="rId7"/>
    <p:sldId id="311" r:id="rId8"/>
    <p:sldId id="312" r:id="rId9"/>
    <p:sldId id="256" r:id="rId10"/>
    <p:sldId id="257" r:id="rId11"/>
    <p:sldId id="258" r:id="rId12"/>
    <p:sldId id="259" r:id="rId13"/>
    <p:sldId id="319" r:id="rId14"/>
    <p:sldId id="320" r:id="rId15"/>
    <p:sldId id="321" r:id="rId16"/>
    <p:sldId id="322" r:id="rId17"/>
    <p:sldId id="323" r:id="rId18"/>
    <p:sldId id="324" r:id="rId19"/>
    <p:sldId id="261" r:id="rId20"/>
    <p:sldId id="325" r:id="rId21"/>
    <p:sldId id="260" r:id="rId22"/>
    <p:sldId id="262" r:id="rId23"/>
    <p:sldId id="263" r:id="rId24"/>
    <p:sldId id="318" r:id="rId25"/>
    <p:sldId id="326" r:id="rId26"/>
    <p:sldId id="327" r:id="rId27"/>
    <p:sldId id="328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taosdata.com/tdinternal/arch/#%E5%A4%9A%E7%BA%A7%E5%AD%98%E5%82%A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aosdata.feishu.cn/wiki/QT9dwuMhciD5hNkW6r8cf4zSnsh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nglezhan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taosdata.feishu.cn/docx/DaFYdU6vdoW3NnxPjDcclgMznDg?from=space_home_rece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aosdata.feishu.cn/wiki/Kf5iwCF4rixtJukStmvcEhpMnM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TDengine 3.1.0.0 </a:t>
            </a:r>
            <a:r>
              <a:rPr lang="zh-CN" altLang="en-US"/>
              <a:t>功能简介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624070"/>
            <a:ext cx="9144000" cy="633730"/>
          </a:xfrm>
        </p:spPr>
        <p:txBody>
          <a:bodyPr/>
          <a:lstStyle/>
          <a:p>
            <a:r>
              <a:rPr lang="zh-CN" altLang="en-US"/>
              <a:t>研发部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主要功能与优化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查询性能优化</a:t>
            </a:r>
          </a:p>
          <a:p>
            <a:pPr lvl="1"/>
            <a:r>
              <a:rPr lang="en-US" altLang="zh-CN" sz="2400" dirty="0"/>
              <a:t>Order by 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 </a:t>
            </a:r>
            <a:r>
              <a:rPr lang="zh-CN" altLang="en-US" sz="2400" dirty="0"/>
              <a:t>（主键列）</a:t>
            </a:r>
            <a:r>
              <a:rPr lang="en-US" altLang="zh-CN" sz="2400" dirty="0"/>
              <a:t> </a:t>
            </a:r>
            <a:r>
              <a:rPr lang="zh-CN" altLang="en-US" sz="2400" dirty="0"/>
              <a:t>（周升连）</a:t>
            </a:r>
          </a:p>
          <a:p>
            <a:pPr lvl="1"/>
            <a:r>
              <a:rPr lang="en-US" altLang="zh-CN" sz="2400" dirty="0"/>
              <a:t>Order by </a:t>
            </a:r>
            <a:r>
              <a:rPr lang="zh-CN" altLang="en-US" sz="2400" dirty="0"/>
              <a:t>非主键列</a:t>
            </a:r>
            <a:r>
              <a:rPr lang="en-US" altLang="zh-CN" sz="2400" dirty="0"/>
              <a:t> </a:t>
            </a:r>
            <a:r>
              <a:rPr lang="zh-CN" altLang="en-US" sz="2400" dirty="0"/>
              <a:t>（王加明）</a:t>
            </a:r>
          </a:p>
          <a:p>
            <a:pPr lvl="1"/>
            <a:r>
              <a:rPr lang="en-US" altLang="zh-CN" sz="2400" dirty="0" err="1"/>
              <a:t>Parition</a:t>
            </a:r>
            <a:r>
              <a:rPr lang="en-US" altLang="zh-CN" sz="2400" dirty="0"/>
              <a:t> by </a:t>
            </a:r>
            <a:r>
              <a:rPr lang="en-US" altLang="zh-CN" sz="2400" dirty="0" err="1"/>
              <a:t>tbname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slimit</a:t>
            </a:r>
            <a:r>
              <a:rPr lang="en-US" altLang="zh-CN" sz="2400" dirty="0"/>
              <a:t> </a:t>
            </a:r>
            <a:r>
              <a:rPr lang="zh-CN" altLang="en-US" sz="2400" dirty="0"/>
              <a:t>（王加明）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0 </a:t>
            </a:r>
            <a:r>
              <a:rPr lang="zh-CN" altLang="en-US" dirty="0">
                <a:solidFill>
                  <a:schemeClr val="tx1"/>
                </a:solidFill>
              </a:rPr>
              <a:t>级存储负载均衡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（赵本光）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磁盘损坏时的容错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（赵本光）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存储引擎优化（程洪泽）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新数据类型：</a:t>
            </a:r>
            <a:r>
              <a:rPr lang="en-US" altLang="zh-CN" dirty="0" err="1">
                <a:solidFill>
                  <a:schemeClr val="tx1"/>
                </a:solidFill>
              </a:rPr>
              <a:t>GeoMetry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（李顺纲）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78" y="1111127"/>
            <a:ext cx="9144000" cy="2387600"/>
          </a:xfrm>
        </p:spPr>
        <p:txBody>
          <a:bodyPr/>
          <a:lstStyle/>
          <a:p>
            <a:r>
              <a:rPr kumimoji="1" lang="zh-CN" altLang="en-US" dirty="0"/>
              <a:t>查询性能优化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周升连</a:t>
            </a:r>
            <a:endParaRPr kumimoji="1" lang="en-US" altLang="zh-CN" dirty="0"/>
          </a:p>
          <a:p>
            <a:r>
              <a:rPr kumimoji="1" lang="zh-CN" altLang="en-US" dirty="0"/>
              <a:t>王加明</a:t>
            </a:r>
          </a:p>
        </p:txBody>
      </p:sp>
    </p:spTree>
    <p:extLst>
      <p:ext uri="{BB962C8B-B14F-4D97-AF65-F5344CB8AC3E}">
        <p14:creationId xmlns:p14="http://schemas.microsoft.com/office/powerpoint/2010/main" val="3797478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超级表基于主键排序性能内存优化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开始设计</a:t>
            </a:r>
            <a:r>
              <a:rPr lang="zh-CN" altLang="en-US" dirty="0"/>
              <a:t>：</a:t>
            </a:r>
            <a:r>
              <a:rPr lang="en-US" dirty="0"/>
              <a:t>一个子表</a:t>
            </a:r>
            <a:r>
              <a:rPr lang="zh-CN" altLang="en-US" dirty="0"/>
              <a:t>，一个 </a:t>
            </a:r>
            <a:r>
              <a:rPr lang="en-US" altLang="zh-CN" dirty="0"/>
              <a:t>TSDB</a:t>
            </a:r>
            <a:r>
              <a:rPr lang="zh-CN" altLang="en-US" dirty="0"/>
              <a:t> </a:t>
            </a:r>
            <a:r>
              <a:rPr lang="en-US" altLang="zh-CN" dirty="0"/>
              <a:t>Reader,</a:t>
            </a:r>
            <a:r>
              <a:rPr lang="zh-CN" altLang="en-US" dirty="0"/>
              <a:t> 一颗归并树 </a:t>
            </a:r>
            <a:endParaRPr lang="en-US" dirty="0"/>
          </a:p>
          <a:p>
            <a:pPr lvl="1"/>
            <a:r>
              <a:rPr lang="en-US" dirty="0"/>
              <a:t>简单</a:t>
            </a:r>
            <a:r>
              <a:rPr lang="zh-CN" altLang="en-US" dirty="0"/>
              <a:t>，表少，行短，无 </a:t>
            </a:r>
            <a:r>
              <a:rPr lang="en-US" altLang="zh-CN" dirty="0"/>
              <a:t>STT</a:t>
            </a:r>
            <a:r>
              <a:rPr lang="zh-CN" altLang="en-US" dirty="0"/>
              <a:t> 块，</a:t>
            </a:r>
            <a:r>
              <a:rPr lang="en-US" altLang="zh-CN" dirty="0"/>
              <a:t>limit</a:t>
            </a:r>
            <a:r>
              <a:rPr lang="zh-CN" altLang="en-US" dirty="0"/>
              <a:t> 时候最快</a:t>
            </a:r>
            <a:r>
              <a:rPr lang="en-US" altLang="zh-CN" dirty="0"/>
              <a:t>.</a:t>
            </a:r>
            <a:endParaRPr lang="en-US" dirty="0"/>
          </a:p>
          <a:p>
            <a:pPr lvl="1"/>
            <a:r>
              <a:rPr lang="en-US" dirty="0"/>
              <a:t>内存占用大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输入数据块：</a:t>
            </a:r>
            <a:r>
              <a:rPr lang="en-US" altLang="zh-CN" dirty="0"/>
              <a:t>1024</a:t>
            </a:r>
            <a:r>
              <a:rPr lang="zh-CN" altLang="en-US" dirty="0"/>
              <a:t>* 行长 * 子表数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TSDB</a:t>
            </a:r>
            <a:r>
              <a:rPr lang="zh-CN" altLang="en-US" dirty="0"/>
              <a:t> </a:t>
            </a:r>
            <a:r>
              <a:rPr lang="en-US" altLang="zh-CN" dirty="0"/>
              <a:t>Reader</a:t>
            </a:r>
            <a:r>
              <a:rPr lang="zh-CN" altLang="en-US" dirty="0"/>
              <a:t> 内存 * 子表数</a:t>
            </a:r>
            <a:endParaRPr lang="en-US" dirty="0"/>
          </a:p>
          <a:p>
            <a:pPr lvl="2"/>
            <a:r>
              <a:rPr lang="en-US" dirty="0"/>
              <a:t>缓解的策略</a:t>
            </a:r>
            <a:r>
              <a:rPr lang="zh-CN" altLang="en-US" dirty="0"/>
              <a:t>：一组子表先归并，写盘，释放这组</a:t>
            </a:r>
            <a:r>
              <a:rPr lang="en-US" altLang="zh-CN" dirty="0"/>
              <a:t>reader</a:t>
            </a:r>
            <a:r>
              <a:rPr lang="zh-CN" altLang="en-US" dirty="0"/>
              <a:t>和输入块。然后另外一组子表归并，写盘，释放。盘上文件再归并排序</a:t>
            </a:r>
            <a:r>
              <a:rPr lang="en-US" altLang="zh-CN" dirty="0"/>
              <a:t>.</a:t>
            </a:r>
            <a:r>
              <a:rPr lang="zh-CN" altLang="en-US" dirty="0"/>
              <a:t> 分层归并</a:t>
            </a:r>
            <a:endParaRPr lang="en-US" dirty="0"/>
          </a:p>
          <a:p>
            <a:pPr lvl="1"/>
            <a:r>
              <a:rPr lang="en-US" dirty="0"/>
              <a:t>STT块存在时</a:t>
            </a:r>
            <a:r>
              <a:rPr lang="zh-CN" altLang="en-US" dirty="0"/>
              <a:t>，读取慢，内存占用大</a:t>
            </a:r>
            <a:endParaRPr lang="en-US" altLang="zh-CN" dirty="0"/>
          </a:p>
          <a:p>
            <a:pPr lvl="2"/>
            <a:r>
              <a:rPr lang="zh-CN" altLang="en-US" dirty="0"/>
              <a:t>一个</a:t>
            </a:r>
            <a:r>
              <a:rPr lang="en-US" altLang="zh-CN" dirty="0"/>
              <a:t>STT</a:t>
            </a:r>
            <a:r>
              <a:rPr lang="zh-CN" altLang="en-US" dirty="0"/>
              <a:t>块，包含多张子表的数据。</a:t>
            </a:r>
            <a:endParaRPr lang="en-US" altLang="zh-CN" dirty="0"/>
          </a:p>
          <a:p>
            <a:pPr lvl="2"/>
            <a:r>
              <a:rPr lang="en-US" altLang="zh-CN" dirty="0"/>
              <a:t>STT</a:t>
            </a:r>
            <a:r>
              <a:rPr lang="zh-CN" altLang="en-US" dirty="0"/>
              <a:t>块读取解压慢，尤其是包含长</a:t>
            </a:r>
            <a:r>
              <a:rPr lang="en-US" altLang="zh-CN" dirty="0"/>
              <a:t>VARCHAR</a:t>
            </a:r>
            <a:r>
              <a:rPr lang="zh-CN" altLang="en-US" dirty="0"/>
              <a:t>时候</a:t>
            </a:r>
            <a:endParaRPr lang="en-US" altLang="zh-CN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超级表基于主键排序性能内存优化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 </a:t>
            </a:r>
            <a:r>
              <a:rPr lang="en-US" altLang="zh-CN" dirty="0"/>
              <a:t>limit</a:t>
            </a:r>
            <a:r>
              <a:rPr lang="zh-CN" altLang="en-US" dirty="0"/>
              <a:t> 时</a:t>
            </a:r>
            <a:r>
              <a:rPr lang="en-US" altLang="zh-CN" dirty="0"/>
              <a:t>,</a:t>
            </a:r>
            <a:r>
              <a:rPr lang="zh-CN" altLang="en-US" dirty="0"/>
              <a:t>使用堆排序</a:t>
            </a:r>
            <a:endParaRPr lang="en-US" altLang="zh-CN" dirty="0"/>
          </a:p>
          <a:p>
            <a:r>
              <a:rPr lang="zh-CN" altLang="en-US" dirty="0"/>
              <a:t>无 </a:t>
            </a:r>
            <a:r>
              <a:rPr lang="en-US" altLang="zh-CN" dirty="0"/>
              <a:t>limit</a:t>
            </a:r>
            <a:r>
              <a:rPr lang="zh-CN" altLang="en-US" dirty="0"/>
              <a:t> 时候 </a:t>
            </a:r>
            <a:endParaRPr lang="en-US" altLang="zh-CN" dirty="0"/>
          </a:p>
          <a:p>
            <a:pPr lvl="1"/>
            <a:r>
              <a:rPr lang="zh-CN" altLang="en-US" dirty="0"/>
              <a:t>一个 </a:t>
            </a:r>
            <a:r>
              <a:rPr lang="en-US" altLang="zh-CN" dirty="0"/>
              <a:t>TSDB</a:t>
            </a:r>
            <a:r>
              <a:rPr lang="zh-CN" altLang="en-US" dirty="0"/>
              <a:t> </a:t>
            </a:r>
            <a:r>
              <a:rPr lang="en-US" altLang="zh-CN" dirty="0"/>
              <a:t>Reader</a:t>
            </a:r>
          </a:p>
          <a:p>
            <a:pPr lvl="1"/>
            <a:r>
              <a:rPr lang="zh-CN" altLang="en-US" dirty="0"/>
              <a:t>两个阶段</a:t>
            </a:r>
            <a:endParaRPr lang="en-US" altLang="zh-CN" dirty="0"/>
          </a:p>
          <a:p>
            <a:pPr lvl="2"/>
            <a:r>
              <a:rPr lang="zh-CN" altLang="en-US" dirty="0"/>
              <a:t>阶段一</a:t>
            </a:r>
            <a:r>
              <a:rPr lang="en-US" altLang="zh-CN" dirty="0"/>
              <a:t>:</a:t>
            </a:r>
            <a:r>
              <a:rPr lang="zh-CN" altLang="en-US" dirty="0"/>
              <a:t> 累积数据块到内存</a:t>
            </a:r>
            <a:r>
              <a:rPr lang="en-US" altLang="zh-CN" dirty="0"/>
              <a:t>:</a:t>
            </a:r>
            <a:r>
              <a:rPr lang="zh-CN" altLang="en-US" dirty="0"/>
              <a:t> 一个表的多个块先连接</a:t>
            </a:r>
            <a:r>
              <a:rPr lang="en-US" altLang="zh-CN" dirty="0"/>
              <a:t>,</a:t>
            </a:r>
            <a:r>
              <a:rPr lang="zh-CN" altLang="en-US" dirty="0"/>
              <a:t> 多个表的块归并排序</a:t>
            </a:r>
            <a:r>
              <a:rPr lang="en-US" altLang="zh-CN" dirty="0"/>
              <a:t>,</a:t>
            </a:r>
            <a:r>
              <a:rPr lang="zh-CN" altLang="en-US" dirty="0"/>
              <a:t>写盘</a:t>
            </a:r>
            <a:endParaRPr lang="en-US" altLang="zh-CN" dirty="0"/>
          </a:p>
          <a:p>
            <a:pPr lvl="2"/>
            <a:r>
              <a:rPr lang="en-US" dirty="0"/>
              <a:t>阶段二</a:t>
            </a:r>
            <a:r>
              <a:rPr lang="en-US" altLang="zh-CN" dirty="0"/>
              <a:t>:</a:t>
            </a:r>
            <a:r>
              <a:rPr lang="zh-CN" altLang="en-US" dirty="0"/>
              <a:t> 盘上数据块</a:t>
            </a:r>
            <a:r>
              <a:rPr lang="en-US" dirty="0"/>
              <a:t>多层归并排序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超级表基于主键排序性能内存优化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测试结果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taosdata.feishu.cn</a:t>
            </a:r>
            <a:r>
              <a:rPr lang="en-US" dirty="0"/>
              <a:t>/wiki/EI4XwxhMUiJQtRkoMEXchjo4nvf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Order by </a:t>
            </a:r>
            <a:r>
              <a:rPr lang="zh-CN" altLang="en-US" dirty="0"/>
              <a:t>非主键列</a:t>
            </a:r>
            <a:r>
              <a:rPr lang="en-US" altLang="zh-CN" dirty="0"/>
              <a:t> + limit </a:t>
            </a:r>
            <a:r>
              <a:rPr lang="zh-CN" altLang="en-US" dirty="0"/>
              <a:t>性能优化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</a:t>
            </a:r>
            <a:endParaRPr lang="en-US" altLang="zh-CN" dirty="0"/>
          </a:p>
          <a:p>
            <a:pPr lvl="1"/>
            <a:r>
              <a:rPr lang="zh-CN" altLang="en-US" dirty="0"/>
              <a:t>还是上次的</a:t>
            </a:r>
            <a:r>
              <a:rPr lang="en-US" altLang="zh-CN" dirty="0"/>
              <a:t>order by</a:t>
            </a:r>
            <a:r>
              <a:rPr lang="zh-CN" altLang="en-US" dirty="0"/>
              <a:t>非主键列 </a:t>
            </a:r>
            <a:r>
              <a:rPr lang="en-US" altLang="zh-CN" dirty="0"/>
              <a:t>+ limit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主要逻辑</a:t>
            </a:r>
            <a:r>
              <a:rPr lang="en-US" altLang="zh-CN" dirty="0"/>
              <a:t>, </a:t>
            </a:r>
            <a:r>
              <a:rPr lang="zh-CN" altLang="en-US" dirty="0"/>
              <a:t>主要是代码层面的优化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数据在下层算子返回的</a:t>
            </a:r>
            <a:r>
              <a:rPr lang="en-US" altLang="zh-CN" dirty="0"/>
              <a:t>block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在使用</a:t>
            </a:r>
            <a:r>
              <a:rPr lang="en-US" altLang="zh-CN" dirty="0"/>
              <a:t>priority queue</a:t>
            </a:r>
            <a:r>
              <a:rPr lang="zh-CN" altLang="en-US" dirty="0"/>
              <a:t>进行排序时</a:t>
            </a:r>
            <a:r>
              <a:rPr lang="en-US" altLang="zh-CN" dirty="0"/>
              <a:t>, </a:t>
            </a:r>
            <a:r>
              <a:rPr lang="zh-CN" altLang="en-US" dirty="0"/>
              <a:t>先引用</a:t>
            </a:r>
            <a:r>
              <a:rPr lang="en-US" altLang="zh-CN" dirty="0"/>
              <a:t>block</a:t>
            </a:r>
            <a:r>
              <a:rPr lang="zh-CN" altLang="en-US" dirty="0"/>
              <a:t>内的行数据进行比较操作</a:t>
            </a:r>
            <a:r>
              <a:rPr lang="en-US" altLang="zh-CN" dirty="0"/>
              <a:t>, </a:t>
            </a:r>
            <a:r>
              <a:rPr lang="zh-CN" altLang="en-US" dirty="0"/>
              <a:t>确定需要插入到</a:t>
            </a:r>
            <a:r>
              <a:rPr lang="en-US" altLang="zh-CN" dirty="0"/>
              <a:t>PQ</a:t>
            </a:r>
            <a:r>
              <a:rPr lang="zh-CN" altLang="en-US" dirty="0"/>
              <a:t>中之后再进行内存拷贝</a:t>
            </a:r>
            <a:r>
              <a:rPr lang="en-US" altLang="zh-CN" dirty="0"/>
              <a:t>.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在数据量较大</a:t>
            </a:r>
            <a:r>
              <a:rPr lang="en-US" altLang="zh-CN" dirty="0"/>
              <a:t>, limit</a:t>
            </a:r>
            <a:r>
              <a:rPr lang="zh-CN" altLang="en-US" dirty="0"/>
              <a:t>值较小时可以避免较多的内存拷贝</a:t>
            </a:r>
            <a:r>
              <a:rPr lang="en-US" altLang="zh-CN" dirty="0"/>
              <a:t>.</a:t>
            </a:r>
          </a:p>
          <a:p>
            <a:pPr marL="228600" lvl="1">
              <a:spcBef>
                <a:spcPts val="1000"/>
              </a:spcBef>
            </a:pPr>
            <a:r>
              <a:rPr lang="en-US" altLang="zh-CN" sz="2800" dirty="0" err="1"/>
              <a:t>Sql</a:t>
            </a:r>
            <a:r>
              <a:rPr lang="zh-CN" altLang="en-US" sz="2800" dirty="0"/>
              <a:t>执行时间较之前优化</a:t>
            </a:r>
            <a:r>
              <a:rPr lang="en-US" altLang="zh-CN" sz="2800" dirty="0"/>
              <a:t>20%</a:t>
            </a:r>
            <a:r>
              <a:rPr lang="zh-CN" altLang="en-US" sz="2800" dirty="0"/>
              <a:t>左右</a:t>
            </a:r>
            <a:r>
              <a:rPr lang="en-US" altLang="zh-CN" sz="2800" dirty="0"/>
              <a:t>, </a:t>
            </a:r>
            <a:r>
              <a:rPr lang="zh-CN" altLang="en-US" sz="2800" dirty="0"/>
              <a:t>其他指标无变化</a:t>
            </a:r>
            <a:r>
              <a:rPr lang="en-US" altLang="zh-CN" sz="2800" dirty="0"/>
              <a:t>.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Partition by </a:t>
            </a:r>
            <a:r>
              <a:rPr lang="en-US" altLang="zh-CN" dirty="0" err="1"/>
              <a:t>tbname</a:t>
            </a:r>
            <a:r>
              <a:rPr lang="en-US" altLang="zh-CN" dirty="0"/>
              <a:t> + </a:t>
            </a:r>
            <a:r>
              <a:rPr lang="en-US" altLang="zh-CN" dirty="0" err="1"/>
              <a:t>slimit</a:t>
            </a:r>
            <a:r>
              <a:rPr lang="zh-CN" altLang="en-US" dirty="0"/>
              <a:t>性能优化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8431306" cy="4351338"/>
          </a:xfrm>
        </p:spPr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group </a:t>
            </a:r>
            <a:r>
              <a:rPr lang="zh-CN" altLang="en-US" dirty="0"/>
              <a:t>算子之前为阻塞模式</a:t>
            </a:r>
            <a:r>
              <a:rPr lang="en-US" altLang="zh-CN" dirty="0"/>
              <a:t>, </a:t>
            </a:r>
            <a:r>
              <a:rPr lang="en-US" altLang="zh-CN" dirty="0" err="1"/>
              <a:t>slimit</a:t>
            </a:r>
            <a:r>
              <a:rPr lang="zh-CN" altLang="en-US" dirty="0"/>
              <a:t>无论大小</a:t>
            </a:r>
            <a:r>
              <a:rPr lang="en-US" altLang="zh-CN" dirty="0"/>
              <a:t>, </a:t>
            </a:r>
            <a:r>
              <a:rPr lang="zh-CN" altLang="en-US" dirty="0"/>
              <a:t>都需要扫描全量数据完成</a:t>
            </a:r>
            <a:r>
              <a:rPr lang="en-US" altLang="zh-CN" dirty="0"/>
              <a:t>group</a:t>
            </a:r>
            <a:r>
              <a:rPr lang="zh-CN" altLang="en-US" dirty="0"/>
              <a:t>操作之后</a:t>
            </a:r>
            <a:r>
              <a:rPr lang="en-US" altLang="zh-CN" dirty="0"/>
              <a:t>, </a:t>
            </a:r>
            <a:r>
              <a:rPr lang="zh-CN" altLang="en-US" dirty="0"/>
              <a:t>再取前几个</a:t>
            </a:r>
            <a:r>
              <a:rPr lang="en-US" altLang="zh-CN" dirty="0"/>
              <a:t>group</a:t>
            </a:r>
            <a:r>
              <a:rPr lang="zh-CN" altLang="en-US" dirty="0"/>
              <a:t>的数据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group</a:t>
            </a:r>
            <a:r>
              <a:rPr lang="zh-CN" altLang="en-US" dirty="0"/>
              <a:t>算子改为</a:t>
            </a:r>
            <a:r>
              <a:rPr lang="en-US" altLang="zh-CN" dirty="0"/>
              <a:t>pipeline</a:t>
            </a:r>
            <a:r>
              <a:rPr lang="zh-CN" altLang="en-US" dirty="0"/>
              <a:t>模式</a:t>
            </a:r>
            <a:r>
              <a:rPr lang="en-US" altLang="zh-CN" dirty="0"/>
              <a:t>, </a:t>
            </a:r>
            <a:r>
              <a:rPr lang="zh-CN" altLang="en-US" dirty="0"/>
              <a:t>由上层</a:t>
            </a:r>
            <a:r>
              <a:rPr lang="en-US" altLang="zh-CN" dirty="0"/>
              <a:t>project node</a:t>
            </a:r>
            <a:r>
              <a:rPr lang="zh-CN" altLang="en-US" dirty="0"/>
              <a:t>驱动</a:t>
            </a:r>
            <a:r>
              <a:rPr lang="en-US" altLang="zh-CN" dirty="0"/>
              <a:t>, </a:t>
            </a:r>
            <a:r>
              <a:rPr lang="zh-CN" altLang="en-US" dirty="0"/>
              <a:t>获取多少个分组的数据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相比于全量扫描</a:t>
            </a:r>
            <a:r>
              <a:rPr lang="en-US" altLang="zh-CN" dirty="0"/>
              <a:t>, </a:t>
            </a:r>
            <a:r>
              <a:rPr lang="en-US" altLang="zh-CN" dirty="0" err="1"/>
              <a:t>slimit</a:t>
            </a:r>
            <a:r>
              <a:rPr lang="zh-CN" altLang="en-US" dirty="0"/>
              <a:t>较小时查询时间有明显缩短</a:t>
            </a:r>
            <a:r>
              <a:rPr lang="en-US" altLang="zh-CN" dirty="0"/>
              <a:t>.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9713259" y="1894214"/>
            <a:ext cx="1716741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Project/limit</a:t>
            </a:r>
            <a:endParaRPr lang="zh-CN" altLang="en-US" dirty="0"/>
          </a:p>
        </p:txBody>
      </p:sp>
      <p:sp>
        <p:nvSpPr>
          <p:cNvPr id="7" name="矩形: 圆角 6"/>
          <p:cNvSpPr/>
          <p:nvPr/>
        </p:nvSpPr>
        <p:spPr>
          <a:xfrm>
            <a:off x="9713258" y="2985247"/>
            <a:ext cx="1716741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group</a:t>
            </a:r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9713258" y="4091548"/>
            <a:ext cx="1716741" cy="6454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scan</a:t>
            </a:r>
            <a:endParaRPr lang="zh-CN" altLang="en-US" dirty="0"/>
          </a:p>
        </p:txBody>
      </p:sp>
      <p:sp>
        <p:nvSpPr>
          <p:cNvPr id="9" name="箭头: 上下 8"/>
          <p:cNvSpPr/>
          <p:nvPr/>
        </p:nvSpPr>
        <p:spPr>
          <a:xfrm>
            <a:off x="10452846" y="2539673"/>
            <a:ext cx="224117" cy="430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下 9"/>
          <p:cNvSpPr/>
          <p:nvPr/>
        </p:nvSpPr>
        <p:spPr>
          <a:xfrm>
            <a:off x="10459569" y="3645974"/>
            <a:ext cx="224117" cy="4303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78" y="1111127"/>
            <a:ext cx="9144000" cy="2387600"/>
          </a:xfrm>
        </p:spPr>
        <p:txBody>
          <a:bodyPr/>
          <a:lstStyle/>
          <a:p>
            <a:r>
              <a:rPr kumimoji="1" lang="zh-CN" altLang="en-US" dirty="0"/>
              <a:t>多级存储</a:t>
            </a:r>
            <a:r>
              <a:rPr kumimoji="1" lang="en-US" altLang="zh-CN" dirty="0"/>
              <a:t> 0</a:t>
            </a:r>
            <a:r>
              <a:rPr kumimoji="1" lang="zh-CN" altLang="en-US" dirty="0"/>
              <a:t>级负载均衡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tx1"/>
                </a:solidFill>
              </a:rPr>
              <a:t>赵本光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25573"/>
            <a:ext cx="10515600" cy="4351338"/>
          </a:xfrm>
        </p:spPr>
        <p:txBody>
          <a:bodyPr/>
          <a:lstStyle/>
          <a:p>
            <a:r>
              <a:rPr lang="zh-CN" altLang="en-US"/>
              <a:t>由于之前全部</a:t>
            </a:r>
            <a:r>
              <a:rPr lang="en-US" altLang="zh-CN"/>
              <a:t>vnode</a:t>
            </a:r>
            <a:r>
              <a:rPr lang="zh-CN" altLang="en-US"/>
              <a:t>的主目录（包含</a:t>
            </a:r>
            <a:r>
              <a:rPr lang="en-US" altLang="zh-CN"/>
              <a:t>WAL</a:t>
            </a:r>
            <a:r>
              <a:rPr lang="zh-CN" altLang="en-US"/>
              <a:t>目录），存在于主挂载点（即</a:t>
            </a:r>
            <a:r>
              <a:rPr lang="en-US" altLang="zh-CN"/>
              <a:t>level 0 disk 0</a:t>
            </a:r>
            <a:r>
              <a:rPr lang="zh-CN" altLang="en-US"/>
              <a:t>）上。从而，单个</a:t>
            </a:r>
            <a:r>
              <a:rPr lang="en-US" altLang="zh-CN"/>
              <a:t>dnode</a:t>
            </a:r>
            <a:r>
              <a:rPr lang="zh-CN" altLang="en-US"/>
              <a:t>节点写入性能，受限于主挂载点磁盘的写入性能，而不能通过添加磁盘改善。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>
              <a:buFont typeface="Wingdings" panose="05000000000000000000" charset="0"/>
              <a:buChar char="•"/>
            </a:pPr>
            <a:r>
              <a:rPr lang="zh-CN" altLang="en-US"/>
              <a:t>当前功能，改变了</a:t>
            </a:r>
            <a:r>
              <a:rPr lang="en-US" altLang="zh-CN"/>
              <a:t>vnode</a:t>
            </a:r>
            <a:r>
              <a:rPr lang="zh-CN" altLang="en-US"/>
              <a:t>的主目录只能存在于主挂载点磁盘上的限制，而均匀分布于全部</a:t>
            </a:r>
            <a:r>
              <a:rPr lang="en-US" altLang="zh-CN"/>
              <a:t>Level 0</a:t>
            </a:r>
            <a:r>
              <a:rPr lang="zh-CN" altLang="en-US"/>
              <a:t>全部磁盘上，从而可以通过增加</a:t>
            </a:r>
            <a:r>
              <a:rPr lang="en-US" altLang="zh-CN"/>
              <a:t>Level0</a:t>
            </a:r>
            <a:r>
              <a:rPr lang="zh-CN" altLang="en-US"/>
              <a:t>磁盘数量，增加</a:t>
            </a:r>
            <a:r>
              <a:rPr lang="en-US" altLang="zh-CN"/>
              <a:t>dnode</a:t>
            </a:r>
            <a:r>
              <a:rPr lang="zh-CN" altLang="en-US"/>
              <a:t>节点整体写入吞吐能力。</a:t>
            </a:r>
          </a:p>
          <a:p>
            <a:pPr>
              <a:buFont typeface="Wingdings" panose="05000000000000000000" charset="0"/>
              <a:buChar char="•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5" name="Picture 4" descr="upload_post_object_v2_106112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72" y="3125598"/>
            <a:ext cx="12192000" cy="606759"/>
          </a:xfrm>
          <a:prstGeom prst="rect">
            <a:avLst/>
          </a:prstGeom>
        </p:spPr>
      </p:pic>
      <p:pic>
        <p:nvPicPr>
          <p:cNvPr id="6" name="Picture 5" descr="upload_post_object_v2_3371507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4" y="5457801"/>
            <a:ext cx="12192000" cy="7191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/>
              <a:t>多级存储的用户配置方式，保持不变。例如：</a:t>
            </a:r>
          </a:p>
          <a:p>
            <a:pPr marL="0" indent="0">
              <a:buNone/>
            </a:pPr>
            <a:r>
              <a:rPr lang="en-US" altLang="zh-CN"/>
              <a:t>taos.cfg: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/mnt/data1 0 1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/mnt/data2 0 0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/mnt/data3 1 0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/mnt/data4 1 0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/mnt/data5 2 0</a:t>
            </a:r>
          </a:p>
          <a:p>
            <a:pPr marL="0" indent="0">
              <a:buNone/>
            </a:pPr>
            <a:r>
              <a:rPr lang="en-US" sz="1950" b="0" u="none">
                <a:solidFill>
                  <a:srgbClr val="393A34"/>
                </a:solidFill>
                <a:latin typeface="inherit" charset="0"/>
              </a:rPr>
              <a:t>dataDir /mnt/data6 2 0</a:t>
            </a:r>
            <a:endParaRPr lang="zh-CN" altLang="en-US"/>
          </a:p>
          <a:p>
            <a:pPr marL="0" indent="0">
              <a:buNone/>
            </a:pPr>
            <a:r>
              <a:rPr lang="zh-CN" altLang="en-US" u="sng">
                <a:uFill>
                  <a:solidFill>
                    <a:srgbClr val="000000"/>
                  </a:solidFill>
                </a:uFill>
              </a:rPr>
              <a:t>参考：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整体架构 - 多级存储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| TDengine 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文档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| </a:t>
            </a:r>
            <a:r>
              <a:rPr lang="zh-CN" altLang="en-US" u="sng">
                <a:uFill>
                  <a:solidFill>
                    <a:srgbClr val="000000"/>
                  </a:solidFill>
                </a:uFill>
                <a:hlinkClick r:id="rId2"/>
              </a:rPr>
              <a:t>涛思数据 </a:t>
            </a:r>
            <a:r>
              <a:rPr lang="en-US" altLang="zh-CN" u="sng">
                <a:uFill>
                  <a:solidFill>
                    <a:srgbClr val="000000"/>
                  </a:solidFill>
                </a:uFill>
                <a:hlinkClick r:id="rId2"/>
              </a:rPr>
              <a:t>(taosdata.com)</a:t>
            </a:r>
            <a:endParaRPr lang="zh-CN" altLang="en-US" b="0" u="sng">
              <a:uFill>
                <a:solidFill>
                  <a:srgbClr val="000000"/>
                </a:solidFill>
              </a:uFill>
              <a:hlinkClick r:id="rId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b="1"/>
              <a:t>主目录磁盘选择</a:t>
            </a:r>
            <a:r>
              <a:rPr lang="zh-CN" altLang="en-US"/>
              <a:t>：当</a:t>
            </a:r>
            <a:r>
              <a:rPr lang="en-US" altLang="zh-CN"/>
              <a:t>dnode</a:t>
            </a:r>
            <a:r>
              <a:rPr lang="zh-CN" altLang="en-US"/>
              <a:t>接收到创建</a:t>
            </a:r>
            <a:r>
              <a:rPr lang="en-US" altLang="zh-CN"/>
              <a:t>vnode</a:t>
            </a:r>
            <a:r>
              <a:rPr lang="zh-CN" altLang="en-US"/>
              <a:t>请求时，如果该</a:t>
            </a:r>
            <a:r>
              <a:rPr lang="en-US" altLang="zh-CN"/>
              <a:t>vnode</a:t>
            </a:r>
            <a:r>
              <a:rPr lang="zh-CN" altLang="en-US"/>
              <a:t>不存在，</a:t>
            </a:r>
          </a:p>
          <a:p>
            <a:pPr marL="0" indent="0">
              <a:buAutoNum type="circleNumDbPlain"/>
            </a:pPr>
            <a:r>
              <a:rPr lang="zh-CN" altLang="en-US"/>
              <a:t>首先检查</a:t>
            </a:r>
            <a:r>
              <a:rPr lang="en-US" altLang="zh-CN"/>
              <a:t>Level 0</a:t>
            </a:r>
            <a:r>
              <a:rPr lang="zh-CN" altLang="en-US"/>
              <a:t>磁盘列表上，是否存在创建未完成的当前</a:t>
            </a:r>
            <a:r>
              <a:rPr lang="en-US" altLang="zh-CN"/>
              <a:t>vnode</a:t>
            </a:r>
            <a:r>
              <a:rPr lang="zh-CN" altLang="en-US"/>
              <a:t>主目录，如果存在，那么选择该磁盘，作为当前</a:t>
            </a:r>
            <a:r>
              <a:rPr lang="en-US" altLang="zh-CN"/>
              <a:t>vnode</a:t>
            </a:r>
            <a:r>
              <a:rPr lang="zh-CN" altLang="en-US"/>
              <a:t>的主目录磁盘；</a:t>
            </a:r>
          </a:p>
          <a:p>
            <a:pPr marL="0" indent="0">
              <a:buAutoNum type="circleNumDbPlain"/>
            </a:pPr>
            <a:r>
              <a:rPr lang="zh-CN" altLang="en-US"/>
              <a:t>如果不存在，那么选择</a:t>
            </a:r>
            <a:r>
              <a:rPr lang="en-US" altLang="zh-CN"/>
              <a:t>Level 0</a:t>
            </a:r>
            <a:r>
              <a:rPr lang="zh-CN" altLang="en-US"/>
              <a:t>磁盘序列中记录的已存在</a:t>
            </a:r>
            <a:r>
              <a:rPr lang="en-US" altLang="zh-CN"/>
              <a:t>vnode</a:t>
            </a:r>
            <a:r>
              <a:rPr lang="zh-CN" altLang="en-US"/>
              <a:t>主目录数目最少的磁盘，作为当前</a:t>
            </a:r>
            <a:r>
              <a:rPr lang="en-US" altLang="zh-CN"/>
              <a:t>vnode</a:t>
            </a:r>
            <a:r>
              <a:rPr lang="zh-CN" altLang="en-US"/>
              <a:t>的主目录磁盘；</a:t>
            </a:r>
          </a:p>
          <a:p>
            <a:pPr marL="0" indent="0">
              <a:buNone/>
            </a:pPr>
            <a:r>
              <a:rPr lang="zh-CN" altLang="en-US"/>
              <a:t>用于创建该</a:t>
            </a:r>
            <a:r>
              <a:rPr lang="en-US" altLang="zh-CN"/>
              <a:t>vnode</a:t>
            </a:r>
            <a:r>
              <a:rPr lang="zh-CN" altLang="en-US"/>
              <a:t>。</a:t>
            </a: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参考：</a:t>
            </a:r>
            <a:r>
              <a:rPr b="0" u="sng">
                <a:uFill>
                  <a:solidFill>
                    <a:srgbClr val="000000"/>
                  </a:solidFill>
                </a:uFill>
                <a:hlinkClick r:id="rId2"/>
              </a:rPr>
              <a:t>多级存储通过并列磁盘，提高单个dnode节点写入的磁盘IO吞吐能力 - 飞书云文档 (feishu.cn)</a:t>
            </a:r>
            <a:endParaRPr lang="zh-CN" altLang="en-US" b="0" u="sng">
              <a:uFill>
                <a:solidFill>
                  <a:srgbClr val="000000"/>
                </a:solidFill>
              </a:uFill>
              <a:hlinkClick r:id="rId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/>
              <a:t>磁盘故障容错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45" y="3602038"/>
            <a:ext cx="9144000" cy="1655762"/>
          </a:xfrm>
        </p:spPr>
        <p:txBody>
          <a:bodyPr/>
          <a:lstStyle/>
          <a:p>
            <a:r>
              <a:rPr kumimoji="1" lang="zh-CN" altLang="en-US"/>
              <a:t>赵本光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•"/>
            </a:pPr>
            <a:r>
              <a:rPr lang="zh-CN" altLang="en-US"/>
              <a:t>该功能之前，当主节点发生磁盘故障，读写将会持续报错，节点继续运行；通过运维手段，比如退出故障节点，在多副本条件下，触发切主完成</a:t>
            </a:r>
            <a:r>
              <a:rPr lang="en-US" altLang="zh-CN"/>
              <a:t>Failover</a:t>
            </a:r>
            <a:r>
              <a:rPr lang="zh-CN" altLang="en-US"/>
              <a:t>切换。</a:t>
            </a:r>
          </a:p>
          <a:p>
            <a:pPr>
              <a:buFont typeface="Wingdings" panose="05000000000000000000" charset="0"/>
              <a:buChar char="•"/>
            </a:pPr>
            <a:r>
              <a:rPr lang="zh-CN" altLang="en-US"/>
              <a:t>当前功能，通过在写入失败时，包括</a:t>
            </a:r>
            <a:r>
              <a:rPr lang="en-US" altLang="zh-CN"/>
              <a:t>WAL</a:t>
            </a:r>
            <a:r>
              <a:rPr lang="zh-CN" altLang="en-US"/>
              <a:t>追加（</a:t>
            </a:r>
            <a:r>
              <a:rPr lang="en-US" altLang="zh-CN"/>
              <a:t>append</a:t>
            </a:r>
            <a:r>
              <a:rPr lang="zh-CN" altLang="en-US"/>
              <a:t>）失败或者</a:t>
            </a:r>
            <a:r>
              <a:rPr lang="en-US" altLang="zh-CN"/>
              <a:t>Tsdb</a:t>
            </a:r>
            <a:r>
              <a:rPr lang="zh-CN" altLang="en-US"/>
              <a:t>落盘（</a:t>
            </a:r>
            <a:r>
              <a:rPr lang="en-US" altLang="zh-CN"/>
              <a:t>vnode commit</a:t>
            </a:r>
            <a:r>
              <a:rPr lang="zh-CN" altLang="en-US"/>
              <a:t>）失败，报错且节点自动退出，从而触发多副本集群切主，自动完成主节点</a:t>
            </a:r>
            <a:r>
              <a:rPr lang="en-US" altLang="zh-CN"/>
              <a:t>Failover</a:t>
            </a:r>
            <a:r>
              <a:rPr lang="zh-CN" altLang="en-US"/>
              <a:t>切换。</a:t>
            </a:r>
            <a:r>
              <a:rPr lang="zh-CN" altLang="en-US">
                <a:sym typeface="+mn-ea"/>
              </a:rPr>
              <a:t>比如磁盘发生</a:t>
            </a:r>
            <a:r>
              <a:rPr lang="en-US" altLang="zh-CN">
                <a:sym typeface="+mn-ea"/>
              </a:rPr>
              <a:t>I/O</a:t>
            </a:r>
            <a:r>
              <a:rPr lang="zh-CN" altLang="en-US">
                <a:sym typeface="+mn-ea"/>
              </a:rPr>
              <a:t>故障，将会报错</a:t>
            </a:r>
            <a:r>
              <a:rPr lang="en-US" altLang="zh-CN">
                <a:sym typeface="+mn-ea"/>
              </a:rPr>
              <a:t>I/O Error</a:t>
            </a:r>
            <a:r>
              <a:rPr lang="zh-CN" altLang="en-US">
                <a:sym typeface="+mn-ea"/>
              </a:rPr>
              <a:t>。</a:t>
            </a:r>
          </a:p>
          <a:p>
            <a:pPr>
              <a:buFont typeface="Wingdings" panose="05000000000000000000" charset="0"/>
              <a:buChar char="•"/>
            </a:pPr>
            <a:r>
              <a:rPr lang="zh-CN" altLang="en-US"/>
              <a:t>当经过几秒钟而成功重新选主后，集群恢复正常读写服务。</a:t>
            </a:r>
          </a:p>
          <a:p>
            <a:pPr>
              <a:buFont typeface="Wingdings" panose="05000000000000000000" charset="0"/>
              <a:buChar char="•"/>
            </a:pPr>
            <a:endParaRPr lang="zh-CN" altLang="en-US"/>
          </a:p>
          <a:p>
            <a:pPr>
              <a:buFont typeface="Wingdings" panose="05000000000000000000" charset="0"/>
              <a:buChar char="•"/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/>
              <a:t>发生磁盘故障时，节点将会自动退出，</a:t>
            </a:r>
            <a:r>
              <a:rPr lang="zh-CN" altLang="en-US">
                <a:sym typeface="+mn-ea"/>
              </a:rPr>
              <a:t>在多副本情况下，</a:t>
            </a:r>
            <a:r>
              <a:rPr lang="zh-CN" altLang="en-US"/>
              <a:t>自动进行切主。同时，故障节点再次重启，也将会因为磁盘硬件错误而失败。切主自动进行，无需人工干预。</a:t>
            </a:r>
          </a:p>
          <a:p>
            <a:pPr marL="0" indent="0">
              <a:buNone/>
            </a:pPr>
            <a:r>
              <a:rPr lang="zh-CN" altLang="en-US" b="1"/>
              <a:t>注意</a:t>
            </a:r>
            <a:r>
              <a:rPr lang="zh-CN" altLang="en-US"/>
              <a:t>：</a:t>
            </a:r>
          </a:p>
          <a:p>
            <a:pPr marL="514350" indent="-514350">
              <a:buAutoNum type="circleNumDbPlain"/>
            </a:pPr>
            <a:r>
              <a:rPr lang="zh-CN" altLang="en-US"/>
              <a:t>当发生了切主时，需要通过</a:t>
            </a:r>
            <a:r>
              <a:rPr lang="en-US" altLang="zh-CN"/>
              <a:t>taosd</a:t>
            </a:r>
            <a:r>
              <a:rPr lang="zh-CN" altLang="en-US"/>
              <a:t>日志以及系统日志，确定切主原因，比如是否发生了节点</a:t>
            </a:r>
            <a:r>
              <a:rPr lang="en-US" altLang="zh-CN"/>
              <a:t>crash</a:t>
            </a:r>
            <a:r>
              <a:rPr lang="zh-CN" altLang="en-US"/>
              <a:t>，是否出现磁盘故障等。由于发生磁盘故障时，多副本集群将会自动完成主节点切换，经过几秒重新选主成功后，用户写入不会持续报错而恢复正常，需要对节点重启建立完善的监控，及时发现集群节点或硬件故障。</a:t>
            </a:r>
            <a:r>
              <a:rPr lang="zh-CN" altLang="en-US" b="1">
                <a:sym typeface="+mn-ea"/>
              </a:rPr>
              <a:t>参考命令</a:t>
            </a:r>
            <a:r>
              <a:rPr lang="zh-CN" altLang="en-US">
                <a:sym typeface="+mn-ea"/>
              </a:rPr>
              <a:t>：</a:t>
            </a:r>
            <a:r>
              <a:rPr lang="en-US" altLang="zh-CN" sz="2000">
                <a:sym typeface="+mn-ea"/>
              </a:rPr>
              <a:t>grep </a:t>
            </a:r>
            <a:r>
              <a:rPr lang="zh-CN" altLang="en-US" sz="2000">
                <a:sym typeface="+mn-ea"/>
              </a:rPr>
              <a:t>-</a:t>
            </a:r>
            <a:r>
              <a:rPr lang="en-US" altLang="zh-CN" sz="2000">
                <a:sym typeface="+mn-ea"/>
              </a:rPr>
              <a:t>Ein '(ERROR|FATAL)' taosdlog.*; systemctl status taosd; dmesg </a:t>
            </a:r>
            <a:r>
              <a:rPr lang="zh-CN" altLang="en-US" sz="2000">
                <a:sym typeface="+mn-ea"/>
              </a:rPr>
              <a:t>-</a:t>
            </a:r>
            <a:r>
              <a:rPr lang="en-US" altLang="zh-CN" sz="2000">
                <a:sym typeface="+mn-ea"/>
              </a:rPr>
              <a:t>T</a:t>
            </a:r>
          </a:p>
          <a:p>
            <a:pPr marL="514350" indent="-514350">
              <a:buAutoNum type="circleNumDbPlain"/>
            </a:pPr>
            <a:r>
              <a:rPr lang="zh-CN" altLang="en-US">
                <a:solidFill>
                  <a:schemeClr val="tx1"/>
                </a:solidFill>
              </a:rPr>
              <a:t>更换故障磁盘后，可通过</a:t>
            </a:r>
            <a:r>
              <a:rPr lang="en-US" altLang="zh-CN">
                <a:solidFill>
                  <a:schemeClr val="tx1"/>
                </a:solidFill>
              </a:rPr>
              <a:t>restore dnode</a:t>
            </a:r>
            <a:r>
              <a:rPr lang="zh-CN" altLang="en-US">
                <a:solidFill>
                  <a:schemeClr val="tx1"/>
                </a:solidFill>
              </a:rPr>
              <a:t>命令，按照要求进行节点恢复。</a:t>
            </a:r>
            <a:r>
              <a:rPr lang="zh-CN" altLang="en-US" b="1">
                <a:solidFill>
                  <a:schemeClr val="tx1"/>
                </a:solidFill>
              </a:rPr>
              <a:t>注</a:t>
            </a:r>
            <a:r>
              <a:rPr lang="zh-CN" altLang="en-US">
                <a:solidFill>
                  <a:schemeClr val="tx1"/>
                </a:solidFill>
              </a:rPr>
              <a:t>：目前磁盘故障节点，需要进行全量恢复。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WAL</a:t>
            </a:r>
            <a:r>
              <a:rPr lang="zh-CN" altLang="en-US"/>
              <a:t>写入时，</a:t>
            </a:r>
          </a:p>
          <a:p>
            <a:pPr marL="514350" indent="-514350">
              <a:buAutoNum type="circleNumDbPlain"/>
            </a:pPr>
            <a:r>
              <a:rPr lang="zh-CN" altLang="en-US"/>
              <a:t>如果发生</a:t>
            </a:r>
            <a:r>
              <a:rPr lang="en-US" altLang="zh-CN"/>
              <a:t>walWriteImpl</a:t>
            </a:r>
            <a:r>
              <a:rPr lang="zh-CN" altLang="en-US"/>
              <a:t>日志写入失败（例如因为磁盘空间满或者磁盘故障），将尝试回滚如果回滚失败，</a:t>
            </a:r>
          </a:p>
          <a:p>
            <a:pPr marL="514350" indent="-514350">
              <a:buAutoNum type="circleNumDbPlain"/>
            </a:pPr>
            <a:r>
              <a:rPr lang="zh-CN" altLang="en-US"/>
              <a:t>或者</a:t>
            </a:r>
            <a:r>
              <a:rPr lang="en-US" altLang="zh-CN"/>
              <a:t>walWriteIndex</a:t>
            </a:r>
            <a:r>
              <a:rPr lang="zh-CN" altLang="en-US"/>
              <a:t>索引文件写入</a:t>
            </a:r>
            <a:r>
              <a:rPr lang="en-US" altLang="zh-CN"/>
              <a:t>seek</a:t>
            </a:r>
            <a:r>
              <a:rPr lang="zh-CN" altLang="en-US"/>
              <a:t>失败，例如发生了磁盘故障，</a:t>
            </a:r>
          </a:p>
          <a:p>
            <a:pPr marL="0" indent="0">
              <a:buNone/>
            </a:pPr>
            <a:r>
              <a:rPr lang="zh-CN" altLang="en-US"/>
              <a:t>将会报告</a:t>
            </a:r>
            <a:r>
              <a:rPr lang="en-US" altLang="zh-CN"/>
              <a:t>FATAL ERROR</a:t>
            </a:r>
            <a:r>
              <a:rPr lang="zh-CN" altLang="en-US"/>
              <a:t>输出错误原因</a:t>
            </a:r>
            <a:r>
              <a:rPr lang="en-US" altLang="zh-CN"/>
              <a:t>, </a:t>
            </a:r>
            <a:r>
              <a:rPr lang="zh-CN" altLang="en-US"/>
              <a:t>并且节点退出运行。</a:t>
            </a:r>
          </a:p>
          <a:p>
            <a:r>
              <a:rPr lang="zh-CN" altLang="en-US"/>
              <a:t>在</a:t>
            </a:r>
            <a:r>
              <a:rPr lang="en-US" altLang="zh-CN"/>
              <a:t>Tsdb</a:t>
            </a:r>
            <a:r>
              <a:rPr lang="zh-CN" altLang="en-US"/>
              <a:t>进行磁盘持久化时，</a:t>
            </a:r>
            <a:r>
              <a:rPr lang="en-US" altLang="zh-CN"/>
              <a:t>vnodeCommitImpl</a:t>
            </a:r>
            <a:r>
              <a:rPr lang="zh-CN" altLang="en-US"/>
              <a:t>发生了失败，比如因为磁盘故障，将会报告</a:t>
            </a:r>
            <a:r>
              <a:rPr lang="en-US" altLang="zh-CN"/>
              <a:t>FATAL ERROR</a:t>
            </a:r>
            <a:r>
              <a:rPr lang="zh-CN" altLang="en-US"/>
              <a:t>输出错误原因，并节点退出运行。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78" y="1111127"/>
            <a:ext cx="9144000" cy="2387600"/>
          </a:xfrm>
        </p:spPr>
        <p:txBody>
          <a:bodyPr/>
          <a:lstStyle/>
          <a:p>
            <a:r>
              <a:rPr kumimoji="1" lang="en-US" altLang="zh-CN" dirty="0"/>
              <a:t>Geometry </a:t>
            </a:r>
            <a:r>
              <a:rPr kumimoji="1" lang="zh-CN" altLang="en-US" dirty="0"/>
              <a:t>数据类型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李顺纲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25573"/>
            <a:ext cx="10515600" cy="4351338"/>
          </a:xfrm>
        </p:spPr>
        <p:txBody>
          <a:bodyPr/>
          <a:lstStyle/>
          <a:p>
            <a:r>
              <a:rPr lang="zh-CN" altLang="en-US" dirty="0">
                <a:effectLst/>
              </a:rPr>
              <a:t>初始提交由社区 </a:t>
            </a:r>
            <a:r>
              <a:rPr lang="en-US" altLang="zh-CN" dirty="0">
                <a:effectLst/>
              </a:rPr>
              <a:t>@</a:t>
            </a:r>
            <a:r>
              <a:rPr lang="en-US" altLang="zh-CN" b="1" dirty="0">
                <a:effectLst/>
                <a:hlinkClick r:id="rId2"/>
              </a:rPr>
              <a:t>dinglezhang</a:t>
            </a:r>
            <a:r>
              <a:rPr lang="zh-CN" altLang="en-US" b="1" dirty="0">
                <a:effectLst/>
              </a:rPr>
              <a:t> </a:t>
            </a:r>
            <a:r>
              <a:rPr lang="zh-CN" altLang="en-US" dirty="0">
                <a:effectLst/>
              </a:rPr>
              <a:t>贡献</a:t>
            </a:r>
            <a:br>
              <a:rPr lang="en-US" altLang="zh-CN" dirty="0"/>
            </a:br>
            <a:endParaRPr lang="zh-CN" altLang="en-US" dirty="0">
              <a:effectLst/>
            </a:endParaRP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引入 </a:t>
            </a:r>
            <a:r>
              <a:rPr lang="en-US" altLang="zh-CN" dirty="0" err="1"/>
              <a:t>Libgeos</a:t>
            </a:r>
            <a:r>
              <a:rPr lang="en-US" altLang="zh-CN" dirty="0"/>
              <a:t> </a:t>
            </a:r>
            <a:r>
              <a:rPr lang="zh-CN" altLang="en-US" dirty="0"/>
              <a:t>作为 </a:t>
            </a:r>
            <a:r>
              <a:rPr lang="en-US" altLang="zh-CN" dirty="0"/>
              <a:t>Geometry </a:t>
            </a:r>
            <a:r>
              <a:rPr lang="zh-CN" altLang="en-US" dirty="0"/>
              <a:t>逻辑处理库：</a:t>
            </a:r>
            <a:br>
              <a:rPr lang="en-US" altLang="zh-CN" dirty="0"/>
            </a:br>
            <a:r>
              <a:rPr lang="en-US" altLang="zh-CN" dirty="0"/>
              <a:t>GEOS is a C++ library for performing operations on two-dimensional vector geometries. It is primarily a port of the JTS Topology Suite Java library. It provides many of the algorithms used by </a:t>
            </a:r>
            <a:r>
              <a:rPr lang="en-US" altLang="zh-CN" dirty="0" err="1"/>
              <a:t>PostGIS</a:t>
            </a:r>
            <a:r>
              <a:rPr lang="en-US" altLang="zh-CN" dirty="0"/>
              <a:t>, the Shapely package for Python, the sf package for R, and others.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99DD58C-66E0-6E74-578D-FE0465A37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1103"/>
            <a:ext cx="10288437" cy="5359058"/>
          </a:xfrm>
        </p:spPr>
      </p:pic>
    </p:spTree>
    <p:extLst>
      <p:ext uri="{BB962C8B-B14F-4D97-AF65-F5344CB8AC3E}">
        <p14:creationId xmlns:p14="http://schemas.microsoft.com/office/powerpoint/2010/main" val="2188547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谓词</a:t>
            </a:r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BD764E69-CC9A-7E5E-A89C-927B0B3D4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349335" cy="3324046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builtin</a:t>
            </a:r>
            <a:r>
              <a:rPr lang="en-US" altLang="zh-CN" dirty="0"/>
              <a:t> </a:t>
            </a:r>
            <a:r>
              <a:rPr lang="zh-CN" altLang="en-US" dirty="0"/>
              <a:t>函数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DE983DD-EC9A-8CFD-482C-15EDEBA52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828472" cy="5082884"/>
          </a:xfrm>
        </p:spPr>
      </p:pic>
    </p:spTree>
    <p:extLst>
      <p:ext uri="{BB962C8B-B14F-4D97-AF65-F5344CB8AC3E}">
        <p14:creationId xmlns:p14="http://schemas.microsoft.com/office/powerpoint/2010/main" val="130365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长度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25573"/>
            <a:ext cx="10515600" cy="4351338"/>
          </a:xfrm>
        </p:spPr>
        <p:txBody>
          <a:bodyPr/>
          <a:lstStyle/>
          <a:p>
            <a:r>
              <a:rPr lang="zh-CN" altLang="en-US" dirty="0">
                <a:effectLst/>
              </a:rPr>
              <a:t>长度 随 </a:t>
            </a:r>
            <a:r>
              <a:rPr lang="zh-CN" altLang="en-US" b="1" dirty="0">
                <a:effectLst/>
              </a:rPr>
              <a:t>坐标对数量 </a:t>
            </a:r>
            <a:r>
              <a:rPr lang="zh-CN" altLang="en-US" dirty="0">
                <a:effectLst/>
              </a:rPr>
              <a:t>线性增加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E3CD8D-F3A8-7A40-407A-F02DCD82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3" y="2355053"/>
            <a:ext cx="10407935" cy="275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042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可能的方向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25573"/>
            <a:ext cx="10515600" cy="4351338"/>
          </a:xfrm>
        </p:spPr>
        <p:txBody>
          <a:bodyPr/>
          <a:lstStyle/>
          <a:p>
            <a:r>
              <a:rPr lang="zh-CN" altLang="en-US" dirty="0">
                <a:effectLst/>
              </a:rPr>
              <a:t>更高维度：目前仅支持</a:t>
            </a:r>
            <a:r>
              <a:rPr lang="en-US" altLang="zh-CN" dirty="0">
                <a:effectLst/>
              </a:rPr>
              <a:t>2D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WKB </a:t>
            </a:r>
            <a:r>
              <a:rPr lang="zh-CN" altLang="en-US" dirty="0"/>
              <a:t>格式：即二进制格式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更多</a:t>
            </a:r>
            <a:r>
              <a:rPr lang="en-US" altLang="zh-CN" dirty="0" err="1"/>
              <a:t>builtin</a:t>
            </a:r>
            <a:r>
              <a:rPr lang="zh-CN" altLang="en-US" dirty="0"/>
              <a:t>：如 </a:t>
            </a:r>
            <a:r>
              <a:rPr lang="en-US" altLang="zh-CN" dirty="0" err="1"/>
              <a:t>ST_Overlaps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ST_ClosestPoint</a:t>
            </a:r>
            <a:r>
              <a:rPr lang="en-US" altLang="zh-CN" dirty="0"/>
              <a:t> 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更多几何类型：</a:t>
            </a:r>
            <a:r>
              <a:rPr lang="en-US" altLang="zh-CN" dirty="0"/>
              <a:t> MultiPoint, </a:t>
            </a:r>
            <a:r>
              <a:rPr lang="en-US" altLang="zh-CN" dirty="0" err="1"/>
              <a:t>MultiLineString</a:t>
            </a:r>
            <a:r>
              <a:rPr lang="en-US" altLang="zh-CN" dirty="0"/>
              <a:t>, </a:t>
            </a:r>
            <a:r>
              <a:rPr lang="en-US" altLang="zh-CN" dirty="0" err="1"/>
              <a:t>MultiPolygon</a:t>
            </a:r>
            <a:r>
              <a:rPr lang="en-US" altLang="zh-CN" dirty="0"/>
              <a:t>, </a:t>
            </a:r>
            <a:r>
              <a:rPr lang="en-US" altLang="zh-CN" dirty="0" err="1"/>
              <a:t>GeometryCollection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6159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78" y="1111127"/>
            <a:ext cx="9144000" cy="2387600"/>
          </a:xfrm>
        </p:spPr>
        <p:txBody>
          <a:bodyPr/>
          <a:lstStyle/>
          <a:p>
            <a:r>
              <a:rPr kumimoji="1" lang="zh-CN" altLang="en-US" dirty="0"/>
              <a:t>存储引擎优化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程洪泽</a:t>
            </a:r>
          </a:p>
        </p:txBody>
      </p:sp>
    </p:spTree>
    <p:extLst>
      <p:ext uri="{BB962C8B-B14F-4D97-AF65-F5344CB8AC3E}">
        <p14:creationId xmlns:p14="http://schemas.microsoft.com/office/powerpoint/2010/main" val="395082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27" y="1825573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对多表低频场景的优化，具体参考：</a:t>
            </a:r>
            <a:r>
              <a:rPr lang="zh-CN" altLang="en-US" dirty="0">
                <a:hlinkClick r:id="rId2"/>
              </a:rPr>
              <a:t>此文档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/>
              <a:t>compact</a:t>
            </a:r>
            <a:r>
              <a:rPr lang="zh-CN" altLang="en-US" dirty="0"/>
              <a:t>、</a:t>
            </a:r>
            <a:r>
              <a:rPr lang="en-US" altLang="zh-CN" dirty="0"/>
              <a:t>retention</a:t>
            </a:r>
            <a:r>
              <a:rPr lang="zh-CN" altLang="en-US" dirty="0"/>
              <a:t> 功能在 </a:t>
            </a:r>
            <a:r>
              <a:rPr lang="en-US" altLang="zh-CN" dirty="0" err="1"/>
              <a:t>stt_trigger</a:t>
            </a:r>
            <a:r>
              <a:rPr lang="en-US" altLang="zh-CN" dirty="0"/>
              <a:t> &gt; 1 </a:t>
            </a:r>
            <a:r>
              <a:rPr lang="zh-CN" altLang="en-US" dirty="0"/>
              <a:t>时不阻塞写入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对乱序数据、重复时间戳数据落盘的合并优化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 对于企业版用户，可以在创建 </a:t>
            </a:r>
            <a:r>
              <a:rPr lang="en-US" altLang="zh-CN" dirty="0"/>
              <a:t>DB</a:t>
            </a:r>
            <a:r>
              <a:rPr lang="zh-CN" altLang="en-US" dirty="0"/>
              <a:t> 时通过指定 </a:t>
            </a:r>
            <a:r>
              <a:rPr lang="en-US" altLang="zh-CN" dirty="0" err="1"/>
              <a:t>stt_trigger</a:t>
            </a:r>
            <a:r>
              <a:rPr lang="zh-CN" altLang="en-US" dirty="0"/>
              <a:t> </a:t>
            </a:r>
            <a:r>
              <a:rPr lang="en-US" altLang="zh-CN" dirty="0"/>
              <a:t>&gt; 1</a:t>
            </a:r>
            <a:r>
              <a:rPr lang="zh-CN" altLang="en-US" dirty="0"/>
              <a:t> 来使用上述优化点</a:t>
            </a:r>
            <a:endParaRPr lang="en-US" altLang="zh-CN" dirty="0"/>
          </a:p>
          <a:p>
            <a:pPr marL="0" indent="0"/>
            <a:r>
              <a:rPr lang="zh-CN" altLang="en-US" dirty="0"/>
              <a:t> 对于非企业版用户，只可享受第三点优化。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zh-CN" altLang="en-US" dirty="0"/>
              <a:t> </a:t>
            </a:r>
            <a:r>
              <a:rPr lang="zh-CN" altLang="en-US" dirty="0">
                <a:hlinkClick r:id="rId2"/>
              </a:rPr>
              <a:t>测试报告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9f109ae-acd0-4618-bf55-b834e1dd8914"/>
  <p:tag name="COMMONDATA" val="eyJoZGlkIjoiMmVhYjIwYTFkMDUyN2RmOGI2OTNiMWRjYmY5MjBlYT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1363</Words>
  <Application>Microsoft Office PowerPoint</Application>
  <PresentationFormat>宽屏</PresentationFormat>
  <Paragraphs>120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inherit</vt:lpstr>
      <vt:lpstr>Arial</vt:lpstr>
      <vt:lpstr>Calibri</vt:lpstr>
      <vt:lpstr>Wingdings</vt:lpstr>
      <vt:lpstr>Office 主题</vt:lpstr>
      <vt:lpstr>TDengine 3.1.0.0 功能简介</vt:lpstr>
      <vt:lpstr>主要功能与优化</vt:lpstr>
      <vt:lpstr>查询性能优化</vt:lpstr>
      <vt:lpstr>超级表基于主键排序性能内存优化</vt:lpstr>
      <vt:lpstr>超级表基于主键排序性能内存优化</vt:lpstr>
      <vt:lpstr>超级表基于主键排序性能内存优化</vt:lpstr>
      <vt:lpstr>Order by 非主键列 + limit 性能优化</vt:lpstr>
      <vt:lpstr>Partition by tbname + slimit性能优化</vt:lpstr>
      <vt:lpstr>多级存储 0级负载均衡</vt:lpstr>
      <vt:lpstr>功能简介</vt:lpstr>
      <vt:lpstr>使用方式</vt:lpstr>
      <vt:lpstr>实现机制</vt:lpstr>
      <vt:lpstr>磁盘故障容错</vt:lpstr>
      <vt:lpstr>功能介绍</vt:lpstr>
      <vt:lpstr>使用方式</vt:lpstr>
      <vt:lpstr>实现原理</vt:lpstr>
      <vt:lpstr>Geometry 数据类型</vt:lpstr>
      <vt:lpstr>背景</vt:lpstr>
      <vt:lpstr>SQL</vt:lpstr>
      <vt:lpstr>谓词</vt:lpstr>
      <vt:lpstr>builtin 函数</vt:lpstr>
      <vt:lpstr>长度</vt:lpstr>
      <vt:lpstr>可能的方向</vt:lpstr>
      <vt:lpstr>存储引擎优化</vt:lpstr>
      <vt:lpstr>优化点</vt:lpstr>
      <vt:lpstr>使用方式</vt:lpstr>
      <vt:lpstr>测试评估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TDengine 3.1.0.0 功能简介</dc:title>
  <dc:creator>wade zhang</dc:creator>
  <cp:lastModifiedBy>zhang wade</cp:lastModifiedBy>
  <cp:revision>10</cp:revision>
  <dcterms:created xsi:type="dcterms:W3CDTF">2023-06-30T10:46:00Z</dcterms:created>
  <dcterms:modified xsi:type="dcterms:W3CDTF">2023-08-03T03:44:56Z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3A503934589F468E8FE509E3E1BAC814_12</vt:lpwstr>
  </property>
  <property fmtid="{D5CDD505-2E9C-101B-9397-08002B2CF9AE}" pid="3" name="KSOProductBuildVer">
    <vt:lpwstr>2052-11.1.0.14309</vt:lpwstr>
  </property>
</Properties>
</file>